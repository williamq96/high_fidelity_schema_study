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bb656d742649ac" /><Relationship Type="http://schemas.openxmlformats.org/officeDocument/2006/relationships/extended-properties" Target="/docProps/app.xml" Id="Rf407df194a084ec4" /><Relationship Type="http://schemas.openxmlformats.org/officeDocument/2006/relationships/officeDocument" Target="/ppt/presentation.xml" Id="R9523aebbadfd42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36a0d0d6444cb5"/>
  </p:sldMasterIdLst>
  <p:notesMasterIdLst>
    <p:notesMasterId xmlns:r="http://schemas.openxmlformats.org/officeDocument/2006/relationships" r:id="R5f418dcbfc274951"/>
  </p:notesMasterIdLst>
  <p:sldIdLst>
    <p:sldId xmlns:r="http://schemas.openxmlformats.org/officeDocument/2006/relationships" id="256" r:id="R9a37721291a44fea"/>
    <p:sldId xmlns:r="http://schemas.openxmlformats.org/officeDocument/2006/relationships" id="257" r:id="R438fd090c9814037"/>
    <p:sldId xmlns:r="http://schemas.openxmlformats.org/officeDocument/2006/relationships" id="258" r:id="R30d5933578f54619"/>
    <p:sldId xmlns:r="http://schemas.openxmlformats.org/officeDocument/2006/relationships" id="259" r:id="R2d51fd08cc54452c"/>
    <p:sldId xmlns:r="http://schemas.openxmlformats.org/officeDocument/2006/relationships" id="260" r:id="R84aa62fabce148fc"/>
    <p:sldId xmlns:r="http://schemas.openxmlformats.org/officeDocument/2006/relationships" id="261" r:id="R54b840f7816a429f"/>
    <p:sldId xmlns:r="http://schemas.openxmlformats.org/officeDocument/2006/relationships" id="262" r:id="R118ae5f43d79464a"/>
    <p:sldId xmlns:r="http://schemas.openxmlformats.org/officeDocument/2006/relationships" id="263" r:id="R8dd66bef87194a27"/>
    <p:sldId xmlns:r="http://schemas.openxmlformats.org/officeDocument/2006/relationships" id="264" r:id="Rd94aab6e001d46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9760e9cca34afe" /><Relationship Type="http://schemas.openxmlformats.org/officeDocument/2006/relationships/slideMaster" Target="/ppt/slideMasters/slideMaster1.xml" Id="R3e36a0d0d6444cb5" /><Relationship Type="http://schemas.openxmlformats.org/officeDocument/2006/relationships/notesMaster" Target="/ppt/notesMasters/notesMaster1.xml" Id="R5f418dcbfc274951" /><Relationship Type="http://schemas.openxmlformats.org/officeDocument/2006/relationships/presProps" Target="/ppt/presProps.xml" Id="R96684266c14246db" /><Relationship Type="http://schemas.openxmlformats.org/officeDocument/2006/relationships/tableStyles" Target="/ppt/tableStyles.xml" Id="R73f45df856eb4e34" /><Relationship Type="http://schemas.openxmlformats.org/officeDocument/2006/relationships/slide" Target="/ppt/slides/slide1.xml" Id="R9a37721291a44fea" /><Relationship Type="http://schemas.openxmlformats.org/officeDocument/2006/relationships/slide" Target="/ppt/slides/slide2.xml" Id="R438fd090c9814037" /><Relationship Type="http://schemas.openxmlformats.org/officeDocument/2006/relationships/slide" Target="/ppt/slides/slide3.xml" Id="R30d5933578f54619" /><Relationship Type="http://schemas.openxmlformats.org/officeDocument/2006/relationships/slide" Target="/ppt/slides/slide4.xml" Id="R2d51fd08cc54452c" /><Relationship Type="http://schemas.openxmlformats.org/officeDocument/2006/relationships/slide" Target="/ppt/slides/slide5.xml" Id="R84aa62fabce148fc" /><Relationship Type="http://schemas.openxmlformats.org/officeDocument/2006/relationships/slide" Target="/ppt/slides/slide6.xml" Id="R54b840f7816a429f" /><Relationship Type="http://schemas.openxmlformats.org/officeDocument/2006/relationships/slide" Target="/ppt/slides/slide7.xml" Id="R118ae5f43d79464a" /><Relationship Type="http://schemas.openxmlformats.org/officeDocument/2006/relationships/slide" Target="/ppt/slides/slide8.xml" Id="R8dd66bef87194a27" /><Relationship Type="http://schemas.openxmlformats.org/officeDocument/2006/relationships/slide" Target="/ppt/slides/slide9.xml" Id="Rd94aab6e001d46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8e495453fa4e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aeb3408de945d3" /><Relationship Type="http://schemas.openxmlformats.org/officeDocument/2006/relationships/notesMaster" Target="/ppt/notesMasters/notesMaster1.xml" Id="Rcf0fac82799a4d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200222155e4d8e" /><Relationship Type="http://schemas.openxmlformats.org/officeDocument/2006/relationships/notesMaster" Target="/ppt/notesMasters/notesMaster1.xml" Id="R04b56fb3e4e14d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44063990254303" /><Relationship Type="http://schemas.openxmlformats.org/officeDocument/2006/relationships/notesMaster" Target="/ppt/notesMasters/notesMaster1.xml" Id="R71745a1b7ee74b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7c2527add444e2" /><Relationship Type="http://schemas.openxmlformats.org/officeDocument/2006/relationships/notesMaster" Target="/ppt/notesMasters/notesMaster1.xml" Id="R552d77977fb94d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53e9066bfc4bc1" /><Relationship Type="http://schemas.openxmlformats.org/officeDocument/2006/relationships/notesMaster" Target="/ppt/notesMasters/notesMaster1.xml" Id="R0095c21cd61140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84e3419fcb40fa" /><Relationship Type="http://schemas.openxmlformats.org/officeDocument/2006/relationships/notesMaster" Target="/ppt/notesMasters/notesMaster1.xml" Id="R65bd0222161343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00728f91224d95" /><Relationship Type="http://schemas.openxmlformats.org/officeDocument/2006/relationships/notesMaster" Target="/ppt/notesMasters/notesMaster1.xml" Id="Ra7d359fd09654c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db8b1a01194036" /><Relationship Type="http://schemas.openxmlformats.org/officeDocument/2006/relationships/notesMaster" Target="/ppt/notesMasters/notesMaster1.xml" Id="R95264935539a47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bb797a8d8246a9" /><Relationship Type="http://schemas.openxmlformats.org/officeDocument/2006/relationships/notesMaster" Target="/ppt/notesMasters/notesMaster1.xml" Id="R925fdb8f5fad4c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678f3be2446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7654b6339416e" /><Relationship Type="http://schemas.openxmlformats.org/officeDocument/2006/relationships/slideLayout" Target="/ppt/slideLayouts/slideLayout1.xml" Id="R9c101f11dbac4c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101f11dbac4c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b2494a0ac4acb" /><Relationship Type="http://schemas.openxmlformats.org/officeDocument/2006/relationships/notesSlide" Target="/ppt/notesSlides/notesSlide1.xml" Id="R83046255cc8e49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380d9d2234e5f" /><Relationship Type="http://schemas.openxmlformats.org/officeDocument/2006/relationships/notesSlide" Target="/ppt/notesSlides/notesSlide2.xml" Id="R6c1eb028363c45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d1ed2464542e4" /><Relationship Type="http://schemas.openxmlformats.org/officeDocument/2006/relationships/notesSlide" Target="/ppt/notesSlides/notesSlide3.xml" Id="R8bd34a5447bf48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ef48acce44b5c" /><Relationship Type="http://schemas.openxmlformats.org/officeDocument/2006/relationships/notesSlide" Target="/ppt/notesSlides/notesSlide4.xml" Id="Rc4cce5cdbf8a4d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0cfebacba4a02" /><Relationship Type="http://schemas.openxmlformats.org/officeDocument/2006/relationships/notesSlide" Target="/ppt/notesSlides/notesSlide5.xml" Id="R8cc7a66c1e9e44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79d16cd8f4d97" /><Relationship Type="http://schemas.openxmlformats.org/officeDocument/2006/relationships/notesSlide" Target="/ppt/notesSlides/notesSlide6.xml" Id="R62e0cff50ed640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44a096edb4e78" /><Relationship Type="http://schemas.openxmlformats.org/officeDocument/2006/relationships/notesSlide" Target="/ppt/notesSlides/notesSlide7.xml" Id="R53d412be0659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82ae6822645c0" /><Relationship Type="http://schemas.openxmlformats.org/officeDocument/2006/relationships/notesSlide" Target="/ppt/notesSlides/notesSlide8.xml" Id="Rec947fe05dcf4e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856068d414bba" /><Relationship Type="http://schemas.openxmlformats.org/officeDocument/2006/relationships/notesSlide" Target="/ppt/notesSlides/notesSlide9.xml" Id="R38f843bf7f6c4c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7538F-722F-4D3A-BE98-C521B584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4BF0D-AF73-4399-BAFA-C9072E9B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904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From File Input to Unified Schema Envelope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AA308-2E0D-4229-9DA4-B0E79D85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High-Fidelity Schema Extraction Pipeline: Architecture &amp; Details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1D8A1-C1A9-4D3F-A3AF-7BC132F3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628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Extract objective structures and facts programmatically, then enrich semantics under strict evidence constraints.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D5267-E8BB-4AB8-9C7E-E7FB73B0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95350"/>
            <a:ext cx="3143250" cy="1123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B4946-302B-43DB-ABE4-4DB9A19C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066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Physical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DD3B0-B506-47B2-9BFC-7D938160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47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Deterministic extractors parse objective file headers and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F5CC5-9A6B-426F-B441-AC505EF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3143250" cy="1352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80170-CFD7-436A-88D6-8A5331F0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Graph 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F62E3-9BBE-4475-9E10-E93055E0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Claims and evidence are decoupled, deduplicated, and linked in a trace graph.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F4955-002B-4212-B8C5-010FCB98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905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Deterministic-first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0B751-F9DF-45EC-9A46-3F0F69B7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Evidence-constrained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67501-18E7-42F8-A0A7-5DAC7A92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2190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B7791F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Unified Schema Envelope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88E2E-9DB0-4F34-85D8-0A4AED1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File In -&gt; Schema Out Pipeline Details · 1/9</a:t>
            </a:r>
          </a:p>
        </p:txBody>
      </p:sp>
    </p:spTree>
    <p:extLst>
      <p:ext uri="{BB962C8B-B14F-4D97-AF65-F5344CB8AC3E}">
        <p14:creationId xmlns:p14="http://schemas.microsoft.com/office/powerpoint/2010/main" val="327536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61A5DF-A0D9-4458-8616-CD3B4499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606B4-DF53-4254-996A-EFDD83AA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Core Philosophy: Deterministic-First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6839C-A7C4-4F30-9322-A9B5A200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Overcoming the lack of reproducibility, hallucinations, and un-auditability of black-box LLM guessing.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6F901-0499-497F-85D1-1CB2D930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72054-1B55-4135-9061-10152E22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1432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49C04-E2A8-44DD-9FD2-E8BBF996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Program-Led Ingestion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D7B5C-7104-4758-9206-922BBE1F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Dedicated deterministic extractors parse structural layout, column headers, shape, and types as the source of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3F2D9-CAF6-4BD9-BF56-BBB7C991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432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DE656-3864-4D6E-8121-DE8D8312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Capture Physical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91D65-62AC-44D5-8696-81CB2504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Automatically logs the exact file offsets, attributes, or line numbers for each decision into an EvidenceRecord pool.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CE4F4-4146-4572-9415-716E4E93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1432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722CB-D8C4-44AE-8FA0-D65AEFD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Constrained Semantic Merger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D90C0-B41A-495C-A12B-E0FA0FF5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LLM-inferred properties are merged only when backed by documented evidence and after passing compatibility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9F8D1-1323-4CCC-B442-4559DD45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77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Boundary Rule: Inferred semantic attributes can never overwrite explicit physical and structural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1A5CB-74EB-49DA-8D27-7D7793DB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File In -&gt; Schema Out Pipeline Details · 2/9</a:t>
            </a:r>
          </a:p>
        </p:txBody>
      </p:sp>
    </p:spTree>
    <p:extLst>
      <p:ext uri="{BB962C8B-B14F-4D97-AF65-F5344CB8AC3E}">
        <p14:creationId xmlns:p14="http://schemas.microsoft.com/office/powerpoint/2010/main" val="1047997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B770C-B122-4C7F-BDCA-7FDDFC3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6615A-A823-4613-A5F7-81C9CA72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Phase 1: File Intake &amp; Format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4FE2D-3BCE-45CC-8DF5-9921C73E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Smart parser routing with multi-tiered fallback and conflict adjudication.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5A665-5E19-4FCB-962D-922E8F95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607ED-43F5-4501-A4C2-DE999017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47650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9708E-8294-49F4-8F07-B34D8D41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1. Resource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5A4E2-1428-4222-B1F2-1B4F7037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057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Validates input as file or directory_store (e.g., Zarr) via _actual_resource_kind. Mismatches halt execution immediately.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42B24-978E-4E4F-8573-5ADD82B2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28800"/>
            <a:ext cx="247650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54AC9-F0E7-45F9-A9C8-DD6823C0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002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6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2. Multi-Signal Probing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96C30-D850-4F0E-B7FE-06BCDB46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81250"/>
            <a:ext cx="2057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Magic bytes matching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Directory structure checks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Filename suffix parsing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Delimiter Sniffer text probe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BE0D5-E553-4E9A-9EFA-CC5429E9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247650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47F9B-AE8C-4882-A206-AFEC51FD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3. Priority &amp; Override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E0AF6-8424-4C0F-B334-71D09587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057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Magic &gt; Hint &gt; Suffix &gt; Text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HDF5 signals are auto-upgraded to netcdf if NetCDF4 attribute markers are detected in .nc/.cdf files.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A4453-C5A3-49CA-8258-6D970DBB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28800"/>
            <a:ext cx="266700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1DE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A908D-8088-49DD-B26B-C80AEB70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4. Conflict Handling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5E72B-2635-4480-BF4C-AD37F948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81250"/>
            <a:ext cx="2247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Conflicts between strong signals (e.g., magic vs hint) trigger automatic abstention, falling back to a raw_binary schema.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139BC-F4F3-4772-B6BB-BF0AAD94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This phase guarantees robust, zero-guess routing from raw datasets to matching deterministic extractors.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7AE37-BE86-4484-9BFB-59F47E3F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File In -&gt; Schema Out Pipeline Details · 3/9</a:t>
            </a:r>
          </a:p>
        </p:txBody>
      </p:sp>
    </p:spTree>
    <p:extLst>
      <p:ext uri="{BB962C8B-B14F-4D97-AF65-F5344CB8AC3E}">
        <p14:creationId xmlns:p14="http://schemas.microsoft.com/office/powerpoint/2010/main" val="1197335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BB529E-31F1-45D2-A236-03387C31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890BA-5212-44CD-9824-9D3F93BC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Phase 2: Deterministic Extraction - CSV &amp;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01E3F-9760-42DD-B553-9E2C8FFB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Applying conservative profiling and nested traversal strategies for structured text 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54378-714C-439B-AFBC-CA4234AC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4C1AC-4807-4D4D-ADCA-25070333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31367-E284-401B-8369-A44430F6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67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CSV Profiler: Conservative Typing &amp; Zero Protection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99F19-74E0-432B-967E-73F2E2E7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Reads column headers and samples up to 200 rows.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int/float/datetime require 100% uniformity in samples.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Leading zero detection (_has_leading_zero): forces columns with leading zeros (e.g., '0123') to string to preserve codes.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Falls back to string on any parsing conflict to avoid over-claiming physical structures.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4BADD-6A36-43DD-B353-68953B69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749DB-148A-4EBD-AA6B-9765DD50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JSON Profiler: Traversal &amp; Declared Schemas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975B3-1BB9-40C5-AD8B-F208FB89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Bounds file ingestion (16MB) to ensure memory safety.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Declared Mode: Crawls standard JSON Schema properties to generate declared claims; validates samples.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Observed Mode: Flattens dynamic trees using a recursive visit(val, path, index) to track paths (e.g., $.store.book[]).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Records column nullability without guessing semantics.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3EC7E-6813-4A43-B4AF-0942A8E3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717C"/>
                </a:solidFill>
                <a:latin typeface="Arial"/>
                <a:ea typeface="Arial"/>
                <a:cs typeface="Arial"/>
              </a:rPr>
              <a:t>Physical schemas represent objective fingerprints; extractors abstain from guessing semantic meanings.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09947-FB90-43C9-B217-9020702B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File In -&gt; Schema Out Pipeline Details · 4/9</a:t>
            </a:r>
          </a:p>
        </p:txBody>
      </p:sp>
    </p:spTree>
    <p:extLst>
      <p:ext uri="{BB962C8B-B14F-4D97-AF65-F5344CB8AC3E}">
        <p14:creationId xmlns:p14="http://schemas.microsoft.com/office/powerpoint/2010/main" val="1028854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AA7C5-6170-4EA4-AF81-DD8107E8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B2F7F-9C3C-4F32-BEEA-01AD241F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842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Phase 2: Deterministic Extraction - Zarr &amp; High-Dim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CEABF-7696-4AAC-90D3-896AEEAB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Metadata-only, high-performance schema harvesting for multi-dimensional scientific 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12119-CD41-443F-9683-4729E370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23496-CB3F-4049-B413-988C83FC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A8CD0-207B-4901-A234-0C002BF8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03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Zarr Extractor: Consolidated Metadata &amp; Version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271B7-A5E4-4DBF-9AF9-15192688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Prioritizes reading consolidated .zmetadata for fast I/O; falls back to crawling .zgroup/.zarray config files.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Automatically aborts and abstains on Zarr v3 (zarr_format == 3), as the current engine is optimized for Zarr v2.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Inspects configuration metadata only, never reading chunk data payloads for zero-I/O overhead.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E9DC7-289C-43AA-955F-814CADA1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0C26D-5CEA-4841-B8FC-FD7DE193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Coordinate &amp; Dimension Mapping (CF &amp; Xarray)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E8A29-4377-4F8B-9D46-6D5460B9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Dimension mapping: resolves shape and axis sizes via _ARRAY_DIMENSIONS declarations.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Coordinates mapping: identifies coordinate roles (dimension_coordinate, auxiliary_coordinate) and axes (X/Y/Z/T) based on CF conventions and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CE1A2-5642-4515-A2FE-AF92FBA1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717C"/>
                </a:solidFill>
                <a:latin typeface="Arial"/>
                <a:ea typeface="Arial"/>
                <a:cs typeface="Arial"/>
              </a:rPr>
              <a:t>Climate and Forecast (CF) conventions provide a standardized dictionary to discover high-dimensional data grids.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DD4BB-0A98-4E8F-8E62-EF73EDD8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File In -&gt; Schema Out Pipeline Details · 5/9</a:t>
            </a:r>
          </a:p>
        </p:txBody>
      </p:sp>
    </p:spTree>
    <p:extLst>
      <p:ext uri="{BB962C8B-B14F-4D97-AF65-F5344CB8AC3E}">
        <p14:creationId xmlns:p14="http://schemas.microsoft.com/office/powerpoint/2010/main" val="711748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704835-7F57-49F3-AAFA-0BF4484B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5EBFD-D075-4B44-8248-0A0DF593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Phase 3: Data Profiling &amp; Normalization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0D6EF-5CD1-4879-A29B-B7DB834D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Enriching physical descriptions with calculated timelines and standardized physical scales.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C71EE-52E0-4E6F-9673-E99FFD98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C1968-2273-4E12-8034-96CB2DE6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25755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52CB8-2E7D-41F6-91AA-67581DCC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Time Axis Analysis (analyze_temporal_semantics)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2CA75-04A5-4D78-8173-BC21AF6B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838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Scores columns based on physical type, name patterns, and semantics. Selects the highest-scoring candidate (&gt;=0.7) as the time_axis. Emits warnings if multiple candidates tie (score delta &lt;= 0.05).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5DD39-EFCD-402D-A0D2-44F95D6F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5755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B5FD4-B9E5-4F83-ADE5-C8F48CE4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Temporal Grid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D9AE3-700A-4448-8AFF-076983B8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38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Timezone detection: checks naive/aware offsets.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Frequency: identifies the dominant interval (e.g., 60s -&gt; 1 minute).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Regularity: requires the dominant frequency to describe &gt;=95% of intervals.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Missing intervals: calculates gaps based on frequency.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61CA0-2CEA-4FAB-B3A1-E927D4D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25755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F49C0-5BF7-4748-8411-7F21613C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C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C43"/>
                </a:solidFill>
                <a:latin typeface="Arial"/>
                <a:ea typeface="Arial"/>
                <a:cs typeface="Arial"/>
              </a:rPr>
              <a:t>Unit Normalization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6555C-6AA1-4F56-897E-C285057F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838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Extracts unit tags from column suffixes or metadata attributes.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Queries UNIT_ALIASES to normalize units (e.g., Celsius, mm) to canonical names and UCUM codes (Cel, mm, mg/L).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Tracks evidence_basis (e.g. explicit_metadata).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70B39-3F1A-4BCB-A960-12777657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This phase adds calculated timelines and normalized physical scales to the physical layout.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DDCEB-DC24-4306-B9D9-601F00E7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File In -&gt; Schema Out Pipeline Details · 6/9</a:t>
            </a:r>
          </a:p>
        </p:txBody>
      </p:sp>
    </p:spTree>
    <p:extLst>
      <p:ext uri="{BB962C8B-B14F-4D97-AF65-F5344CB8AC3E}">
        <p14:creationId xmlns:p14="http://schemas.microsoft.com/office/powerpoint/2010/main" val="1655476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D76C63-FD7A-4ED1-BAB3-90A7AD4C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4301B-3883-43D8-84B7-F38295EA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Phase 4: Semantic Integration &amp; Safety Merger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F9B18-6D09-4DBC-B797-D9CA3B87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How the pipeline safely integrates LLM README interpretations without breaking structural truth.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DEFF3-8ED9-4C0B-8EBE-52AB9940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B22C7-C15F-4005-98BD-7C536AE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67937-DCC3-4396-94F1-71089C9B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6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1. Grounding Bundles &amp; System Prompt Constraints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9D459-5020-4987-8020-FD9DD41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Combines the physical schema and external README context into a prioritized GroundingSnippet context.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Injects strict SYSTEM_RULES: prohibits inventing physical fields, requires citing source lines in supporting_evidence, and forces unknown when uncertain.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2765E-A40B-4280-98E9-EF35663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2CB7B-230C-4D9F-89FE-4B1F67BE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2. Validator &amp; Merger Adjudication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9072B-98E5-4A14-BF63-621A395E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No Evidence Rejection: discards proposed changes immediately if supporting_evidence is empty.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Compatibility Checks: flags incompatible logical-semantic pairs (e.g., latitude mapped as a measurement).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● Deterministic Protection: LLM cannot overwrite explicit metadata unless compatible and confidence &gt;= 0.85.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0BDF5-2236-483E-9614-D67B4AA0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Safety Rule: It is always better to claim unknown due to lack of evidence than to output unsupported guesses.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38672-EA8E-4473-AD1C-F4B22525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File In -&gt; Schema Out Pipeline Details · 7/9</a:t>
            </a:r>
          </a:p>
        </p:txBody>
      </p:sp>
    </p:spTree>
    <p:extLst>
      <p:ext uri="{BB962C8B-B14F-4D97-AF65-F5344CB8AC3E}">
        <p14:creationId xmlns:p14="http://schemas.microsoft.com/office/powerpoint/2010/main" val="2055455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23B816-5567-4915-B15A-AA73EEF0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258D0-CD54-4010-A2C5-4B3DAC12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Phase 5: Unified Schema Envelope Projection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04720-4B22-4BEB-8CC9-0046BB52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Projecting outcomes into a standardized, decoupled Claims-Evidence graph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57026-FC8D-49DE-A637-84178B99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A2743-96C1-4674-9EEA-5984BB39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12064-8A4F-483D-96E4-40F1928A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Global Evidence Registry (evidence)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2FF6C-8E0E-4C0C-B40A-C102C464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Contains a deduplicated pool of physical observations. Each record is assigned an ID (e.g., e0001, e0002) and captures its provenance (structural, statistical, explicit_metadata), file source path, description, and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38337-33AB-4D78-8A9A-01A22859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EBC5B-FDBC-407F-B7D1-CE0FA473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Unified Claims Registry (claims)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4D9BB-19AC-4843-B409-ED64313B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Abstracts physical type, logical role, semantic type, and units into claims. Each claim is assigned a claim_id, defines its subject (field_path), and maps back to its evidence sources via evidence_refs.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B0EF2-15DD-4DC7-9ECA-2F9C22B5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The unified envelope ensures that every metadata property in the output is fully auditable and traceable.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A50BE-7DB7-489C-A58C-CD92E263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File In -&gt; Schema Out Pipeline Details · 8/9</a:t>
            </a:r>
          </a:p>
        </p:txBody>
      </p:sp>
    </p:spTree>
    <p:extLst>
      <p:ext uri="{BB962C8B-B14F-4D97-AF65-F5344CB8AC3E}">
        <p14:creationId xmlns:p14="http://schemas.microsoft.com/office/powerpoint/2010/main" val="942684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8FEF8-86CB-4BAD-8AF4-8B783622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F3201-8FA8-44EF-BDB6-8FBF4EEC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Walkthrough: Buoy Sensor Data Ingestion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85B1A-318A-49FA-96D3-454E1A92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Tracking a buoy CSV file from raw ingestion to the unified schema envelope.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98F13-B3DF-4BF1-B9EB-9AA86979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59CDB-3390-486C-B548-4CC3D1CA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4B048-1661-4AD4-A0EA-DD049761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95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Intake &amp; 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E6299-4ED3-4957-9A90-5634454A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621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Buoy CSV is ingested. Sniffer detects comma delimiters and routes to csv_conservative_profiler.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E68F3-785B-483A-864E-FB9C7543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CB466-3FDE-4A3F-A341-D09AA57A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17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Physical 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27D71-7C55-4301-892E-58B159FD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384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ts_utc is mapped to datetime, water_temp_c to float, buoy_id (with leading zero '0052') is forced to string.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6EC81-B923-49C0-964F-955BE32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FB260-75E0-4602-AF5E-C96EACCF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48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Profiling &amp; Normalization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E5E34-BB1C-414F-8E29-3C4C397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147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ts_utc is selected as time_axis (frequency: 60s, regular); water_temp_c unit normalized to Celsius.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5B93E-20BB-418D-8B66-3C8CF5D9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B39DD-947D-4403-8AD4-A2C59018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243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LLM Semantic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7725F-0441-4BA4-88DF-BA890C3D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LLM interprets README context, proposes quality_flag semantic type for flag. Validator merges it with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E9AD0-067A-470F-9D05-EAAA90A2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7B3D7-6811-4EBA-9821-80DB0608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006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Envelope Projection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AD687-AD0A-48BD-BF44-D7A916CF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673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Outputs unified JSON. Schema claims are mapped to e0001 (headers) and e0002 (README citation).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842F1-6EA7-4520-B072-F1A01DF6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864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Conclusion: Combining deterministic foundations with evidence-constrained LLM semantics delivers safe, auditable search metadata.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CC502-72A2-49ED-A532-A82290C5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C"/>
                </a:solidFill>
                <a:latin typeface="Arial"/>
                <a:ea typeface="Arial"/>
                <a:cs typeface="Arial"/>
              </a:rPr>
              <a:t>File In -&gt; Schema Out Pipeline Details · 9/9</a:t>
            </a:r>
          </a:p>
        </p:txBody>
      </p:sp>
    </p:spTree>
    <p:extLst>
      <p:ext uri="{BB962C8B-B14F-4D97-AF65-F5344CB8AC3E}">
        <p14:creationId xmlns:p14="http://schemas.microsoft.com/office/powerpoint/2010/main" val="1286396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2026-06-26T18:00:18.3980000Z</dcterms:created>
  <dcterms:modified xsi:type="dcterms:W3CDTF">2026-06-26T18:00:18.3980000Z</dcterms:modified>
</coreProperties>
</file>