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c22549e7b640dd" /><Relationship Type="http://schemas.openxmlformats.org/officeDocument/2006/relationships/extended-properties" Target="/docProps/app.xml" Id="R5090cf652a934207" /><Relationship Type="http://schemas.openxmlformats.org/officeDocument/2006/relationships/officeDocument" Target="/ppt/presentation.xml" Id="R4dc680a161b246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0f3f08f25344c2"/>
  </p:sldMasterIdLst>
  <p:notesMasterIdLst>
    <p:notesMasterId xmlns:r="http://schemas.openxmlformats.org/officeDocument/2006/relationships" r:id="R0aeb8b64e4c14860"/>
  </p:notesMasterIdLst>
  <p:sldIdLst>
    <p:sldId xmlns:r="http://schemas.openxmlformats.org/officeDocument/2006/relationships" id="256" r:id="R694af73ef1cd40e1"/>
    <p:sldId xmlns:r="http://schemas.openxmlformats.org/officeDocument/2006/relationships" id="257" r:id="Rd80a38c9d27f4f50"/>
    <p:sldId xmlns:r="http://schemas.openxmlformats.org/officeDocument/2006/relationships" id="258" r:id="R4b13d8b3c0134c23"/>
    <p:sldId xmlns:r="http://schemas.openxmlformats.org/officeDocument/2006/relationships" id="259" r:id="R35b5f763003f48c3"/>
    <p:sldId xmlns:r="http://schemas.openxmlformats.org/officeDocument/2006/relationships" id="260" r:id="Rcfe5948acd6b466d"/>
    <p:sldId xmlns:r="http://schemas.openxmlformats.org/officeDocument/2006/relationships" id="261" r:id="R4a4812ca98dc4096"/>
    <p:sldId xmlns:r="http://schemas.openxmlformats.org/officeDocument/2006/relationships" id="262" r:id="R2b7700f0bb514d05"/>
    <p:sldId xmlns:r="http://schemas.openxmlformats.org/officeDocument/2006/relationships" id="263" r:id="R9eb1dd73f89942e3"/>
    <p:sldId xmlns:r="http://schemas.openxmlformats.org/officeDocument/2006/relationships" id="264" r:id="R8094d2a18b434dd9"/>
    <p:sldId xmlns:r="http://schemas.openxmlformats.org/officeDocument/2006/relationships" id="265" r:id="Rd2ae282f68fc4d60"/>
    <p:sldId xmlns:r="http://schemas.openxmlformats.org/officeDocument/2006/relationships" id="266" r:id="R70792846e4bb438a"/>
    <p:sldId xmlns:r="http://schemas.openxmlformats.org/officeDocument/2006/relationships" id="267" r:id="R4b23c9de45164b81"/>
    <p:sldId xmlns:r="http://schemas.openxmlformats.org/officeDocument/2006/relationships" id="268" r:id="R74842f9e3beb459e"/>
    <p:sldId xmlns:r="http://schemas.openxmlformats.org/officeDocument/2006/relationships" id="269" r:id="R5851c6f151a04998"/>
    <p:sldId xmlns:r="http://schemas.openxmlformats.org/officeDocument/2006/relationships" id="270" r:id="R2c1cb5622564496d"/>
    <p:sldId xmlns:r="http://schemas.openxmlformats.org/officeDocument/2006/relationships" id="271" r:id="R7788f2eeda15477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21b54644e341ab" /><Relationship Type="http://schemas.openxmlformats.org/officeDocument/2006/relationships/slideMaster" Target="/ppt/slideMasters/slideMaster1.xml" Id="R230f3f08f25344c2" /><Relationship Type="http://schemas.openxmlformats.org/officeDocument/2006/relationships/notesMaster" Target="/ppt/notesMasters/notesMaster1.xml" Id="R0aeb8b64e4c14860" /><Relationship Type="http://schemas.openxmlformats.org/officeDocument/2006/relationships/presProps" Target="/ppt/presProps.xml" Id="R124b4ce256d148e2" /><Relationship Type="http://schemas.openxmlformats.org/officeDocument/2006/relationships/tableStyles" Target="/ppt/tableStyles.xml" Id="Reb6e27c69d1240e7" /><Relationship Type="http://schemas.openxmlformats.org/officeDocument/2006/relationships/slide" Target="/ppt/slides/slide1.xml" Id="R694af73ef1cd40e1" /><Relationship Type="http://schemas.openxmlformats.org/officeDocument/2006/relationships/slide" Target="/ppt/slides/slide2.xml" Id="Rd80a38c9d27f4f50" /><Relationship Type="http://schemas.openxmlformats.org/officeDocument/2006/relationships/slide" Target="/ppt/slides/slide3.xml" Id="R4b13d8b3c0134c23" /><Relationship Type="http://schemas.openxmlformats.org/officeDocument/2006/relationships/slide" Target="/ppt/slides/slide4.xml" Id="R35b5f763003f48c3" /><Relationship Type="http://schemas.openxmlformats.org/officeDocument/2006/relationships/slide" Target="/ppt/slides/slide5.xml" Id="Rcfe5948acd6b466d" /><Relationship Type="http://schemas.openxmlformats.org/officeDocument/2006/relationships/slide" Target="/ppt/slides/slide6.xml" Id="R4a4812ca98dc4096" /><Relationship Type="http://schemas.openxmlformats.org/officeDocument/2006/relationships/slide" Target="/ppt/slides/slide7.xml" Id="R2b7700f0bb514d05" /><Relationship Type="http://schemas.openxmlformats.org/officeDocument/2006/relationships/slide" Target="/ppt/slides/slide8.xml" Id="R9eb1dd73f89942e3" /><Relationship Type="http://schemas.openxmlformats.org/officeDocument/2006/relationships/slide" Target="/ppt/slides/slide9.xml" Id="R8094d2a18b434dd9" /><Relationship Type="http://schemas.openxmlformats.org/officeDocument/2006/relationships/slide" Target="/ppt/slides/slide10.xml" Id="Rd2ae282f68fc4d60" /><Relationship Type="http://schemas.openxmlformats.org/officeDocument/2006/relationships/slide" Target="/ppt/slides/slide11.xml" Id="R70792846e4bb438a" /><Relationship Type="http://schemas.openxmlformats.org/officeDocument/2006/relationships/slide" Target="/ppt/slides/slide12.xml" Id="R4b23c9de45164b81" /><Relationship Type="http://schemas.openxmlformats.org/officeDocument/2006/relationships/slide" Target="/ppt/slides/slide13.xml" Id="R74842f9e3beb459e" /><Relationship Type="http://schemas.openxmlformats.org/officeDocument/2006/relationships/slide" Target="/ppt/slides/slide14.xml" Id="R5851c6f151a04998" /><Relationship Type="http://schemas.openxmlformats.org/officeDocument/2006/relationships/slide" Target="/ppt/slides/slide15.xml" Id="R2c1cb5622564496d" /><Relationship Type="http://schemas.openxmlformats.org/officeDocument/2006/relationships/slide" Target="/ppt/slides/slide16.xml" Id="R7788f2eeda1547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723158e51340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fdcb01a533482d" /><Relationship Type="http://schemas.openxmlformats.org/officeDocument/2006/relationships/notesMaster" Target="/ppt/notesMasters/notesMaster1.xml" Id="Rf9fb521d17ea4e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e399393f6b4223" /><Relationship Type="http://schemas.openxmlformats.org/officeDocument/2006/relationships/notesMaster" Target="/ppt/notesMasters/notesMaster1.xml" Id="R0df829a2763348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0b44b3c68b4a6d" /><Relationship Type="http://schemas.openxmlformats.org/officeDocument/2006/relationships/notesMaster" Target="/ppt/notesMasters/notesMaster1.xml" Id="R58b1852b085745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16285bbb774f9e" /><Relationship Type="http://schemas.openxmlformats.org/officeDocument/2006/relationships/notesMaster" Target="/ppt/notesMasters/notesMaster1.xml" Id="R1a8a8ad2841f4c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8b7c8847734cdd" /><Relationship Type="http://schemas.openxmlformats.org/officeDocument/2006/relationships/notesMaster" Target="/ppt/notesMasters/notesMaster1.xml" Id="R3abc18af80854b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17a177cd384c76" /><Relationship Type="http://schemas.openxmlformats.org/officeDocument/2006/relationships/notesMaster" Target="/ppt/notesMasters/notesMaster1.xml" Id="R2037c800681c43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a6c5fdea7e4d00" /><Relationship Type="http://schemas.openxmlformats.org/officeDocument/2006/relationships/notesMaster" Target="/ppt/notesMasters/notesMaster1.xml" Id="Rfa6b7becf6234c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38650a62364ff2" /><Relationship Type="http://schemas.openxmlformats.org/officeDocument/2006/relationships/notesMaster" Target="/ppt/notesMasters/notesMaster1.xml" Id="Rce0c0f76e47440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6d4fb4db4a40c7" /><Relationship Type="http://schemas.openxmlformats.org/officeDocument/2006/relationships/notesMaster" Target="/ppt/notesMasters/notesMaster1.xml" Id="R5e43a1bd05e846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211b7061c64442" /><Relationship Type="http://schemas.openxmlformats.org/officeDocument/2006/relationships/notesMaster" Target="/ppt/notesMasters/notesMaster1.xml" Id="R8bdb5fe83abb40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a166587c29144a7" /><Relationship Type="http://schemas.openxmlformats.org/officeDocument/2006/relationships/notesMaster" Target="/ppt/notesMasters/notesMaster1.xml" Id="R521786e15e71447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a613dd82ac4cef" /><Relationship Type="http://schemas.openxmlformats.org/officeDocument/2006/relationships/notesMaster" Target="/ppt/notesMasters/notesMaster1.xml" Id="Rc2f7a888959c446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e124470fb7b466c" /><Relationship Type="http://schemas.openxmlformats.org/officeDocument/2006/relationships/notesMaster" Target="/ppt/notesMasters/notesMaster1.xml" Id="R729669dd6c43404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7fc86f39864421e" /><Relationship Type="http://schemas.openxmlformats.org/officeDocument/2006/relationships/notesMaster" Target="/ppt/notesMasters/notesMaster1.xml" Id="R29f102d8f98043a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2096cf212574faa" /><Relationship Type="http://schemas.openxmlformats.org/officeDocument/2006/relationships/notesMaster" Target="/ppt/notesMasters/notesMaster1.xml" Id="Rf7f4719571ff4bc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43fce0f7f53490f" /><Relationship Type="http://schemas.openxmlformats.org/officeDocument/2006/relationships/notesMaster" Target="/ppt/notesMasters/notesMaster1.xml" Id="Re16743b34b5c4e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emphasizing that this is not an invented architecture. The deck is grounded in the actual repository: cli.py, extractors/registry.py, each extractor module, semantic_layer.py, unified_schema.py, provenance/test files, and README/docs.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repository frames schema extraction as a controlled substrate for later use by retrieval or agents. The goal is not broad autonomous interpretation; it is a strong, defensible schema surface.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names the real hooks. For most technical audiences, the important point is that the generic path is extract_path, while older CSV/HDF5 commands remain for backward compatibility.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concrete accepted-format list from registry.py. The deck should make clear that Zarr is a directory store, while most formats are single 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the broad map. The key clarification is that the LLM path is not in the canonical extraction spine; it is optional augmentation over deterministic artifacts.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tests/test_extractor_registry.py: conflicting HDF5 magic and CSV hint abstains; unknown binary returns a raw_binary schema with field_claim_policy set to abstain.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meant to be a compact catalog. The audience does not need code details for every parser, but the function names and boundaries are concrete.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this as controlled enrichment: the code calculates time grids, unit mappings, missingness, and identifier quality, but it records uncertainty where support is weak.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fulfills the requested distinction: raw input, intermediate structured representation, controlled schema, and validated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precise: do not imply the LLM is part of the canonical extraction flow. It is a downstream enrichment path guarded by validation and merge rules.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gathers the major control surfaces: dataclass fields, allowed logical types, claim-state vocabulary, declared extractor capabilities, unit aliases, and merge policy.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validation loop diagram. Emphasize that failure modes are first-class statuses and issue codes, not exceptions hidden from users.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tests/test_unified_schema.py checks that all supported claims have evidence_refs and that evidence IDs resolve.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legacy schema is still authoritative and unchanged. The envelope is additive, which the tests assert.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limitation slide. Say explicitly that missing controls are missing; this is part of the trust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by reinforcing the research posture: the pipeline is already controlled and auditable, and next work should improve coverage and verification rather than convert it into an LLM-first guesser.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58be07531d4e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65bcb9bed842a3" /><Relationship Type="http://schemas.openxmlformats.org/officeDocument/2006/relationships/slideLayout" Target="/ppt/slideLayouts/slideLayout1.xml" Id="R584f66912a2d41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4f66912a2d41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48758e8204bb1" /><Relationship Type="http://schemas.openxmlformats.org/officeDocument/2006/relationships/notesSlide" Target="/ppt/notesSlides/notesSlide1.xml" Id="R91690eb0070d4c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2799e4c60439f" /><Relationship Type="http://schemas.openxmlformats.org/officeDocument/2006/relationships/notesSlide" Target="/ppt/notesSlides/notesSlide2.xml" Id="R15c1ddf8f97f48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3ca7d0ea44c5d" /><Relationship Type="http://schemas.openxmlformats.org/officeDocument/2006/relationships/notesSlide" Target="/ppt/notesSlides/notesSlide3.xml" Id="R7a45e7c33bf449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e1e03d39d4548" /><Relationship Type="http://schemas.openxmlformats.org/officeDocument/2006/relationships/notesSlide" Target="/ppt/notesSlides/notesSlide4.xml" Id="R24a1362fd92441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0c9e3d06d47ca" /><Relationship Type="http://schemas.openxmlformats.org/officeDocument/2006/relationships/notesSlide" Target="/ppt/notesSlides/notesSlide5.xml" Id="R90ae4c3e3ba84f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97147a35b445c" /><Relationship Type="http://schemas.openxmlformats.org/officeDocument/2006/relationships/notesSlide" Target="/ppt/notesSlides/notesSlide6.xml" Id="R7428662b2f9842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e49d787ab4ab0" /><Relationship Type="http://schemas.openxmlformats.org/officeDocument/2006/relationships/notesSlide" Target="/ppt/notesSlides/notesSlide7.xml" Id="R853a63c1814f41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7103643d34d65" /><Relationship Type="http://schemas.openxmlformats.org/officeDocument/2006/relationships/notesSlide" Target="/ppt/notesSlides/notesSlide8.xml" Id="Rc86fca79d88e4b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09127a9c64f1e" /><Relationship Type="http://schemas.openxmlformats.org/officeDocument/2006/relationships/notesSlide" Target="/ppt/notesSlides/notesSlide9.xml" Id="R14ea0d1bd78348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ca738c18c42ad" /><Relationship Type="http://schemas.openxmlformats.org/officeDocument/2006/relationships/notesSlide" Target="/ppt/notesSlides/notesSlide10.xml" Id="Re796fc3c4a1c4ca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cfe5c888324c04" /><Relationship Type="http://schemas.openxmlformats.org/officeDocument/2006/relationships/notesSlide" Target="/ppt/notesSlides/notesSlide11.xml" Id="R97a15be67612441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cc86c19274e71" /><Relationship Type="http://schemas.openxmlformats.org/officeDocument/2006/relationships/notesSlide" Target="/ppt/notesSlides/notesSlide12.xml" Id="Rb29cb277e976483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884f7fbdca4c6e" /><Relationship Type="http://schemas.openxmlformats.org/officeDocument/2006/relationships/notesSlide" Target="/ppt/notesSlides/notesSlide13.xml" Id="Rb710d9c9a0814b6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98d93be94483f" /><Relationship Type="http://schemas.openxmlformats.org/officeDocument/2006/relationships/notesSlide" Target="/ppt/notesSlides/notesSlide14.xml" Id="Ra5ff67194471433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8eee23b6a453d" /><Relationship Type="http://schemas.openxmlformats.org/officeDocument/2006/relationships/notesSlide" Target="/ppt/notesSlides/notesSlide15.xml" Id="R03e76a4873224de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971c449fb4cf1" /><Relationship Type="http://schemas.openxmlformats.org/officeDocument/2006/relationships/notesSlide" Target="/ppt/notesSlides/notesSlide16.xml" Id="R828d1fdcab3747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377615-FBC0-4428-B47E-37849100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9525">
            <a:solidFill>
              <a:srgbClr val="F6F7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2FE8B-36CD-4725-B20E-1247C601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667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202A"/>
                </a:solidFill>
                <a:latin typeface="Arial"/>
                <a:ea typeface="Arial"/>
                <a:cs typeface="Arial"/>
              </a:rPr>
              <a:t>From Raw Data to Trusted Schema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98FB83-E629-4723-B040-ECF74D4F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Current repository pipeline, grounded in inspected 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EFFB57-9CA2-44D5-A34F-B2EA1C04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6477000" cy="8763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C444F-8F98-45B9-A2ED-F8BD66AE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EA17E0-465F-4BD5-8792-1CB7F797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6115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02A"/>
                </a:solidFill>
                <a:latin typeface="Arial"/>
                <a:ea typeface="Arial"/>
                <a:cs typeface="Arial"/>
              </a:rPr>
              <a:t>Canonical stance: deterministic-first extraction, evidence-backed claims, explicit unknown/conflict/abstention states.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B6801-BFDE-4BB2-B48E-19265AD1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00100"/>
            <a:ext cx="3143250" cy="1066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2EEF8"/>
          </a:solidFill>
          <a:ln xmlns:a="http://schemas.openxmlformats.org/drawingml/2006/main" w="9525">
            <a:solidFill>
              <a:srgbClr val="245B8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C6EA72-C4DB-4571-82EB-898476D9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933450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B8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5B8F"/>
                </a:solidFill>
                <a:latin typeface="Arial"/>
                <a:ea typeface="Arial"/>
                <a:cs typeface="Arial"/>
              </a:rPr>
              <a:t>Primary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89326E-6758-43C6-9665-134A6450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257300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extractors/registry.py::extract_path(ExtractionRequest)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63760A-1FAF-4362-BB40-C3DC2DB5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3143250" cy="1066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1EFDF"/>
          </a:solidFill>
          <a:ln xmlns:a="http://schemas.openxmlformats.org/drawingml/2006/main" w="9525">
            <a:solidFill>
              <a:srgbClr val="256C4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F30052-9CE3-414C-AE8E-7332A749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66950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C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C43"/>
                </a:solidFill>
                <a:latin typeface="Arial"/>
                <a:ea typeface="Arial"/>
                <a:cs typeface="Arial"/>
              </a:rPr>
              <a:t>Output Forms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B5F1D3-3FEC-41D5-9B1C-F155F4DC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90800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7809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ExtractionOutcome.to_dict() and unified_schema.py::build_unified_schema_envelope()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69D5A8-4EE8-483E-AA45-67321DD7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67100"/>
            <a:ext cx="3143250" cy="1066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7E7C8"/>
          </a:solidFill>
          <a:ln xmlns:a="http://schemas.openxmlformats.org/drawingml/2006/main" w="9525">
            <a:solidFill>
              <a:srgbClr val="A5631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68819-D55C-41AD-B36F-20A201AC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00450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563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56315"/>
                </a:solidFill>
                <a:latin typeface="Arial"/>
                <a:ea typeface="Arial"/>
                <a:cs typeface="Arial"/>
              </a:rPr>
              <a:t>Optional Semantic Layer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3ED173-27AC-40D7-8C10-1A0AEAA8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24300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7809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semantic_annotate.py and merge_semantic_annotations.py; downstream, evidence-constrained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891D9E-128F-4A02-A6ED-B383A094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2305050" cy="304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ADFDA"/>
          </a:solidFill>
          <a:ln xmlns:a="http://schemas.openxmlformats.org/drawingml/2006/main" w="9525">
            <a:solidFill>
              <a:srgbClr val="B42318"/>
            </a:solidFill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No LLM-first schema guessing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74CFCB-82CC-4736-93C9-DE13B3DF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71900"/>
            <a:ext cx="2076450" cy="304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2EEF8"/>
          </a:solidFill>
          <a:ln xmlns:a="http://schemas.openxmlformats.org/drawingml/2006/main" w="9525">
            <a:solidFill>
              <a:srgbClr val="245B8F"/>
            </a:solidFill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5B8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5B8F"/>
                </a:solidFill>
                <a:latin typeface="Arial"/>
                <a:ea typeface="Arial"/>
                <a:cs typeface="Arial"/>
              </a:rPr>
              <a:t>Registered extractors only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F68D57-CD0E-48E7-B8B9-9F2FC89F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771900"/>
            <a:ext cx="1600200" cy="304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9525">
            <a:solidFill>
              <a:srgbClr val="0F766E"/>
            </a:solidFill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Traceable claims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51D334-812F-453F-99A3-C6565A5C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990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Inspected code: CLI, registry, extractors, dataclasses, validators, semantic annotation, merge policy, provenance builder, GUI path, tests, docs.</a:t>
            </a:r>
          </a:p>
        </p:txBody>
      </p:sp>
    </p:spTree>
    <p:extLst>
      <p:ext uri="{BB962C8B-B14F-4D97-AF65-F5344CB8AC3E}">
        <p14:creationId xmlns:p14="http://schemas.microsoft.com/office/powerpoint/2010/main" val="15155606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44CC38-452C-4D3E-AB8C-9A94ACD2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9525">
            <a:solidFill>
              <a:srgbClr val="F6F7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09995-29A1-48A7-ACC2-AAE38C02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02A"/>
                </a:solidFill>
                <a:latin typeface="Arial"/>
                <a:ea typeface="Arial"/>
                <a:cs typeface="Arial"/>
              </a:rPr>
              <a:t>What Problem Schema Extraction Solves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01787-BAE9-4B28-9548-B7C9A397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Turn heterogeneous scientific files into auditable structure without unsupported invention.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47D7C-3AA4-4416-B297-3120A2D7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8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8493FB-C2C4-4D79-BEB1-95FFD05E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Current schema extraction pipeline | 2/16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653AEB-39D6-4A55-8AC4-B7C3B96B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257550" cy="2000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2EEF8"/>
          </a:solidFill>
          <a:ln xmlns:a="http://schemas.openxmlformats.org/drawingml/2006/main" w="9525">
            <a:solidFill>
              <a:srgbClr val="245B8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9233B-8A8C-45EF-95BF-7A2E9795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B8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5B8F"/>
                </a:solidFill>
                <a:latin typeface="Arial"/>
                <a:ea typeface="Arial"/>
                <a:cs typeface="Arial"/>
              </a:rPr>
              <a:t>Input Reality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D9F67E-99A6-407E-8B27-721D5EA5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29146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CSV tables, HDF5 hierarchies, NetCDF/CF variables, Zarr directory stores, Parquet footers, JSON/XML structures, and opaque files all expose schema differently.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ED6043-A461-4518-815B-EF9D8FA2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257550" cy="2000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BC9F08-AC66-4DAE-88C8-B671EDE2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4310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Needed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8148BE-10A1-44AE-98BA-D1866044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66950"/>
            <a:ext cx="29146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A structured schema with fields, paths, dtypes, shapes, units, logical roles, temporal properties, claim states, evidence, issues, and provenance.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BEACFE-2A4B-433F-81A6-BA8787ED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3257550" cy="2000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1EFDF"/>
          </a:solidFill>
          <a:ln xmlns:a="http://schemas.openxmlformats.org/drawingml/2006/main" w="9525">
            <a:solidFill>
              <a:srgbClr val="256C4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D1E79C-8930-4FAD-8F71-AE3517AF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4310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C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C43"/>
                </a:solidFill>
                <a:latin typeface="Arial"/>
                <a:ea typeface="Arial"/>
                <a:cs typeface="Arial"/>
              </a:rPr>
              <a:t>Trust Requirement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0BDBE5-B2E7-4D0F-A539-CAF20A6C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66950"/>
            <a:ext cx="29146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The code prefers unknown, conflicted, partial, failed, or abstained states over hallucinated fields or silent promotion of weak evidence.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F5C4B3-59C7-4F69-ACEE-FC3A7489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9620250" cy="742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365278-D412-4235-B17C-2E97A482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C5CF2E-06AE-47BE-A3F7-FFB5156F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91050"/>
            <a:ext cx="9258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02A"/>
                </a:solidFill>
                <a:latin typeface="Arial"/>
                <a:ea typeface="Arial"/>
                <a:cs typeface="Arial"/>
              </a:rPr>
              <a:t>README.md states the canonical job narrowly: establish the strongest schema supported by file structure, explicit metadata, deterministic validators, and recorded evidence.</a:t>
            </a:r>
          </a:p>
        </p:txBody>
      </p:sp>
    </p:spTree>
    <p:extLst>
      <p:ext uri="{BB962C8B-B14F-4D97-AF65-F5344CB8AC3E}">
        <p14:creationId xmlns:p14="http://schemas.microsoft.com/office/powerpoint/2010/main" val="4389971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01BD5E-EE6E-417F-9C6E-9FDC1252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9525">
            <a:solidFill>
              <a:srgbClr val="F6F7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E8F79-DB73-451E-8DD8-C5D2569E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02A"/>
                </a:solidFill>
                <a:latin typeface="Arial"/>
                <a:ea typeface="Arial"/>
                <a:cs typeface="Arial"/>
              </a:rPr>
              <a:t>Real Entry Points and Output Contracts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905017-53E0-4B74-8CB3-DB83CE2A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The current code exposes both legacy format-specific commands and the registry-backed generic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55089-7EB2-4E58-A9F1-A645D925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8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79B1D-64C2-408E-A56E-BDF518C0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Current schema extraction pipeline | 3/16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E0AEE6-EC40-41C5-A8CD-AFA8ED23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3429000" cy="1524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B8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B52C5-4238-4313-96DA-F3021EA9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B8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5B8F"/>
                </a:solidFill>
                <a:latin typeface="Arial"/>
                <a:ea typeface="Arial"/>
                <a:cs typeface="Arial"/>
              </a:rPr>
              <a:t>CLI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D64FF-E913-4C54-AE44-51245F2C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30861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82532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cli.py::main()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Commands: extract, extract-csv, extract-hdf5, evaluate, agent-export.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Generic extract supports --output-shape legacy|envelope|both.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D72CA3-9D77-468F-BE02-45BF76D0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95450"/>
            <a:ext cx="3429000" cy="1524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FE54E0-71B8-4492-B3DD-38AB75CA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2880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Programmatic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3188CB-987A-417B-A3CB-A1865B7E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52650"/>
            <a:ext cx="30861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8216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extractors/registry.py::extract_path(request)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Input: ExtractionRequest(path, format_hint, sample_limit, resource_kind).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Output: ExtractionOutcome(status, format_decision, extractor, schema, issues).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8EB0C3-538A-4614-B252-5C30F4D5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95450"/>
            <a:ext cx="3429000" cy="1524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C4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CBD024-B12D-4BD5-8ECF-87754B4C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2880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C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C43"/>
                </a:solidFill>
                <a:latin typeface="Arial"/>
                <a:ea typeface="Arial"/>
                <a:cs typeface="Arial"/>
              </a:rPr>
              <a:t>GUI/API Upload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46B62A-4298-434E-A9A2-57A67493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52650"/>
            <a:ext cx="30861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gui_demo/server.py::extract_uploaded_schema()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Routes uploads through extract_path, preserves legacy schema, adds extraction_outcome and unified_schema_envelope.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825B37-C791-4A0A-BC3F-C24AF00A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3429000" cy="1238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E8F5"/>
          </a:solidFill>
          <a:ln xmlns:a="http://schemas.openxmlformats.org/drawingml/2006/main" w="9525">
            <a:solidFill>
              <a:srgbClr val="5D4B8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7F1EB1-DE81-4EA3-B986-180937C0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4B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D4B8C"/>
                </a:solidFill>
                <a:latin typeface="Arial"/>
                <a:ea typeface="Arial"/>
                <a:cs typeface="Arial"/>
              </a:rPr>
              <a:t>Legacy Schema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D14A1F-ADCC-43CE-8758-12CE9628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3086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models.py::DatasetSchema and FieldSchema hold physical/logical/semantic fields plus EvidenceRecord lists.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81B2DF-8FF4-4910-B0A5-BBB759FC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90950"/>
            <a:ext cx="3429000" cy="1238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7E7C8"/>
          </a:solidFill>
          <a:ln xmlns:a="http://schemas.openxmlformats.org/drawingml/2006/main" w="9525">
            <a:solidFill>
              <a:srgbClr val="A5631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1455DE-8E62-4D4C-AF89-8B6FD94D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2430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563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56315"/>
                </a:solidFill>
                <a:latin typeface="Arial"/>
                <a:ea typeface="Arial"/>
                <a:cs typeface="Arial"/>
              </a:rPr>
              <a:t>Unified Envelope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AAA14A-A326-40D0-B486-13EA5F22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48150"/>
            <a:ext cx="3086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unified_schema.py::build_unified_schema_envelope() normalizes claims, evidence, conflicts, abstentions, provenance, and evaluation metadata.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09E5D6-5A5E-44CF-8F78-32DA4BC1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90950"/>
            <a:ext cx="3429000" cy="1238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ADFDA"/>
          </a:solidFill>
          <a:ln xmlns:a="http://schemas.openxmlformats.org/drawingml/2006/main" w="9525">
            <a:solidFill>
              <a:srgbClr val="B4231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DFA5C0-DBF9-4C10-B784-28ACDAA4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2430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Agent Export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FA74D5-0861-4822-B841-AA5672F4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48150"/>
            <a:ext cx="3086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agent_exports.py::export_agent_bundle() creates read-only bundles with canonical_mutation_allowed=false.</a:t>
            </a:r>
          </a:p>
        </p:txBody>
      </p:sp>
    </p:spTree>
    <p:extLst>
      <p:ext uri="{BB962C8B-B14F-4D97-AF65-F5344CB8AC3E}">
        <p14:creationId xmlns:p14="http://schemas.microsoft.com/office/powerpoint/2010/main" val="6597004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2D76FE-C774-47B6-9AB5-43FD00BD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9525">
            <a:solidFill>
              <a:srgbClr val="F6F7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96EB0-7977-48F9-A3FA-5F5DA201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02A"/>
                </a:solidFill>
                <a:latin typeface="Arial"/>
                <a:ea typeface="Arial"/>
                <a:cs typeface="Arial"/>
              </a:rPr>
              <a:t>Input Data: Sources, Formats, Assumptions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A9682-0A0D-4814-AEF7-D6838C8E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Accepted input forms are registered explicitly in EXTRACTOR_CAPABILITIES.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5EBD7D-8A29-4764-90E6-7F79EB4D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8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B9D29-76C6-405F-AB51-C7A61B81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Current schema extraction pipeline | 4/16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BF3F3-F396-49C2-BB39-057C9591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10706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E93081-16A6-4285-A45B-B19ECFCC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5B8F"/>
                </a:solidFill>
                <a:latin typeface="Arial"/>
                <a:ea typeface="Arial"/>
                <a:cs typeface="Arial"/>
              </a:rPr>
              <a:t>CSV/TSV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8ACA3-3F04-428D-8C9F-9541002D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097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file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3079E8-4379-4096-A7C3-DE165BF8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headers + sampled rows; sample_limit default 200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8C900A-1D9F-4477-8555-4769A72F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10706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979122-9085-474B-9602-6852A45B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5B8F"/>
                </a:solidFill>
                <a:latin typeface="Arial"/>
                <a:ea typeface="Arial"/>
                <a:cs typeface="Arial"/>
              </a:rPr>
              <a:t>HDF5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E0E7A2-F005-42E6-B393-881D2A97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66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file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61B8DF-F907-4068-8050-93AA9DF9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groups/datasets/attrs via h5py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AC2711-FE70-4135-95D6-2AD511A9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10706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2864EC-2C76-4CAD-B93E-A5F6A3A6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5B8F"/>
                </a:solidFill>
                <a:latin typeface="Arial"/>
                <a:ea typeface="Arial"/>
                <a:cs typeface="Arial"/>
              </a:rPr>
              <a:t>NetCDF/CF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3A4672-FDBD-4AE1-9F68-B2F90369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241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file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D3D615-9D70-44BC-8690-802BE3AE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24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classic magic or HDF5-backed .nc with NetCDF4 markers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002D1B-801D-4515-A794-23B72041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58D3A2-1DC8-4CA1-B3BB-4651ECC2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5B8F"/>
                </a:solidFill>
                <a:latin typeface="Arial"/>
                <a:ea typeface="Arial"/>
                <a:cs typeface="Arial"/>
              </a:rPr>
              <a:t>Zarr v2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D4E4E6-ABC1-4A50-B19E-FB86600B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813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directory_store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77A41D-6522-47A5-93BC-4B0D3734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813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local metadata docs only; no chunk payload reads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9BB3AA-FE2F-4946-B8BF-70C2D196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10706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893FBB-2348-448E-94BB-C14A47E5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5B8F"/>
                </a:solidFill>
                <a:latin typeface="Arial"/>
                <a:ea typeface="Arial"/>
                <a:cs typeface="Arial"/>
              </a:rPr>
              <a:t>Parquet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B2ED9F-198D-4990-93B6-4894ACE6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385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file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709E39-6C80-4982-8B3D-EF7D159C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385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footer and Arrow schema via pyarrow; no row reads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65183C-9A3C-4777-AAAA-D3CE5FD6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10706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5620C8-8496-431B-BC02-32795402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5B8F"/>
                </a:solidFill>
                <a:latin typeface="Arial"/>
                <a:ea typeface="Arial"/>
                <a:cs typeface="Arial"/>
              </a:rPr>
              <a:t>JSON/JSONL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78E581-25FC-48C9-9AE5-DC30732D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957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file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F32016-9B0E-4D53-8162-630EDA6D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957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bounded observed paths or declared JSON Schema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85B6CA-80F7-46C7-8484-6AE4FB86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0706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D68FB5-346B-4D4C-9124-3376CB51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5B8F"/>
                </a:solidFill>
                <a:latin typeface="Arial"/>
                <a:ea typeface="Arial"/>
                <a:cs typeface="Arial"/>
              </a:rPr>
              <a:t>XML/XSD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2EA088-125E-41D0-AA11-B7A5B565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52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file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E670FC-E539-42D2-BE9B-7DF658E2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529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bounded instance paths or lightweight XSD declarations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AB9D90-C16F-4AD2-BEA3-39A57689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10706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CC6391-EDB8-46C5-9B21-4183DDDA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5B8F"/>
                </a:solidFill>
                <a:latin typeface="Arial"/>
                <a:ea typeface="Arial"/>
                <a:cs typeface="Arial"/>
              </a:rPr>
              <a:t>Raw/unknown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6A1E32-1331-4FE6-9490-4BC0F235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101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file or directory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FFC821-A28B-4DCA-9A69-2022FA8B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10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structured abstention; file-level evidence only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A46AD5-C5E9-4CA0-991C-5AA0EAC4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38800"/>
            <a:ext cx="9810750" cy="5905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2318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CAD212-F074-4901-A848-96701BE2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388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B42318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099DF3-979E-4927-B779-7EADDD2D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72150"/>
            <a:ext cx="944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02A"/>
                </a:solidFill>
                <a:latin typeface="Arial"/>
                <a:ea typeface="Arial"/>
                <a:cs typeface="Arial"/>
              </a:rPr>
              <a:t>Unsupported or unregistered formats are not coerced into schemas; registry.py returns abstained with an issue code and raw_binary schema shell.</a:t>
            </a:r>
          </a:p>
        </p:txBody>
      </p:sp>
    </p:spTree>
    <p:extLst>
      <p:ext uri="{BB962C8B-B14F-4D97-AF65-F5344CB8AC3E}">
        <p14:creationId xmlns:p14="http://schemas.microsoft.com/office/powerpoint/2010/main" val="19311773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B3D884-DCD7-4674-84EF-FB083547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9525">
            <a:solidFill>
              <a:srgbClr val="F6F7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B66EE-AE92-4A2F-9EFB-11284014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02A"/>
                </a:solidFill>
                <a:latin typeface="Arial"/>
                <a:ea typeface="Arial"/>
                <a:cs typeface="Arial"/>
              </a:rPr>
              <a:t>High-Level Pipeline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253FC-995E-4DF9-96E8-61ED8354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The core path is parser-led; semantic annotation is downstream and optional.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EA03A-F284-490B-8CC7-D992B73B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8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591CE-AA9A-4715-AC77-CFE312A2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Current schema extraction pipeline | 5/16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94852-01F9-40D4-ABD1-93B1FB16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1619250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ADFDA"/>
          </a:solidFill>
          <a:ln xmlns:a="http://schemas.openxmlformats.org/drawingml/2006/main" w="9525">
            <a:solidFill>
              <a:srgbClr val="B42318"/>
            </a:solidFill>
          </a:ln>
        </p:spPr>
        <p:txBody>
          <a:bodyPr xmlns:a="http://schemas.openxmlformats.org/drawingml/2006/main" lIns="133350" tIns="28575" rIns="228600" bIns="28575" anchor="ctr">
            <a:normAutofit fontScale="91540"/>
          </a:bodyPr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Raw input</a:t>
            </a:r>
          </a:p>
          <a:p xmlns:a="http://schemas.openxmlformats.org/drawingml/2006/main">
            <a:pPr algn="ctr">
              <a:defRPr sz="990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file/store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526AE-4ABC-414D-B7F8-E41CC662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38350"/>
            <a:ext cx="1733550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2EEF8"/>
          </a:solidFill>
          <a:ln xmlns:a="http://schemas.openxmlformats.org/drawingml/2006/main" w="9525">
            <a:solidFill>
              <a:srgbClr val="245B8F"/>
            </a:solidFill>
          </a:ln>
        </p:spPr>
        <p:txBody>
          <a:bodyPr xmlns:a="http://schemas.openxmlformats.org/drawingml/2006/main" lIns="133350" tIns="28575" rIns="228600" bIns="28575" anchor="ctr">
            <a:normAutofit fontScale="91540"/>
          </a:bodyPr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245B8F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245B8F"/>
                </a:solidFill>
                <a:latin typeface="Arial"/>
                <a:ea typeface="Arial"/>
                <a:cs typeface="Arial"/>
              </a:rPr>
              <a:t>detect_format</a:t>
            </a:r>
          </a:p>
          <a:p xmlns:a="http://schemas.openxmlformats.org/drawingml/2006/main">
            <a:pPr algn="ctr">
              <a:defRPr sz="990" b="1">
                <a:solidFill>
                  <a:srgbClr val="245B8F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245B8F"/>
                </a:solidFill>
                <a:latin typeface="Arial"/>
                <a:ea typeface="Arial"/>
                <a:cs typeface="Arial"/>
              </a:rPr>
              <a:t>signals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31FDB3-8F90-41CF-AA03-BAC8BD17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38350"/>
            <a:ext cx="1752600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F1EC"/>
          </a:solidFill>
          <a:ln xmlns:a="http://schemas.openxmlformats.org/drawingml/2006/main" w="9525">
            <a:solidFill>
              <a:srgbClr val="0F766E"/>
            </a:solidFill>
          </a:ln>
        </p:spPr>
        <p:txBody>
          <a:bodyPr xmlns:a="http://schemas.openxmlformats.org/drawingml/2006/main" lIns="133350" tIns="28575" rIns="228600" bIns="28575" anchor="ctr">
            <a:normAutofit fontScale="91540"/>
          </a:bodyPr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capability</a:t>
            </a:r>
          </a:p>
          <a:p xmlns:a="http://schemas.openxmlformats.org/drawingml/2006/main">
            <a:pPr algn="ctr">
              <a:defRPr sz="99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registry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3088CF-541A-4A34-B518-B77D4EF5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38350"/>
            <a:ext cx="1809750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1EFDF"/>
          </a:solidFill>
          <a:ln xmlns:a="http://schemas.openxmlformats.org/drawingml/2006/main" w="9525">
            <a:solidFill>
              <a:srgbClr val="256C43"/>
            </a:solidFill>
          </a:ln>
        </p:spPr>
        <p:txBody>
          <a:bodyPr xmlns:a="http://schemas.openxmlformats.org/drawingml/2006/main" lIns="133350" tIns="28575" rIns="228600" bIns="28575" anchor="ctr">
            <a:normAutofit fontScale="91540"/>
          </a:bodyPr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256C43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256C43"/>
                </a:solidFill>
                <a:latin typeface="Arial"/>
                <a:ea typeface="Arial"/>
                <a:cs typeface="Arial"/>
              </a:rPr>
              <a:t>format-specific</a:t>
            </a:r>
          </a:p>
          <a:p xmlns:a="http://schemas.openxmlformats.org/drawingml/2006/main">
            <a:pPr algn="ctr">
              <a:defRPr sz="990" b="1">
                <a:solidFill>
                  <a:srgbClr val="256C43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256C43"/>
                </a:solidFill>
                <a:latin typeface="Arial"/>
                <a:ea typeface="Arial"/>
                <a:cs typeface="Arial"/>
              </a:rPr>
              <a:t>extractor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C04459-CAE5-467F-8FCC-7191FD58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38350"/>
            <a:ext cx="1733550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7E7C8"/>
          </a:solidFill>
          <a:ln xmlns:a="http://schemas.openxmlformats.org/drawingml/2006/main" w="9525">
            <a:solidFill>
              <a:srgbClr val="A56315"/>
            </a:solidFill>
          </a:ln>
        </p:spPr>
        <p:txBody>
          <a:bodyPr xmlns:a="http://schemas.openxmlformats.org/drawingml/2006/main" lIns="133350" tIns="28575" rIns="228600" bIns="28575" anchor="ctr">
            <a:normAutofit fontScale="91540"/>
          </a:bodyPr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A56315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A56315"/>
                </a:solidFill>
                <a:latin typeface="Arial"/>
                <a:ea typeface="Arial"/>
                <a:cs typeface="Arial"/>
              </a:rPr>
              <a:t>validators +</a:t>
            </a:r>
          </a:p>
          <a:p xmlns:a="http://schemas.openxmlformats.org/drawingml/2006/main">
            <a:pPr algn="ctr">
              <a:defRPr sz="990" b="1">
                <a:solidFill>
                  <a:srgbClr val="A56315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A56315"/>
                </a:solidFill>
                <a:latin typeface="Arial"/>
                <a:ea typeface="Arial"/>
                <a:cs typeface="Arial"/>
              </a:rPr>
              <a:t>normalizers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F711DB-DFE6-46F8-991E-1C8B7633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038350"/>
            <a:ext cx="1638300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CE8F5"/>
          </a:solidFill>
          <a:ln xmlns:a="http://schemas.openxmlformats.org/drawingml/2006/main" w="9525">
            <a:solidFill>
              <a:srgbClr val="5D4B8C"/>
            </a:solidFill>
          </a:ln>
        </p:spPr>
        <p:txBody>
          <a:bodyPr xmlns:a="http://schemas.openxmlformats.org/drawingml/2006/main" lIns="133350" tIns="28575" rIns="228600" bIns="28575" anchor="ctr">
            <a:normAutofit fontScale="91540"/>
          </a:bodyPr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5D4B8C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5D4B8C"/>
                </a:solidFill>
                <a:latin typeface="Arial"/>
                <a:ea typeface="Arial"/>
                <a:cs typeface="Arial"/>
              </a:rPr>
              <a:t>schema</a:t>
            </a:r>
          </a:p>
          <a:p xmlns:a="http://schemas.openxmlformats.org/drawingml/2006/main">
            <a:pPr algn="ctr">
              <a:defRPr sz="990" b="1">
                <a:solidFill>
                  <a:srgbClr val="5D4B8C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5D4B8C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AFC02F-FA78-4398-980D-10FCB6BC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52800"/>
            <a:ext cx="9048750" cy="933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79CA1D-B967-4015-B694-D7B76E79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505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Canonical output path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43D9C5-6949-4C23-889C-D1E8C128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82905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8329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ExtractionOutcome -&gt; DatasetSchema/FieldSchema/EvidenceRecord -&gt; Unified Schema Envelope claims/evidence/provenance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772163-2840-4014-9572-00CBD31F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62500"/>
            <a:ext cx="6286500" cy="742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7E7C8"/>
          </a:solidFill>
          <a:ln xmlns:a="http://schemas.openxmlformats.org/drawingml/2006/main" w="9525">
            <a:solidFill>
              <a:srgbClr val="A5631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9E0393-77BC-485C-AEAF-543E5775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958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563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56315"/>
                </a:solidFill>
                <a:latin typeface="Arial"/>
                <a:ea typeface="Arial"/>
                <a:cs typeface="Arial"/>
              </a:rPr>
              <a:t>Optional downstream semantic augmentation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F9F358-6914-44A1-8414-19C42655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0065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Grounding task -&gt; LLM JSON result -&gt; validation -&gt; merge policy -&gt; semantic_merged artifacts</a:t>
            </a:r>
          </a:p>
        </p:txBody>
      </p:sp>
    </p:spTree>
    <p:extLst>
      <p:ext uri="{BB962C8B-B14F-4D97-AF65-F5344CB8AC3E}">
        <p14:creationId xmlns:p14="http://schemas.microsoft.com/office/powerpoint/2010/main" val="4050390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1EF398-9937-4F2C-925A-7455D3B9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9525">
            <a:solidFill>
              <a:srgbClr val="F6F7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7C34B-5DEA-4E33-86FB-EDF4877B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02A"/>
                </a:solidFill>
                <a:latin typeface="Arial"/>
                <a:ea typeface="Arial"/>
                <a:cs typeface="Arial"/>
              </a:rPr>
              <a:t>Intake, Detection, and Trust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B258F-836E-43C7-8B7D-F3717A0B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Format decisions use multiple signals and explicitly abstain on conflicts.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2FD9D9-ADC8-4AB7-8A48-F64C3459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8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49199-DCAD-438F-BFBB-490D01F5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Current schema extraction pipeline | 6/16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A0F4AA-979C-443E-92CC-DE592F12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3333750" cy="1714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2EEF8"/>
          </a:solidFill>
          <a:ln xmlns:a="http://schemas.openxmlformats.org/drawingml/2006/main" w="9525">
            <a:solidFill>
              <a:srgbClr val="245B8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B12195-CB2E-42D5-9597-DBE70E61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2990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B8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5B8F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F66954-E774-4D42-920B-40D16A45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29908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extract_path() checks path existence and resource kind: auto, file, or directory_store. Bad paths and mismatches return failed outcomes.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C42EA-889C-4A25-A4D0-B3B8F6C3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95450"/>
            <a:ext cx="3333750" cy="1714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1B7C4-2D36-427D-A67B-0BF20D8E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828800"/>
            <a:ext cx="2990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Signals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4127EB-9FB3-487C-BC53-B002F231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52650"/>
            <a:ext cx="29908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detect_format() collects magic bytes, directory markers, explicit hints, suffixes, and delimited text probes.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673E97-518F-4C9A-86BC-E7FE35E9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95450"/>
            <a:ext cx="3333750" cy="1714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1EFDF"/>
          </a:solidFill>
          <a:ln xmlns:a="http://schemas.openxmlformats.org/drawingml/2006/main" w="9525">
            <a:solidFill>
              <a:srgbClr val="256C4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9C839B-40C8-4D3E-B4FF-EAD83A98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28800"/>
            <a:ext cx="2990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C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C43"/>
                </a:solidFill>
                <a:latin typeface="Arial"/>
                <a:ea typeface="Arial"/>
                <a:cs typeface="Arial"/>
              </a:rPr>
              <a:t>Selection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18CF11-73BF-451E-B048-FB73A6CA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52650"/>
            <a:ext cx="29908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Priority: strong magic/directory signal, then hint, suffix, text probe. HDF5 .nc can upgrade to NetCDF when markers are present.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61118C-33F5-4AD0-AF3B-E76D4259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9906000" cy="8763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231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319797-A407-4623-BE64-6CF35540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434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Trust boundary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94F976-5009-43F7-A739-C70E099D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86300"/>
            <a:ext cx="923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If strong signals conflict, no parser is selected. _abstention_issue() emits codes such as unknown_conflicting_format_signals, unknown_no_signature, or unknown_no_spec_backed_extractor.</a:t>
            </a:r>
          </a:p>
        </p:txBody>
      </p:sp>
    </p:spTree>
    <p:extLst>
      <p:ext uri="{BB962C8B-B14F-4D97-AF65-F5344CB8AC3E}">
        <p14:creationId xmlns:p14="http://schemas.microsoft.com/office/powerpoint/2010/main" val="8313302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1CDCAD-62F1-4283-98E5-CB5B9522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9525">
            <a:solidFill>
              <a:srgbClr val="F6F7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8E620-87E1-4192-AC9F-894F72BC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02A"/>
                </a:solidFill>
                <a:latin typeface="Arial"/>
                <a:ea typeface="Arial"/>
                <a:cs typeface="Arial"/>
              </a:rPr>
              <a:t>Loading and Parsing by Extractor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3A3D3B-983C-4F79-94C3-A290D17A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Each registered runner produces DatasetSchema fields with source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91611-CD7E-4831-B5C1-2728BEAB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8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0372E-1828-4C77-93A3-E8746D5F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Current schema extraction pipeline | 7/16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D945D8-A96C-42A2-B9E1-7F10F18E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2667000" cy="1276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2EEF8"/>
          </a:solidFill>
          <a:ln xmlns:a="http://schemas.openxmlformats.org/drawingml/2006/main" w="9525">
            <a:solidFill>
              <a:srgbClr val="245B8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C8F084-8BA8-4E52-B9F8-C5CC7F9B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B8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5B8F"/>
                </a:solidFill>
                <a:latin typeface="Arial"/>
                <a:ea typeface="Arial"/>
                <a:cs typeface="Arial"/>
              </a:rPr>
              <a:t>CSV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54A1F-6EC4-4536-BBD4-34D948F3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7785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csv_extractor.py::extract_csv_schema()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Headers, sample rows, conservative type inference, leading-zero protection, units from suffixes.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2DBF8A-A58F-4926-94B0-E08ABCD2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2667000" cy="1276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2641C1-00CD-421C-ACE3-C5824B04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0975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HDF5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EBF1A5-1E5A-4CFD-9D0D-A19E8E50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3360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3102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hdf5_extractor.py::extract_hdf5_schema()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Traverses groups/datasets, reads dtype, shape, attrs, and records recoverable extraction_errors.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14D77F-6BAA-451A-B218-E0334810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76400"/>
            <a:ext cx="2667000" cy="1276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1EFDF"/>
          </a:solidFill>
          <a:ln xmlns:a="http://schemas.openxmlformats.org/drawingml/2006/main" w="9525">
            <a:solidFill>
              <a:srgbClr val="256C4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12D2AD-8D52-4084-A980-57ADD3E9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0975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C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C43"/>
                </a:solidFill>
                <a:latin typeface="Arial"/>
                <a:ea typeface="Arial"/>
                <a:cs typeface="Arial"/>
              </a:rPr>
              <a:t>NetCDF/CF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C5CBC7-4418-498F-B09A-0B786331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3360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85877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netcdf_extractor.py::extract_netcdf_schema()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Classic scipy path or HDF5-backed path; dimensions, variables, attributes, CF coordinates.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0DECB8-D08B-4CF9-823D-EDC0508F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76400"/>
            <a:ext cx="2667000" cy="1276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7E7C8"/>
          </a:solidFill>
          <a:ln xmlns:a="http://schemas.openxmlformats.org/drawingml/2006/main" w="9525">
            <a:solidFill>
              <a:srgbClr val="A5631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4D2909-F686-47A4-BE34-86B69554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563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56315"/>
                </a:solidFill>
                <a:latin typeface="Arial"/>
                <a:ea typeface="Arial"/>
                <a:cs typeface="Arial"/>
              </a:rPr>
              <a:t>Zarr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A082F3-A719-4DB6-BDAF-0D129492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3360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5433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zarr_extractor.py::extract_zarr_schema()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Local v2 metadata only; validates .zarray docs, dimensions, CF/Xarray attributes; v3 abstains.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935645-CD00-4026-B880-28298EFB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48050"/>
            <a:ext cx="2667000" cy="1276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E8F5"/>
          </a:solidFill>
          <a:ln xmlns:a="http://schemas.openxmlformats.org/drawingml/2006/main" w="9525">
            <a:solidFill>
              <a:srgbClr val="5D4B8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6CA911-E291-4B18-BEB6-D05F2982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4B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D4B8C"/>
                </a:solidFill>
                <a:latin typeface="Arial"/>
                <a:ea typeface="Arial"/>
                <a:cs typeface="Arial"/>
              </a:rPr>
              <a:t>Parquet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83E19F-D877-4CF2-89E4-1E8FC104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87447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parquet_extractor.py::extract_parquet_schema()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Parquet footer + Arrow schema, row groups, encodings, statistics; row_values_not_read.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40B96D-DC53-419C-9B3C-00C5F62F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448050"/>
            <a:ext cx="2667000" cy="1276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B8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AED039-9B86-4E8F-9190-1C8C9424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814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B8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5B8F"/>
                </a:solidFill>
                <a:latin typeface="Arial"/>
                <a:ea typeface="Arial"/>
                <a:cs typeface="Arial"/>
              </a:rPr>
              <a:t>JSON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BC5FB5-6421-4B44-B885-6C884E6A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052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425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json_extractor.py::extract_json_schema()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16 MB limit; JSON Schema declarations or bounded observed paths, type sets, missing/null.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02A3F5-AD8C-4762-A228-4C5D7954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48050"/>
            <a:ext cx="2667000" cy="1276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BF6BF7-FFC2-4C50-BF2C-3EF1EB7C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814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XML/XSD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21F586-C2BE-41C3-9B5D-F1922C49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052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7215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xml_extractor.py::extract_xml_schema()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16 MB limit; bounded XML path observation or XSD element/attribute declarations.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151140-A1CC-44BC-8154-0969A61D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48050"/>
            <a:ext cx="2667000" cy="1276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ADFDA"/>
          </a:solidFill>
          <a:ln xmlns:a="http://schemas.openxmlformats.org/drawingml/2006/main" w="9525">
            <a:solidFill>
              <a:srgbClr val="B4231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6AEFFB-FA92-42BC-8E02-BE936FA9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814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B40C7B-4C1A-438A-9FCA-3550C0A3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9052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8884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registry.py::build_raw_binary_schema()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No field claims; preserves byte size/prefix or directory entry count with abstention policy.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B8B15C-3CCA-467A-B00A-CDE5B151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05450"/>
            <a:ext cx="876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02A"/>
                </a:solidFill>
                <a:latin typeface="Arial"/>
                <a:ea typeface="Arial"/>
                <a:cs typeface="Arial"/>
              </a:rPr>
              <a:t>All parsers converge on models.py::DatasetSchema, FieldSchema, and EvidenceRecord.</a:t>
            </a:r>
          </a:p>
        </p:txBody>
      </p:sp>
    </p:spTree>
    <p:extLst>
      <p:ext uri="{BB962C8B-B14F-4D97-AF65-F5344CB8AC3E}">
        <p14:creationId xmlns:p14="http://schemas.microsoft.com/office/powerpoint/2010/main" val="17581776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BFC0D0-AD50-4F94-9A94-E3CC7E55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9525">
            <a:solidFill>
              <a:srgbClr val="F6F7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2B2285-CB5F-4AEB-AFA6-5CF1ADDC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02A"/>
                </a:solidFill>
                <a:latin typeface="Arial"/>
                <a:ea typeface="Arial"/>
                <a:cs typeface="Arial"/>
              </a:rPr>
              <a:t>Preprocessing and Normalization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CC909-D8E3-4A06-8671-13BF980A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The pipeline enriches parser outputs without erasing uncertainty.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60C2E-1CDA-4182-BEB9-C0BBF642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8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92EA1-CC04-4662-B18F-0E2CC315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Current schema extraction pipeline | 8/16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AF45A-1807-4C81-8DF1-D2602D16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3276600" cy="2095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2EEF8"/>
          </a:solidFill>
          <a:ln xmlns:a="http://schemas.openxmlformats.org/drawingml/2006/main" w="9525">
            <a:solidFill>
              <a:srgbClr val="245B8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379AD6-9987-4509-817C-015FA985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B8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5B8F"/>
                </a:solidFill>
                <a:latin typeface="Arial"/>
                <a:ea typeface="Arial"/>
                <a:cs typeface="Arial"/>
              </a:rPr>
              <a:t>Temporal Semantics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4743E0-9D8F-4039-A429-D9A901CF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29337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temporal_semantics.py::analyze_temporal_semantics()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Scores candidates by datetime type, strong names, semantic/logical hints. Selects only when support is strong; ties produce ambiguous_time_axis_candidates.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A1759-776B-4D1F-8D8D-E19ADCB7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95450"/>
            <a:ext cx="3276600" cy="2095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FA6B34-4E36-40D9-9E3E-80400432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2880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Unit Normalization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8D2F0D-6B84-4AD6-B5E3-412A2C1F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52650"/>
            <a:ext cx="29337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unit_normalization.py::normalize_unit_claim()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Maps known aliases to canonical units and UCUM codes; records evidence_basis such as explicit_metadata, name_pattern, or not_evidence_backed.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6B271C-81BC-40EE-B524-E115BE61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95450"/>
            <a:ext cx="3276600" cy="2095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1EFDF"/>
          </a:solidFill>
          <a:ln xmlns:a="http://schemas.openxmlformats.org/drawingml/2006/main" w="9525">
            <a:solidFill>
              <a:srgbClr val="256C4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7A5BCB-77CD-44A2-87EC-C3963C41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2880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C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C43"/>
                </a:solidFill>
                <a:latin typeface="Arial"/>
                <a:ea typeface="Arial"/>
                <a:cs typeface="Arial"/>
              </a:rPr>
              <a:t>Dataset Profile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3D8980-CA22-4BE6-97C1-8670FD9F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52650"/>
            <a:ext cx="29337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deterministic_profile.py::attach_dataset_profile()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Adds missingness and identifier quality. Multi-file relationships are deterministic candidates, not asserted joins.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88BF4C-CABB-4B28-AC8C-14CE739C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72000"/>
            <a:ext cx="9791700" cy="742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5631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9FF118-93D0-4AB1-B6D5-E045F09F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7200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6315"/>
          </a:solidFill>
          <a:ln xmlns:a="http://schemas.openxmlformats.org/drawingml/2006/main" w="9525">
            <a:solidFill>
              <a:srgbClr val="A5631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4359B-6D28-46EC-8023-D33E0118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05350"/>
            <a:ext cx="942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02A"/>
                </a:solidFill>
                <a:latin typeface="Arial"/>
                <a:ea typeface="Arial"/>
                <a:cs typeface="Arial"/>
              </a:rPr>
              <a:t>Normalization adds claim state and reason codes such as supported, derived, unknown, conflicted, sampling_insufficient, and conservative fallback to string.</a:t>
            </a:r>
          </a:p>
        </p:txBody>
      </p:sp>
    </p:spTree>
    <p:extLst>
      <p:ext uri="{BB962C8B-B14F-4D97-AF65-F5344CB8AC3E}">
        <p14:creationId xmlns:p14="http://schemas.microsoft.com/office/powerpoint/2010/main" val="19279301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F2919D-28E6-476F-81B5-555F0D4E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9525">
            <a:solidFill>
              <a:srgbClr val="F6F7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8B45A-2646-4515-94BD-E23B80A6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02A"/>
                </a:solidFill>
                <a:latin typeface="Arial"/>
                <a:ea typeface="Arial"/>
                <a:cs typeface="Arial"/>
              </a:rPr>
              <a:t>Extraction Core: How Schema Candidates Are Produced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D40A3-7F0E-4A4B-8329-2909E7B2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The concrete model is layered but stored in explicit dataclasses.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639EF-5EF0-425B-9279-3FDDF70C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8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5FF9A-2023-42EF-B5C1-28B52562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Current schema extraction pipeline | 9/16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5ED5C-8A2D-4019-BB82-626C70DB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3067050" cy="3028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ADFDA"/>
          </a:solidFill>
          <a:ln xmlns:a="http://schemas.openxmlformats.org/drawingml/2006/main" w="9525">
            <a:solidFill>
              <a:srgbClr val="B4231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90CBAE-D1EC-445F-BFB8-C9EA1971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Raw/untrusted 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680F61-7F9D-4C53-B820-2659052E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622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Bytes, text rows, XML/JSON trees, HDF5/NetCDF containers, Parquet footers, Zarr metadata directories.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Not trusted to imply semantics by itself.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F5E607-5994-497F-9D6B-6FFA5340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52600"/>
            <a:ext cx="3067050" cy="3028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2EEF8"/>
          </a:solidFill>
          <a:ln xmlns:a="http://schemas.openxmlformats.org/drawingml/2006/main" w="9525">
            <a:solidFill>
              <a:srgbClr val="245B8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C32891-80AE-488F-B7EF-ECD8E58E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9621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8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5B8F"/>
                </a:solidFill>
                <a:latin typeface="Arial"/>
                <a:ea typeface="Arial"/>
                <a:cs typeface="Arial"/>
              </a:rPr>
              <a:t>Intermediate representation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174A94-F4A2-44ED-8311-4A8B6CFE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62200"/>
            <a:ext cx="2381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models.py::FieldSchema</a:t>
            </a:r>
          </a:p>
          <a:p xmlns:a="http://schemas.openxmlformats.org/drawingml/2006/main">
            <a:pPr algn="l">
              <a:defRPr sz="112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field_name, field_path, physical_type, shape, nullable, examples, source_evidence, confidence, uncertainty_reason.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models.py::DatasetSchema groups fields + metadata.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1ABB8F-AD44-4E54-81E9-AD583A09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3067050" cy="3028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1EFDF"/>
          </a:solidFill>
          <a:ln xmlns:a="http://schemas.openxmlformats.org/drawingml/2006/main" w="9525">
            <a:solidFill>
              <a:srgbClr val="256C4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865EE-1267-4CD3-961E-5E49F731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621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C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C43"/>
                </a:solidFill>
                <a:latin typeface="Arial"/>
                <a:ea typeface="Arial"/>
                <a:cs typeface="Arial"/>
              </a:rPr>
              <a:t>Controlled schema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DD4D0A-4B30-4BF2-B4D2-0CAFC4EF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62200"/>
            <a:ext cx="23812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Logical roles, semantic hints, units, temporal analysis, format-specific analysis, claim states, evidence records.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Only promoted when the extractor or validator supports the claim.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303833-E55C-449E-85BF-B49B4A2C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914650"/>
            <a:ext cx="59055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2EEF8"/>
          </a:solidFill>
          <a:ln xmlns:a="http://schemas.openxmlformats.org/drawingml/2006/main" w="9525">
            <a:solidFill>
              <a:srgbClr val="245B8F"/>
            </a:solidFill>
          </a:ln>
        </p:spPr>
        <p:txBody>
          <a:bodyPr xmlns:a="http://schemas.openxmlformats.org/drawingml/2006/main" lIns="133350" tIns="28575" rIns="228600" bIns="285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8FA08D-3839-45BE-ABD4-DC7F3CB7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14650"/>
            <a:ext cx="59055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1EFDF"/>
          </a:solidFill>
          <a:ln xmlns:a="http://schemas.openxmlformats.org/drawingml/2006/main" w="9525">
            <a:solidFill>
              <a:srgbClr val="256C43"/>
            </a:solidFill>
          </a:ln>
        </p:spPr>
        <p:txBody>
          <a:bodyPr xmlns:a="http://schemas.openxmlformats.org/drawingml/2006/main" lIns="133350" tIns="28575" rIns="228600" bIns="285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D459FD-CD0B-42FC-8A67-347E825E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410200"/>
            <a:ext cx="8572500" cy="5905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C8792-E064-4351-8D2F-B99F3095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4102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DF8DFC-20BF-4FDB-AEAC-6835B9AD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543550"/>
            <a:ext cx="8210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02A"/>
                </a:solidFill>
                <a:latin typeface="Arial"/>
                <a:ea typeface="Arial"/>
                <a:cs typeface="Arial"/>
              </a:rPr>
              <a:t>Final trustworthy output is either the legacy ExtractionOutcome or the versioned unified envelope with claims/evidence/provenance.</a:t>
            </a:r>
          </a:p>
        </p:txBody>
      </p:sp>
    </p:spTree>
    <p:extLst>
      <p:ext uri="{BB962C8B-B14F-4D97-AF65-F5344CB8AC3E}">
        <p14:creationId xmlns:p14="http://schemas.microsoft.com/office/powerpoint/2010/main" val="8763682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DF5001-832B-4B11-B048-8C577B10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9525">
            <a:solidFill>
              <a:srgbClr val="F6F7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EBB92-9546-4831-B9C2-A46AAE1B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02A"/>
                </a:solidFill>
                <a:latin typeface="Arial"/>
                <a:ea typeface="Arial"/>
                <a:cs typeface="Arial"/>
              </a:rPr>
              <a:t>Prompt, Model, and Rule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8394F6-B5E9-4B70-B4C7-27644DE9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Canonical extraction is rule/parser based; LLM use is downstream semantic augmentation.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A656EC-1EF0-418D-839B-86359B9D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8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20EDE-3A64-4659-A778-9E449D7E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Current schema extraction pipeline | 10/16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BB1CD-8FA7-4865-803C-4CC65ABD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3295650" cy="22479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1EFDF"/>
          </a:solidFill>
          <a:ln xmlns:a="http://schemas.openxmlformats.org/drawingml/2006/main" w="9525">
            <a:solidFill>
              <a:srgbClr val="256C4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F49BC2-1B61-4790-AAEC-89F729D1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C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C43"/>
                </a:solidFill>
                <a:latin typeface="Arial"/>
                <a:ea typeface="Arial"/>
                <a:cs typeface="Arial"/>
              </a:rPr>
              <a:t>Canonical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0FB5D2-64D9-4E6F-8F0A-6D68EE5A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29527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No prompt is used by extract_path(). Registered extractors use deterministic parsing, bounded sampling, metadata inspection, explicit aliases, and validators.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7A7A8B-5FB4-4695-AA4E-F9B7F94F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14500"/>
            <a:ext cx="3295650" cy="22479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7E7C8"/>
          </a:solidFill>
          <a:ln xmlns:a="http://schemas.openxmlformats.org/drawingml/2006/main" w="9525">
            <a:solidFill>
              <a:srgbClr val="A5631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A827B7-C644-41EC-926E-8472AEE0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478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563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56315"/>
                </a:solidFill>
                <a:latin typeface="Arial"/>
                <a:ea typeface="Arial"/>
                <a:cs typeface="Arial"/>
              </a:rPr>
              <a:t>Prompt Construction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E951D9-6163-4A94-A8EC-8E05912A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71700"/>
            <a:ext cx="29527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build_semantic_grounding.py writes task bundles.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semantic_layer.py::build_prompt_payload() includes SYSTEM_RULES, deterministic_schema, grounding snippets, and expected output schema.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413523-5462-455E-9A71-BF687711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14500"/>
            <a:ext cx="3295650" cy="22479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2EEF8"/>
          </a:solidFill>
          <a:ln xmlns:a="http://schemas.openxmlformats.org/drawingml/2006/main" w="9525">
            <a:solidFill>
              <a:srgbClr val="245B8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DBC190-0238-4DC3-9608-2DCB4CC5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478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B8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5B8F"/>
                </a:solidFill>
                <a:latin typeface="Arial"/>
                <a:ea typeface="Arial"/>
                <a:cs typeface="Arial"/>
              </a:rPr>
              <a:t>LLM Runner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23682F-9FDD-4F0C-AEC0-77B69027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71700"/>
            <a:ext cx="29527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semantic_annotate.py sends compact tasks to chat/completions with strict JSON instructions. It may annotate only listed targets and must cite available evidence IDs.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D168BF-20B6-4DB9-8664-C8A4BA5F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10077450" cy="838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231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9BBDC7-850A-4E22-9CB9-47DD02EF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B4231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56FC43-9046-41D5-9B90-13384993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19650"/>
            <a:ext cx="971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02A"/>
                </a:solidFill>
                <a:latin typeface="Arial"/>
                <a:ea typeface="Arial"/>
                <a:cs typeface="Arial"/>
              </a:rPr>
              <a:t>If the mechanism is missing: there is no cryptographic proof, formal proof system, or fully validating XML/XSD/JSON engine. The trust controls are deterministic routing, bounded parsers, validators, tests, issue states, and evidence/provenance records.</a:t>
            </a:r>
          </a:p>
        </p:txBody>
      </p:sp>
    </p:spTree>
    <p:extLst>
      <p:ext uri="{BB962C8B-B14F-4D97-AF65-F5344CB8AC3E}">
        <p14:creationId xmlns:p14="http://schemas.microsoft.com/office/powerpoint/2010/main" val="15951639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125030-6598-448F-A8DB-E2950CEA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9525">
            <a:solidFill>
              <a:srgbClr val="F6F7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655AF-4FF0-40F1-841F-8590E98E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02A"/>
                </a:solidFill>
                <a:latin typeface="Arial"/>
                <a:ea typeface="Arial"/>
                <a:cs typeface="Arial"/>
              </a:rPr>
              <a:t>Controlled Vocabulary and Schema Constraints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66827-E813-496C-9A9B-D48CAD25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The code constrains both outputs and how uncertainty is represented.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B3B4E-5B4A-42D6-B73F-F0033347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8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DBCCA-0F57-4140-8236-86697FD7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Current schema extraction pipeline | 11/16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AC65E-687B-4B0D-BA0A-3A1DA959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3238500" cy="1695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2EEF8"/>
          </a:solidFill>
          <a:ln xmlns:a="http://schemas.openxmlformats.org/drawingml/2006/main" w="9525">
            <a:solidFill>
              <a:srgbClr val="245B8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C5DC01-F2A2-4DAA-ACE8-66585111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2895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B8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5B8F"/>
                </a:solidFill>
                <a:latin typeface="Arial"/>
                <a:ea typeface="Arial"/>
                <a:cs typeface="Arial"/>
              </a:rPr>
              <a:t>Allowed Logical Types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465EF3-5902-4B9A-83A0-509C282B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2895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semantic_layer.py::ALLOWED_LOGICAL_TYPES: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identifier, time_axis, measurement, coordinate, label, attribute, relationship, unknown.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452D08-EC49-4E4B-8695-C30C06A4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76400"/>
            <a:ext cx="3238500" cy="1695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A15FFA-F676-49B5-A717-EEDFD415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09750"/>
            <a:ext cx="2895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Claim States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364AA6-90F5-496B-B90E-0AD8961D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33600"/>
            <a:ext cx="2895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unified_schema.py::CLAIM_STATES: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observed, declared, derived, supported, conflicted, unknown, unsupported, abstained.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0F9D22-A21E-482E-99B8-A73E8863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76400"/>
            <a:ext cx="3238500" cy="1695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1EFDF"/>
          </a:solidFill>
          <a:ln xmlns:a="http://schemas.openxmlformats.org/drawingml/2006/main" w="9525">
            <a:solidFill>
              <a:srgbClr val="256C4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770E1C-3CB0-45B9-9425-F5BC0EDE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2895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C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C43"/>
                </a:solidFill>
                <a:latin typeface="Arial"/>
                <a:ea typeface="Arial"/>
                <a:cs typeface="Arial"/>
              </a:rPr>
              <a:t>Extractor Capabilities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8FA35C-38C5-4C97-9C90-72993517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33600"/>
            <a:ext cx="2895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registry.py::EXTRACTOR_CAPABILITIES declares extractor_id, version, formats, suffixes, operations, determinism_class, evidence_types, resource_kinds.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EB5729-5A1E-4DCA-BEE9-CA42288F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3238500" cy="1314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7E7C8"/>
          </a:solidFill>
          <a:ln xmlns:a="http://schemas.openxmlformats.org/drawingml/2006/main" w="9525">
            <a:solidFill>
              <a:srgbClr val="A5631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D672FC-5382-40DA-86D3-F1CA2957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2895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563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56315"/>
                </a:solidFill>
                <a:latin typeface="Arial"/>
                <a:ea typeface="Arial"/>
                <a:cs typeface="Arial"/>
              </a:rPr>
              <a:t>Units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994638-74F1-40BD-A02E-ECBAF4FC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2895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UNIT_ALIASES maps supported units to canonical names and UCUM-like codes; unmapped units stay explicit rather than normalized falsely.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E562C6-472C-4461-BC1D-324EF5E1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05250"/>
            <a:ext cx="3238500" cy="1314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E8F5"/>
          </a:solidFill>
          <a:ln xmlns:a="http://schemas.openxmlformats.org/drawingml/2006/main" w="9525">
            <a:solidFill>
              <a:srgbClr val="5D4B8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338CAB-623E-4B59-A61F-556BC1F7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38600"/>
            <a:ext cx="2895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4B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D4B8C"/>
                </a:solidFill>
                <a:latin typeface="Arial"/>
                <a:ea typeface="Arial"/>
                <a:cs typeface="Arial"/>
              </a:rPr>
              <a:t>Evidence Tiers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346C27-528B-4568-A559-A7D31ECE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62450"/>
            <a:ext cx="2895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docs/target_schema.md: explicit_metadata &gt; structural &gt; statistical &gt; llm_inference. Lower-tier evidence may not silently overwrite stronger evidence.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8D24EE-7E86-49AE-AC3B-CC54AE75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05250"/>
            <a:ext cx="3238500" cy="1314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ADFDA"/>
          </a:solidFill>
          <a:ln xmlns:a="http://schemas.openxmlformats.org/drawingml/2006/main" w="9525">
            <a:solidFill>
              <a:srgbClr val="B4231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01E4FA-B189-4A68-B1F7-8D922909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38600"/>
            <a:ext cx="2895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Merge Policy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A2EFAE-E47F-4800-8E8C-ECD4F2C8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62450"/>
            <a:ext cx="2895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merge_annotation_result() rejects unsupported annotations and records logical/semantic/unit conflicts rather than hiding them.</a:t>
            </a:r>
          </a:p>
        </p:txBody>
      </p:sp>
    </p:spTree>
    <p:extLst>
      <p:ext uri="{BB962C8B-B14F-4D97-AF65-F5344CB8AC3E}">
        <p14:creationId xmlns:p14="http://schemas.microsoft.com/office/powerpoint/2010/main" val="7867884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B47A7C-4842-4F79-BBCF-619D5908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9525">
            <a:solidFill>
              <a:srgbClr val="F6F7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1E10D-6BB2-4B7D-A93F-0A6AC314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02A"/>
                </a:solidFill>
                <a:latin typeface="Arial"/>
                <a:ea typeface="Arial"/>
                <a:cs typeface="Arial"/>
              </a:rPr>
              <a:t>Validation and Consistency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09792-5AA4-405A-8F62-FE0C3201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Validation happens during intake, extraction, normalization, envelope projection, and regression tests.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4EF87-1669-4EB1-9E67-8AFEEA81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8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EC87E-E1F4-4CC6-AB0E-B6E495E6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Current schema extraction pipeline | 12/16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87F3B-420D-44FF-86C4-01D3D695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1809750" cy="628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2EEF8"/>
          </a:solidFill>
          <a:ln xmlns:a="http://schemas.openxmlformats.org/drawingml/2006/main" w="9525">
            <a:solidFill>
              <a:srgbClr val="245B8F"/>
            </a:solidFill>
          </a:ln>
        </p:spPr>
        <p:txBody>
          <a:bodyPr xmlns:a="http://schemas.openxmlformats.org/drawingml/2006/main" lIns="133350" tIns="28575" rIns="228600" bIns="28575" anchor="ctr">
            <a:normAutofit fontScale="85227"/>
          </a:bodyPr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245B8F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245B8F"/>
                </a:solidFill>
                <a:latin typeface="Arial"/>
                <a:ea typeface="Arial"/>
                <a:cs typeface="Arial"/>
              </a:rPr>
              <a:t>Input</a:t>
            </a:r>
          </a:p>
          <a:p xmlns:a="http://schemas.openxmlformats.org/drawingml/2006/main">
            <a:pPr algn="ctr">
              <a:defRPr sz="990" b="1">
                <a:solidFill>
                  <a:srgbClr val="245B8F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245B8F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511360-F08E-4516-A793-13154FA0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809750" cy="628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F1EC"/>
          </a:solidFill>
          <a:ln xmlns:a="http://schemas.openxmlformats.org/drawingml/2006/main" w="9525">
            <a:solidFill>
              <a:srgbClr val="0F766E"/>
            </a:solidFill>
          </a:ln>
        </p:spPr>
        <p:txBody>
          <a:bodyPr xmlns:a="http://schemas.openxmlformats.org/drawingml/2006/main" lIns="133350" tIns="28575" rIns="228600" bIns="28575" anchor="ctr">
            <a:normAutofit fontScale="85227"/>
          </a:bodyPr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Extractor</a:t>
            </a:r>
          </a:p>
          <a:p xmlns:a="http://schemas.openxmlformats.org/drawingml/2006/main">
            <a:pPr algn="ctr">
              <a:defRPr sz="99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00B24C-849F-4AC7-A301-4928E8EC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09750"/>
            <a:ext cx="1809750" cy="628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1EFDF"/>
          </a:solidFill>
          <a:ln xmlns:a="http://schemas.openxmlformats.org/drawingml/2006/main" w="9525">
            <a:solidFill>
              <a:srgbClr val="256C43"/>
            </a:solidFill>
          </a:ln>
        </p:spPr>
        <p:txBody>
          <a:bodyPr xmlns:a="http://schemas.openxmlformats.org/drawingml/2006/main" lIns="133350" tIns="28575" rIns="228600" bIns="28575" anchor="ctr">
            <a:normAutofit fontScale="85227"/>
          </a:bodyPr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256C43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256C43"/>
                </a:solidFill>
                <a:latin typeface="Arial"/>
                <a:ea typeface="Arial"/>
                <a:cs typeface="Arial"/>
              </a:rPr>
              <a:t>Normalizer</a:t>
            </a:r>
          </a:p>
          <a:p xmlns:a="http://schemas.openxmlformats.org/drawingml/2006/main">
            <a:pPr algn="ctr">
              <a:defRPr sz="990" b="1">
                <a:solidFill>
                  <a:srgbClr val="256C43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256C43"/>
                </a:solidFill>
                <a:latin typeface="Arial"/>
                <a:ea typeface="Arial"/>
                <a:cs typeface="Arial"/>
              </a:rPr>
              <a:t>claims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805099-12C7-4C95-8DCF-1A87580B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09750"/>
            <a:ext cx="1809750" cy="628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CE8F5"/>
          </a:solidFill>
          <a:ln xmlns:a="http://schemas.openxmlformats.org/drawingml/2006/main" w="9525">
            <a:solidFill>
              <a:srgbClr val="5D4B8C"/>
            </a:solidFill>
          </a:ln>
        </p:spPr>
        <p:txBody>
          <a:bodyPr xmlns:a="http://schemas.openxmlformats.org/drawingml/2006/main" lIns="133350" tIns="28575" rIns="228600" bIns="28575" anchor="ctr">
            <a:normAutofit fontScale="85227"/>
          </a:bodyPr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5D4B8C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5D4B8C"/>
                </a:solidFill>
                <a:latin typeface="Arial"/>
                <a:ea typeface="Arial"/>
                <a:cs typeface="Arial"/>
              </a:rPr>
              <a:t>Envelope</a:t>
            </a:r>
          </a:p>
          <a:p xmlns:a="http://schemas.openxmlformats.org/drawingml/2006/main">
            <a:pPr algn="ctr">
              <a:defRPr sz="990" b="1">
                <a:solidFill>
                  <a:srgbClr val="5D4B8C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5D4B8C"/>
                </a:solidFill>
                <a:latin typeface="Arial"/>
                <a:ea typeface="Arial"/>
                <a:cs typeface="Arial"/>
              </a:rPr>
              <a:t>audit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91A27C-D9CC-4BDF-AE87-D69CBA52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09750"/>
            <a:ext cx="1809750" cy="628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7E7C8"/>
          </a:solidFill>
          <a:ln xmlns:a="http://schemas.openxmlformats.org/drawingml/2006/main" w="9525">
            <a:solidFill>
              <a:srgbClr val="A56315"/>
            </a:solidFill>
          </a:ln>
        </p:spPr>
        <p:txBody>
          <a:bodyPr xmlns:a="http://schemas.openxmlformats.org/drawingml/2006/main" lIns="133350" tIns="28575" rIns="228600" bIns="28575" anchor="ctr">
            <a:normAutofit fontScale="85227"/>
          </a:bodyPr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A56315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A56315"/>
                </a:solidFill>
                <a:latin typeface="Arial"/>
                <a:ea typeface="Arial"/>
                <a:cs typeface="Arial"/>
              </a:rPr>
              <a:t>Tests +</a:t>
            </a:r>
          </a:p>
          <a:p xmlns:a="http://schemas.openxmlformats.org/drawingml/2006/main">
            <a:pPr algn="ctr">
              <a:defRPr sz="990" b="1">
                <a:solidFill>
                  <a:srgbClr val="A56315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A56315"/>
                </a:solidFill>
                <a:latin typeface="Arial"/>
                <a:ea typeface="Arial"/>
                <a:cs typeface="Arial"/>
              </a:rPr>
              <a:t>reports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73B08B-0A33-419C-8CD4-24EC4E1A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43250"/>
            <a:ext cx="8763000" cy="13525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94074B-D372-4A35-B3EF-31CE86D7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Loop behavior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B01415-B3D3-4062-AB5E-B7463B53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76650"/>
            <a:ext cx="819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8213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Any stage can return success, partial, abstained, or failed. Issues are carried forward instead of being collapsed into a single opaque score.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3A9121-7854-4154-ABB7-8198FFB3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95750"/>
            <a:ext cx="819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8477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Examples: dependency_unavailable, parser_error, partial_extraction, sampling_insufficient, declared_observed_type_conflict, unsupported_zarr_version.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7D3D52-0D03-4117-B697-AF8AF67D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24450"/>
            <a:ext cx="2952750" cy="742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B8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93ECC-2F72-4423-89A2-03706279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5780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B8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5B8F"/>
                </a:solidFill>
                <a:latin typeface="Arial"/>
                <a:ea typeface="Arial"/>
                <a:cs typeface="Arial"/>
              </a:rPr>
              <a:t>Registry Tests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28D34D-D8A3-4969-AE74-98C2E341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81650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3897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tests/test_extractor_registry.py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D40234-B7B3-4B06-8618-5D84E520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24450"/>
            <a:ext cx="2952750" cy="742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D4B8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AD8B68-014F-405E-996B-8D71A26B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25780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4B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D4B8C"/>
                </a:solidFill>
                <a:latin typeface="Arial"/>
                <a:ea typeface="Arial"/>
                <a:cs typeface="Arial"/>
              </a:rPr>
              <a:t>Envelope Tests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DC054B-9D70-47B5-817C-62C123AF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581650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3897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tests/test_unified_schema.py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CE0206-CA0E-4774-85F4-2D6D2BEF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24450"/>
            <a:ext cx="2952750" cy="742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C4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C3E4C3-164D-44E1-BEB2-9CEB27C9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5780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C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C43"/>
                </a:solidFill>
                <a:latin typeface="Arial"/>
                <a:ea typeface="Arial"/>
                <a:cs typeface="Arial"/>
              </a:rPr>
              <a:t>Semantic/PROV Tests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B76D40-823B-418C-B2D6-CA57A93B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81650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65116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test_semantic_annotate_payload.py; test_provenance_manifest.py</a:t>
            </a:r>
          </a:p>
        </p:txBody>
      </p:sp>
    </p:spTree>
    <p:extLst>
      <p:ext uri="{BB962C8B-B14F-4D97-AF65-F5344CB8AC3E}">
        <p14:creationId xmlns:p14="http://schemas.microsoft.com/office/powerpoint/2010/main" val="6112354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4E09B2-F04C-4CE9-81FE-2804AC60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9525">
            <a:solidFill>
              <a:srgbClr val="F6F7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26415-6A0B-4DA0-ACBC-967D1C6C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02A"/>
                </a:solidFill>
                <a:latin typeface="Arial"/>
                <a:ea typeface="Arial"/>
                <a:cs typeface="Arial"/>
              </a:rPr>
              <a:t>Provenance, Traceability, and Auditability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84425-C6CB-4952-8A58-F87CFC9E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Every supported claim is expected to point back to concrete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A5DA7-CFFA-4AD5-B9C5-187223BA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8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D039B-3984-4EF4-9BDF-07656B95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Current schema extraction pipeline | 13/16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6FAD9-3E5F-4654-90D7-B5095CB0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3276600" cy="2266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B32EB-D603-45FE-9CD8-7F8812D4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Field-Level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42E629-975D-45EE-9E99-10073EB3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29337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Each FieldSchema has source_evidence: EvidenceRecord(tier, evidence_type, source, detail, confidence).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Examples: csv_header, sample_rows, hdf5_attribute, netcdf_variable, zarr_array_metadata.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B6E01A-E251-4791-8AC4-6935CDB7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95450"/>
            <a:ext cx="3276600" cy="2266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2EEF8"/>
          </a:solidFill>
          <a:ln xmlns:a="http://schemas.openxmlformats.org/drawingml/2006/main" w="9525">
            <a:solidFill>
              <a:srgbClr val="245B8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00DDCA-741F-46EF-838B-99B21346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2880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B8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5B8F"/>
                </a:solidFill>
                <a:latin typeface="Arial"/>
                <a:ea typeface="Arial"/>
                <a:cs typeface="Arial"/>
              </a:rPr>
              <a:t>Unified Claim 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761739-FE91-4786-9099-F95BD0FB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52650"/>
            <a:ext cx="29337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build_unified_schema_envelope() deduplicates evidence into e0001... and emits c0001... claims with evidence_refs.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Conflicts and abstentions are projected separately.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D5FD2-6826-4B4F-AF48-B7B48FBA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95450"/>
            <a:ext cx="3276600" cy="2266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1EFDF"/>
          </a:solidFill>
          <a:ln xmlns:a="http://schemas.openxmlformats.org/drawingml/2006/main" w="9525">
            <a:solidFill>
              <a:srgbClr val="256C4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7307B9-A1E9-40D2-979C-D8015573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2880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C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C43"/>
                </a:solidFill>
                <a:latin typeface="Arial"/>
                <a:ea typeface="Arial"/>
                <a:cs typeface="Arial"/>
              </a:rPr>
              <a:t>PROV-Like Manifest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E25A77-F571-4F08-AC2B-120BBAC8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52650"/>
            <a:ext cx="29337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build_provenance_manifest.py creates lightweight_prov_v1 over source files, derived schemas, fields, evidence, semantic annotations, merges, reports, agents, activities, relations.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EF2DBA-7F11-428C-8D6E-88C4A12A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38700"/>
            <a:ext cx="9601200" cy="7048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5631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95675F-3E04-4CBC-B5F1-E932AB95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387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6315"/>
          </a:solidFill>
          <a:ln xmlns:a="http://schemas.openxmlformats.org/drawingml/2006/main" w="9525">
            <a:solidFill>
              <a:srgbClr val="A5631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254422-E7A8-44FE-BD98-B77C88B1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72050"/>
            <a:ext cx="923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02A"/>
                </a:solidFill>
                <a:latin typeface="Arial"/>
                <a:ea typeface="Arial"/>
                <a:cs typeface="Arial"/>
              </a:rPr>
              <a:t>Content trust comes from traceability and bounded claim policy, not from a single confidence number. Confidence fields exist, but issue states and evidence links are the stronger control mechanism.</a:t>
            </a:r>
          </a:p>
        </p:txBody>
      </p:sp>
    </p:spTree>
    <p:extLst>
      <p:ext uri="{BB962C8B-B14F-4D97-AF65-F5344CB8AC3E}">
        <p14:creationId xmlns:p14="http://schemas.microsoft.com/office/powerpoint/2010/main" val="5050624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6A42CB-14CA-4C1D-99E0-B02D20C5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9525">
            <a:solidFill>
              <a:srgbClr val="F6F7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E2294-5D4A-4AEB-9134-363BA30B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02A"/>
                </a:solidFill>
                <a:latin typeface="Arial"/>
                <a:ea typeface="Arial"/>
                <a:cs typeface="Arial"/>
              </a:rPr>
              <a:t>Final Schema Output Format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C6952-5E96-4159-9E7B-CF2A1BBC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The final output can be consumed as legacy JSON, envelope JSON, or both.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51AA3-5B06-4361-95DD-A6215597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8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AB572-5F7E-48F7-A146-A262FD9D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Current schema extraction pipeline | 14/16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A1EE8-9DED-4703-BD20-9619D746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3429000" cy="25336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2EEF8"/>
          </a:solidFill>
          <a:ln xmlns:a="http://schemas.openxmlformats.org/drawingml/2006/main" w="9525">
            <a:solidFill>
              <a:srgbClr val="245B8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E65638-53CD-49F0-ADAC-70E08ADB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B8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5B8F"/>
                </a:solidFill>
                <a:latin typeface="Arial"/>
                <a:ea typeface="Arial"/>
                <a:cs typeface="Arial"/>
              </a:rPr>
              <a:t>Legacy ExtractionOutcome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D47890-ADA4-4FBA-962C-857108F9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3086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status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format_decision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extractor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schema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issues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schema contains DatasetSchema fields, groups, metadata, notes.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48CF22-54CE-4C4E-AB40-96D738FB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76400"/>
            <a:ext cx="3429000" cy="25336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3CB8B3-EA49-41BC-9776-6F7B5EE9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0975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Unified Envelope v1.0.0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B5025-C374-4592-920C-1F1E7A54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33600"/>
            <a:ext cx="3086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identity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format_detection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extractor_capability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outcome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physical_structure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logical_roles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semantic_hints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units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temporal_semantics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claims/evidence/provenance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0AC4A2-49D8-4141-B30A-DF080D7E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3429000" cy="25336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1EFDF"/>
          </a:solidFill>
          <a:ln xmlns:a="http://schemas.openxmlformats.org/drawingml/2006/main" w="9525">
            <a:solidFill>
              <a:srgbClr val="256C4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FE9534-F01F-450B-A6C0-3534BFCA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0975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C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C43"/>
                </a:solidFill>
                <a:latin typeface="Arial"/>
                <a:ea typeface="Arial"/>
                <a:cs typeface="Arial"/>
              </a:rPr>
              <a:t>Agent Bundle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C56D03-AD36-41C2-ACDF-B844B776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33600"/>
            <a:ext cx="3086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agent_export_version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policy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schema_summary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claim_records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evidence_records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provenance_graph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retrieval_context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requestable_actions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957841-206D-4B43-A556-FAC14AE8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196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202A"/>
                </a:solidFill>
                <a:latin typeface="Arial"/>
                <a:ea typeface="Arial"/>
                <a:cs typeface="Arial"/>
              </a:rPr>
              <a:t>CLI examples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EF09E8-59D5-4B41-BBFF-963B8B4E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24450"/>
            <a:ext cx="97917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3EC2A0-F5B5-4833-BBA4-AD837A9A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86375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 -m high_fidelity_schema_study.cli extract --input path/to/file --output-shape both</a:t>
            </a:r>
          </a:p>
        </p:txBody>
      </p:sp>
    </p:spTree>
    <p:extLst>
      <p:ext uri="{BB962C8B-B14F-4D97-AF65-F5344CB8AC3E}">
        <p14:creationId xmlns:p14="http://schemas.microsoft.com/office/powerpoint/2010/main" val="1009194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63B72D-6DA3-4C43-9D6A-BFA469BB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9525">
            <a:solidFill>
              <a:srgbClr val="F6F7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B1888-C50D-4899-A5A6-D7A0CC24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02A"/>
                </a:solidFill>
                <a:latin typeface="Arial"/>
                <a:ea typeface="Arial"/>
                <a:cs typeface="Arial"/>
              </a:rPr>
              <a:t>Error Handling, Failure Cases, and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C5FA58-102D-4209-AD76-CF793FC5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The code surfaces limits instead of pretending they are solved.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91FB3-4A98-498A-879E-6DC14637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8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1847C6-BB8B-4278-A17D-2E99B09E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Current schema extraction pipeline | 15/16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4FB5E-D25C-4170-937C-8F606544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2667000" cy="1619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ADFDA"/>
          </a:solidFill>
          <a:ln xmlns:a="http://schemas.openxmlformats.org/drawingml/2006/main" w="9525">
            <a:solidFill>
              <a:srgbClr val="B4231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FBA88-35E7-4E1C-B95D-726B3B6E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7165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Abstentions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9AB06-124F-4EB6-B04A-EA29A061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324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Unknown binary, conflicted strong signals, unregistered formats, Zarr v3, missing Zarr metadata, over-limit JSON/XML can abstain.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8C0A4-89E7-4835-AD08-3F9123B5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38300"/>
            <a:ext cx="2667000" cy="1619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7E7C8"/>
          </a:solidFill>
          <a:ln xmlns:a="http://schemas.openxmlformats.org/drawingml/2006/main" w="9525">
            <a:solidFill>
              <a:srgbClr val="A5631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729D5A-FA70-4150-8B5C-BAC282AE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77165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563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56315"/>
                </a:solidFill>
                <a:latin typeface="Arial"/>
                <a:ea typeface="Arial"/>
                <a:cs typeface="Arial"/>
              </a:rPr>
              <a:t>Partial / Failed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78DA6A-17F9-4903-B11C-28B3000D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95500"/>
            <a:ext cx="2324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Recoverable extraction_errors become partial outcomes. Parser errors and missing dependencies become structured failed outcomes.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8C9179-727D-4DFF-BE2A-0BD186EE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38300"/>
            <a:ext cx="2667000" cy="1619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2EEF8"/>
          </a:solidFill>
          <a:ln xmlns:a="http://schemas.openxmlformats.org/drawingml/2006/main" w="9525">
            <a:solidFill>
              <a:srgbClr val="245B8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80C8C9-2DFC-4FAF-A0D6-48CCED8B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7165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B8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5B8F"/>
                </a:solidFill>
                <a:latin typeface="Arial"/>
                <a:ea typeface="Arial"/>
                <a:cs typeface="Arial"/>
              </a:rPr>
              <a:t>Bounded Samples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23F46B-DCB9-42D9-A76F-B9571437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95500"/>
            <a:ext cx="2324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CSV/JSON/XML profiles are bounded by sample_limit; sample-derived properties are not universal proofs.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F27281-8412-40C4-A21B-31DFEF65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38300"/>
            <a:ext cx="2667000" cy="1619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100AD2-ACA4-437D-B927-A6E68635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7165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Metadata Only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CB2259-A119-4BFB-8D2B-409AED3A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95500"/>
            <a:ext cx="2324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Parquet rows and Zarr chunks are not read; footer stats and metadata are not independently validated against payload values.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555CCB-696E-47E4-82E7-49F923A0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2667000" cy="13906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E8F5"/>
          </a:solidFill>
          <a:ln xmlns:a="http://schemas.openxmlformats.org/drawingml/2006/main" w="9525">
            <a:solidFill>
              <a:srgbClr val="5D4B8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1F9066-C1BF-4587-AE9D-22F0CCAA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4B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D4B8C"/>
                </a:solidFill>
                <a:latin typeface="Arial"/>
                <a:ea typeface="Arial"/>
                <a:cs typeface="Arial"/>
              </a:rPr>
              <a:t>Format Scope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53D077-DC3A-48E4-BE8C-34D126AC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2324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NetCDF4 path is conservative; XML/XSD is lightweight; JSON Schema handling is not a full validator.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E90826-8AF2-43FF-A054-0920D6E1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90950"/>
            <a:ext cx="2667000" cy="13906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1EFDF"/>
          </a:solidFill>
          <a:ln xmlns:a="http://schemas.openxmlformats.org/drawingml/2006/main" w="9525">
            <a:solidFill>
              <a:srgbClr val="256C4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54B786-487C-47F7-BE3B-0189DCE2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243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C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C43"/>
                </a:solidFill>
                <a:latin typeface="Arial"/>
                <a:ea typeface="Arial"/>
                <a:cs typeface="Arial"/>
              </a:rPr>
              <a:t>LLM Scope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E22552-5438-40C6-9555-559CA854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48150"/>
            <a:ext cx="2324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LLM annotations are downstream and may fail, conflict, or remain unknown. They do not create physical fields.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104ED7-A42A-44FE-AF18-DFBE16A7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90950"/>
            <a:ext cx="2667000" cy="13906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5631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BE7559-FC93-4141-82F4-2728CD01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243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563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56315"/>
                </a:solidFill>
                <a:latin typeface="Arial"/>
                <a:ea typeface="Arial"/>
                <a:cs typeface="Arial"/>
              </a:rPr>
              <a:t>Evaluation Scope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76F78A-3714-4CE0-B211-6BB51425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48150"/>
            <a:ext cx="2324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Challenge packs show declared-case behavior, not broad ecosystem robustness.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36B568-200C-43F6-B35B-AEE986D1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90950"/>
            <a:ext cx="2667000" cy="13906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231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B24258-BAE2-494C-916C-87A7F6F0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9243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Missing Controls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A46A91-3491-422A-A573-258BDF63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48150"/>
            <a:ext cx="2324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No cryptographic signing, no formal proof checker, no full external schema/entity loading, no automatic broad compatibility guarantee.</a:t>
            </a:r>
          </a:p>
        </p:txBody>
      </p:sp>
    </p:spTree>
    <p:extLst>
      <p:ext uri="{BB962C8B-B14F-4D97-AF65-F5344CB8AC3E}">
        <p14:creationId xmlns:p14="http://schemas.microsoft.com/office/powerpoint/2010/main" val="18348059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FB2AFD-1835-4A91-BDC5-D1A17D3D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9525">
            <a:solidFill>
              <a:srgbClr val="F6F7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32EB0-FD16-4835-B3BA-3C3D92D3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02A"/>
                </a:solidFill>
                <a:latin typeface="Arial"/>
                <a:ea typeface="Arial"/>
                <a:cs typeface="Arial"/>
              </a:rPr>
              <a:t>Recommended Next Improvements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C7E41-52AC-4448-B861-88B3552E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Strengthen coverage and trust without weakening the deterministic-first contract.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3BBA97-B4B9-4DFC-ADA1-806A414B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8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1BA7C2-F679-4281-98EE-718EDF74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B7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B75"/>
                </a:solidFill>
                <a:latin typeface="Arial"/>
                <a:ea typeface="Arial"/>
                <a:cs typeface="Arial"/>
              </a:rPr>
              <a:t>Current schema extraction pipeline | 16/16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54CCC6-9071-404A-A4C6-34CE2A35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3276600" cy="1695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2EEF8"/>
          </a:solidFill>
          <a:ln xmlns:a="http://schemas.openxmlformats.org/drawingml/2006/main" w="9525">
            <a:solidFill>
              <a:srgbClr val="245B8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B4FD71-DA87-437E-8278-214D4E56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B8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5B8F"/>
                </a:solidFill>
                <a:latin typeface="Arial"/>
                <a:ea typeface="Arial"/>
                <a:cs typeface="Arial"/>
              </a:rPr>
              <a:t>Broader Compatibility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2CC96-298D-42E8-A1A4-ADC1C11F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2933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Expand external/multi-producer validation for Parquet, JSON, XML, NetCDF/CF, and Zarr, with each corpus kept separate from frozen benchmark claims.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385638-0873-4714-AD4F-09A1773F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76400"/>
            <a:ext cx="3276600" cy="1695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593C8B-B0DE-4FD2-A7E5-D227CD2E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0975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Stronger Validators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82F871-5C09-41C2-BBAA-CD6BFBDB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33600"/>
            <a:ext cx="2933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Add fuller JSON Schema and XML/XSD validation modes behind explicit capability flags; keep observed vs declared claims separate.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7E7DC-D4E4-4689-BBF0-B345BA91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76400"/>
            <a:ext cx="3276600" cy="1695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1EFDF"/>
          </a:solidFill>
          <a:ln xmlns:a="http://schemas.openxmlformats.org/drawingml/2006/main" w="9525">
            <a:solidFill>
              <a:srgbClr val="256C4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D97B1D-5769-4BE9-9135-C84FB64E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0975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C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C43"/>
                </a:solidFill>
                <a:latin typeface="Arial"/>
                <a:ea typeface="Arial"/>
                <a:cs typeface="Arial"/>
              </a:rPr>
              <a:t>Payload Verification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C6DF5B-99C5-483B-885F-BB2BB1A2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33600"/>
            <a:ext cx="2933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Optionally validate Parquet footer statistics and Zarr chunk-derived properties with bounded payload reads and explicit cost controls.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49BE32-E75D-44D6-8672-D373AAC6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3276600" cy="1314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E8F5"/>
          </a:solidFill>
          <a:ln xmlns:a="http://schemas.openxmlformats.org/drawingml/2006/main" w="9525">
            <a:solidFill>
              <a:srgbClr val="5D4B8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1903E4-9C88-4CCD-9AFC-81519D44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4B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D4B8C"/>
                </a:solidFill>
                <a:latin typeface="Arial"/>
                <a:ea typeface="Arial"/>
                <a:cs typeface="Arial"/>
              </a:rPr>
              <a:t>Provenance Hardening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8719C8-91B3-4A2E-A756-295811E0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2933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Add artifact hashes, run manifests, version pins, and optional signing for generated schemas and envelopes.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585620-D387-48B1-AFE5-C27E32B8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05250"/>
            <a:ext cx="3276600" cy="1314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7E7C8"/>
          </a:solidFill>
          <a:ln xmlns:a="http://schemas.openxmlformats.org/drawingml/2006/main" w="9525">
            <a:solidFill>
              <a:srgbClr val="A5631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AECCF3-73CC-4925-8B32-FAD7BC53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3860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563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56315"/>
                </a:solidFill>
                <a:latin typeface="Arial"/>
                <a:ea typeface="Arial"/>
                <a:cs typeface="Arial"/>
              </a:rPr>
              <a:t>LLM Governance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7409D3-DBAB-45FD-A717-E24E2B8D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62450"/>
            <a:ext cx="2933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Keep LLM augmentation noncanonical by default; improve evidence IDs, prompt regression tests, and conflict dashboards.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277D59-EC71-4234-8964-E345A205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05250"/>
            <a:ext cx="3276600" cy="1314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ADFDA"/>
          </a:solidFill>
          <a:ln xmlns:a="http://schemas.openxmlformats.org/drawingml/2006/main" w="9525">
            <a:solidFill>
              <a:srgbClr val="B4231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C8FB68-1A13-4DA9-B046-CC879F95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3860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User-Facing QA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C63472-F7AB-43F5-A9E0-3FC9188C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62450"/>
            <a:ext cx="2933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Expose issue codes, sample limits, abstention reasons, and evidence drill-down more clearly in CLI and GUI outputs.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CC146E-2264-4FDC-AF82-CC8FE32C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34050"/>
            <a:ext cx="8763000" cy="476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6AEFE4-6AB6-444F-B7A0-C759D8D3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340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D0D13D-3CD2-49F0-AF40-6DA7405D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867400"/>
            <a:ext cx="840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02A"/>
                </a:solidFill>
                <a:latin typeface="Arial"/>
                <a:ea typeface="Arial"/>
                <a:cs typeface="Arial"/>
              </a:rPr>
              <a:t>Do not relax the central rule: unsupported evidence should remain unknown, conflicted, partial, failed, or abstained.</a:t>
            </a:r>
          </a:p>
        </p:txBody>
      </p:sp>
    </p:spTree>
    <p:extLst>
      <p:ext uri="{BB962C8B-B14F-4D97-AF65-F5344CB8AC3E}">
        <p14:creationId xmlns:p14="http://schemas.microsoft.com/office/powerpoint/2010/main" val="7220206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2026-06-28T20:24:10.1210000Z</dcterms:created>
  <dcterms:modified xsi:type="dcterms:W3CDTF">2026-06-28T20:24:10.1210000Z</dcterms:modified>
</coreProperties>
</file>