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5a83309db94f88" /><Relationship Type="http://schemas.openxmlformats.org/officeDocument/2006/relationships/extended-properties" Target="/docProps/app.xml" Id="R65529241da6a46bc" /><Relationship Type="http://schemas.openxmlformats.org/officeDocument/2006/relationships/officeDocument" Target="/ppt/presentation.xml" Id="Rb62f2e7e7bdb43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6238fac0ba4b25"/>
  </p:sldMasterIdLst>
  <p:notesMasterIdLst>
    <p:notesMasterId xmlns:r="http://schemas.openxmlformats.org/officeDocument/2006/relationships" r:id="Rf0894a91c56f4d34"/>
  </p:notesMasterIdLst>
  <p:sldIdLst>
    <p:sldId xmlns:r="http://schemas.openxmlformats.org/officeDocument/2006/relationships" id="256" r:id="Ra37c36c7d44448ba"/>
    <p:sldId xmlns:r="http://schemas.openxmlformats.org/officeDocument/2006/relationships" id="257" r:id="R89ffbc3f96144ef2"/>
    <p:sldId xmlns:r="http://schemas.openxmlformats.org/officeDocument/2006/relationships" id="258" r:id="R4b99d6384723406f"/>
    <p:sldId xmlns:r="http://schemas.openxmlformats.org/officeDocument/2006/relationships" id="259" r:id="R69b4766bff0b42df"/>
    <p:sldId xmlns:r="http://schemas.openxmlformats.org/officeDocument/2006/relationships" id="260" r:id="Rc902284e1aad489c"/>
    <p:sldId xmlns:r="http://schemas.openxmlformats.org/officeDocument/2006/relationships" id="261" r:id="Rb09621bd9f774ab8"/>
    <p:sldId xmlns:r="http://schemas.openxmlformats.org/officeDocument/2006/relationships" id="262" r:id="R0e2f9576986e4eb4"/>
    <p:sldId xmlns:r="http://schemas.openxmlformats.org/officeDocument/2006/relationships" id="263" r:id="Rf0e883646c0f4d6f"/>
    <p:sldId xmlns:r="http://schemas.openxmlformats.org/officeDocument/2006/relationships" id="264" r:id="Rf265b845bfe645a6"/>
    <p:sldId xmlns:r="http://schemas.openxmlformats.org/officeDocument/2006/relationships" id="265" r:id="R886af9a4fb2041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bb751a3f654dba" /><Relationship Type="http://schemas.openxmlformats.org/officeDocument/2006/relationships/slideMaster" Target="/ppt/slideMasters/slideMaster1.xml" Id="Rdf6238fac0ba4b25" /><Relationship Type="http://schemas.openxmlformats.org/officeDocument/2006/relationships/notesMaster" Target="/ppt/notesMasters/notesMaster1.xml" Id="Rf0894a91c56f4d34" /><Relationship Type="http://schemas.openxmlformats.org/officeDocument/2006/relationships/presProps" Target="/ppt/presProps.xml" Id="R51346cbf45024cd4" /><Relationship Type="http://schemas.openxmlformats.org/officeDocument/2006/relationships/tableStyles" Target="/ppt/tableStyles.xml" Id="Rd5e9b293c7cc4838" /><Relationship Type="http://schemas.openxmlformats.org/officeDocument/2006/relationships/slide" Target="/ppt/slides/slide1.xml" Id="Ra37c36c7d44448ba" /><Relationship Type="http://schemas.openxmlformats.org/officeDocument/2006/relationships/slide" Target="/ppt/slides/slide2.xml" Id="R89ffbc3f96144ef2" /><Relationship Type="http://schemas.openxmlformats.org/officeDocument/2006/relationships/slide" Target="/ppt/slides/slide3.xml" Id="R4b99d6384723406f" /><Relationship Type="http://schemas.openxmlformats.org/officeDocument/2006/relationships/slide" Target="/ppt/slides/slide4.xml" Id="R69b4766bff0b42df" /><Relationship Type="http://schemas.openxmlformats.org/officeDocument/2006/relationships/slide" Target="/ppt/slides/slide5.xml" Id="Rc902284e1aad489c" /><Relationship Type="http://schemas.openxmlformats.org/officeDocument/2006/relationships/slide" Target="/ppt/slides/slide6.xml" Id="Rb09621bd9f774ab8" /><Relationship Type="http://schemas.openxmlformats.org/officeDocument/2006/relationships/slide" Target="/ppt/slides/slide7.xml" Id="R0e2f9576986e4eb4" /><Relationship Type="http://schemas.openxmlformats.org/officeDocument/2006/relationships/slide" Target="/ppt/slides/slide8.xml" Id="Rf0e883646c0f4d6f" /><Relationship Type="http://schemas.openxmlformats.org/officeDocument/2006/relationships/slide" Target="/ppt/slides/slide9.xml" Id="Rf265b845bfe645a6" /><Relationship Type="http://schemas.openxmlformats.org/officeDocument/2006/relationships/slide" Target="/ppt/slides/slide10.xml" Id="R886af9a4fb204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8f2295252346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72265b1c9641c4" /><Relationship Type="http://schemas.openxmlformats.org/officeDocument/2006/relationships/notesMaster" Target="/ppt/notesMasters/notesMaster1.xml" Id="R9fbd2678f8ad47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c9ca275903466d" /><Relationship Type="http://schemas.openxmlformats.org/officeDocument/2006/relationships/notesMaster" Target="/ppt/notesMasters/notesMaster1.xml" Id="Rc18a0897f9ff47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d90ec5ba594256" /><Relationship Type="http://schemas.openxmlformats.org/officeDocument/2006/relationships/notesMaster" Target="/ppt/notesMasters/notesMaster1.xml" Id="R878a3f7c70014b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7610ae09ff4d95" /><Relationship Type="http://schemas.openxmlformats.org/officeDocument/2006/relationships/notesMaster" Target="/ppt/notesMasters/notesMaster1.xml" Id="Rd88deabc983449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977e87225f4268" /><Relationship Type="http://schemas.openxmlformats.org/officeDocument/2006/relationships/notesMaster" Target="/ppt/notesMasters/notesMaster1.xml" Id="Rb1ecb270320243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fa462722664023" /><Relationship Type="http://schemas.openxmlformats.org/officeDocument/2006/relationships/notesMaster" Target="/ppt/notesMasters/notesMaster1.xml" Id="R0a326260412c4f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292b4657c74bd2" /><Relationship Type="http://schemas.openxmlformats.org/officeDocument/2006/relationships/notesMaster" Target="/ppt/notesMasters/notesMaster1.xml" Id="R81076439ae1a49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2ae1202e4f4621" /><Relationship Type="http://schemas.openxmlformats.org/officeDocument/2006/relationships/notesMaster" Target="/ppt/notesMasters/notesMaster1.xml" Id="R727a612343e248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2f07e5df2349fe" /><Relationship Type="http://schemas.openxmlformats.org/officeDocument/2006/relationships/notesMaster" Target="/ppt/notesMasters/notesMaster1.xml" Id="R0478c447a40f4d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86ecf947c84a4e" /><Relationship Type="http://schemas.openxmlformats.org/officeDocument/2006/relationships/notesMaster" Target="/ppt/notesMasters/notesMaster1.xml" Id="Rc3528ed96c124b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outline study phases. Explain Purpose and Implementation method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583b01e8043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5653bf68ff4ee4" /><Relationship Type="http://schemas.openxmlformats.org/officeDocument/2006/relationships/slideLayout" Target="/ppt/slideLayouts/slideLayout1.xml" Id="R73118c8bec1c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118c8bec1c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2228080514788" /><Relationship Type="http://schemas.openxmlformats.org/officeDocument/2006/relationships/notesSlide" Target="/ppt/notesSlides/notesSlide1.xml" Id="Rbe214c71dad44f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9896a21f2407a" /><Relationship Type="http://schemas.openxmlformats.org/officeDocument/2006/relationships/notesSlide" Target="/ppt/notesSlides/notesSlide2.xml" Id="R16e3e2d019024b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f7657d0064c44" /><Relationship Type="http://schemas.openxmlformats.org/officeDocument/2006/relationships/notesSlide" Target="/ppt/notesSlides/notesSlide3.xml" Id="Rfd909b4aaf3140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864f92cdf4b05" /><Relationship Type="http://schemas.openxmlformats.org/officeDocument/2006/relationships/notesSlide" Target="/ppt/notesSlides/notesSlide4.xml" Id="R2e425bed366646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fd0a4d48c4af6" /><Relationship Type="http://schemas.openxmlformats.org/officeDocument/2006/relationships/notesSlide" Target="/ppt/notesSlides/notesSlide5.xml" Id="R59a2cc27fa08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ed983f1a54f04" /><Relationship Type="http://schemas.openxmlformats.org/officeDocument/2006/relationships/notesSlide" Target="/ppt/notesSlides/notesSlide6.xml" Id="R77644a3c76b741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d07261a304d6d" /><Relationship Type="http://schemas.openxmlformats.org/officeDocument/2006/relationships/notesSlide" Target="/ppt/notesSlides/notesSlide7.xml" Id="R64a90d0632a94f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0803ff60148f9" /><Relationship Type="http://schemas.openxmlformats.org/officeDocument/2006/relationships/notesSlide" Target="/ppt/notesSlides/notesSlide8.xml" Id="Ra0b7d15e035b42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d103ae63b4ee4" /><Relationship Type="http://schemas.openxmlformats.org/officeDocument/2006/relationships/notesSlide" Target="/ppt/notesSlides/notesSlide9.xml" Id="R71e9e382553b48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3182ffe1946d7" /><Relationship Type="http://schemas.openxmlformats.org/officeDocument/2006/relationships/notesSlide" Target="/ppt/notesSlides/notesSlide10.xml" Id="R9431dba9369b45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36F81B-4C7C-4C45-B965-09F1DD79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AF73F-AC60-416E-8B06-069AED2E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47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High-Fidelity Schema Extraction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24BF6-699E-4CC0-BA5B-00E65A18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A Detailed Overview of Study Phases 1-20: Purpose &amp;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5FD01-3139-4664-B633-6346B65C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Establishing a deterministic-first, evidence-grounded substrate for scientific datasets.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12212-0CB3-4C6A-950E-467B6575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Phases 1-11: Frozen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1989C-5156-4E42-A8B3-4A2389B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Phases 12-20: Extensions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2581C-89DA-435E-80A4-932EBF75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1/10</a:t>
            </a:r>
          </a:p>
        </p:txBody>
      </p:sp>
    </p:spTree>
    <p:extLst>
      <p:ext uri="{BB962C8B-B14F-4D97-AF65-F5344CB8AC3E}">
        <p14:creationId xmlns:p14="http://schemas.microsoft.com/office/powerpoint/2010/main" val="1302545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A7498-E762-4273-AF1F-56F8289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AAF81-79F3-4C58-BBEB-B746D0B7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Foundation &amp; Pilot Setup (Phases 1-3)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65839-13E9-4936-A805-64776087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Establishing the repository workspace, pilot files, and human-verified schemas.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117CF-E22F-4A39-91CB-22935EE6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5A911-2547-41D4-93D1-7CA1CA94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BD56B-7AFF-44F0-A015-516AB2F8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 1: Repository Scaffolding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AB5D8-C133-4297-A823-5EC2FD8F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086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Bootstrap codebase, models, CLI, and automated builders.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Created package files, models.py (field claims, evidence, requests), and cli.py.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Setup scripts for pilot and derived schema compilation.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445EA-F188-47BB-9309-11B1C8CA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2619E-5B29-4169-A235-899F1386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66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Phase 2: Internal Pilot Corpus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97ABF-05E2-4FBF-93F9-EF7757A2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9800"/>
            <a:ext cx="3086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Construct a multi-format pilot testbed across different structure difficulties.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Created a 3x3 pilot layout: CSV, HDF5, Time-Series across Easy, Medium, Hard tiers.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Generated 9 pilot files under data/raw/.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Added sidecar READMEs and pilot manifest.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11782-15C1-4B87-BF15-DB4AD0D4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429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784A5-2BF4-4CA4-B220-46E66062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66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1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Phase 3: Gold Reference Construction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1CFED-E76D-4F1B-B819-9EA369FA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3086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Establish a human-verified reference truth for scoring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Authored 9 reference JSONs under data/gold/ detailing physical/logical types, units, and necessity.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Ran a consistency review on 50 fields to lock labels.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5FCCF-983F-402C-B312-FDD83C88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2/10</a:t>
            </a:r>
          </a:p>
        </p:txBody>
      </p:sp>
    </p:spTree>
    <p:extLst>
      <p:ext uri="{BB962C8B-B14F-4D97-AF65-F5344CB8AC3E}">
        <p14:creationId xmlns:p14="http://schemas.microsoft.com/office/powerpoint/2010/main" val="326598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DFCEF-CDCA-4F5D-8340-3404000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2981E-77F9-4F44-8AC8-B2F16D99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881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Deterministic Base &amp; External Ingestion (Phases 4-5)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4EBDB-A20B-43BF-A6EB-A7A1FD90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Parsing file structures deterministically and staging a real-world validation corpus.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6B76F-0021-4571-9E0D-26033140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5F64E-CD69-4F5C-B207-FCB6F7B7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38AA2-261F-44BE-AF4B-80F2EC1D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Phase 4: Deterministic Extraction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AA30A-A782-45BA-98B1-5D1C2E47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Establish baseline schemas and diagnostics without LLM guesswork.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Implemented CSV and HDF5 engines with string dtype normalization.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Built a shared time-series analysis module.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Added profiling for missingness, ID quality, and multi-file relationship candidates.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Saved derived output schemas inside data/derived/.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EE565-A007-4125-945E-42D85186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EAC8F-8116-407F-919B-482F9B26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 5: External Corpus 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0A8FB-5A92-4BAE-8A0E-9537D97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Ingest diverse real-world datasets from Dryad and Zenodo to test generalizability.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Authored import_external_corpus.py using public file stream paths to bypass API auth blocks.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Staged 16 external candidate files.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Generated deterministic derived schemas under data/external/derived/.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Classified candidates into targets and distractors.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C4AD0-12CD-46D5-9AA5-2C3273C8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3/10</a:t>
            </a:r>
          </a:p>
        </p:txBody>
      </p:sp>
    </p:spTree>
    <p:extLst>
      <p:ext uri="{BB962C8B-B14F-4D97-AF65-F5344CB8AC3E}">
        <p14:creationId xmlns:p14="http://schemas.microsoft.com/office/powerpoint/2010/main" val="575280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D9BF3-42EE-44C8-AFE6-7BC5EB66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F97C9-9FE4-46A8-89CB-4AC43F0E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Testing &amp; Evaluation Pipeline (Phases 6-7)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823B4-1252-4F38-AF5E-38960FE5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Protecting extraction code against regressions and measuring field-level schema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444E4-7D11-4AE9-ADEE-CF0FB03C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02E6F-0047-44B3-917A-5622DCAF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90944-3E36-4C27-9F48-7C23F7A8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 6: Validation &amp; Regression Protection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69646-2284-4DEC-A173-5DA6400C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Ensure code modifications do not break or degrade parser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Added pytest unit tests checking CSV parsing, HDF5, and time-series regularity.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Coded regression assertions matching derived attributes against known reference schema subsets.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B8BFC-5DB2-45BA-9299-5A294044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BA9F6-4036-4C82-A711-A5F723C1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Phase 7: Evaluation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EF8E1-EA19-467A-872B-77C445C1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Quantify schema completeness and accuracy across physical/logical/semantic dimensions.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Created evaluate_internal_baseline.py to score derived schemas field-by-field.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Summarized errors by failure type (e.g., incorrect type, unparsed column).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Compiled confidence-bucket calibration statistics.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074AB-5325-4757-9A8F-D13A5B17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4/10</a:t>
            </a:r>
          </a:p>
        </p:txBody>
      </p:sp>
    </p:spTree>
    <p:extLst>
      <p:ext uri="{BB962C8B-B14F-4D97-AF65-F5344CB8AC3E}">
        <p14:creationId xmlns:p14="http://schemas.microsoft.com/office/powerpoint/2010/main" val="1534880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4CAE34-89DA-4CB2-80C3-6E655C2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32DB0-ECA8-47D4-BDC2-E0544807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Semantic Augmentation &amp; Retrieval (Phases 8-9)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B57C7-7184-4F45-9787-1B5E0D05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Refining schema semantics using constrained LLMs and testing retrieval performance.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ECF4D-8F34-48BA-939A-6792872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4BE63-DBCF-4BC1-B648-DB5B29BC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B907A-62FA-4907-8AA0-2C6C2B94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Phase 8: Semantic Augmentation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FF017-B748-4A86-969D-E88C92A1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Resolve domain meaning via LLMs without modifying physical schemas.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Coded semantic_annotate.py to run field-sliced prompt runs.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Formed grounding bundles under data/semantic_grounding/.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Programmed merge_semantic_annotations.py with validation constraints to prevent ungrounded claims.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Added conflict tracking for explicit vs inferred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BC186-35EE-427F-B263-7E840EC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BDEF1-7968-4CA1-8BDB-574E7508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 9: Retrieval Experiment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5C617-1274-4EB2-82B4-211AA40E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Compare schema-enhanced dataset search against metadata or README baselines.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Built search indexes for README-only, metadata-only, and schema-enhanced schemas.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Coded evaluate_retrieval_artifacts.py to test 10 queries.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Demonstrated schema metadata significantly boosts search Recall@1.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9E395-88EC-41FB-A402-2F9C3759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5/10</a:t>
            </a:r>
          </a:p>
        </p:txBody>
      </p:sp>
    </p:spTree>
    <p:extLst>
      <p:ext uri="{BB962C8B-B14F-4D97-AF65-F5344CB8AC3E}">
        <p14:creationId xmlns:p14="http://schemas.microsoft.com/office/powerpoint/2010/main" val="536230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A91DCE-B47E-4197-8EF3-DE30E04A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DB08E-5914-41D6-9D75-5B1C7CA6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Hardening &amp; Benchmark Release (Phases 10-11)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73B83-0D46-4396-BE39-C67E05C3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Locking the evaluation slice, drafting the paper, and building the reviewer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C3B88-E2FF-49AB-8244-698A429E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3A6EB-0C38-4A78-9C44-BE2C77E8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26C92-2E78-48FF-A50B-55E7AE5E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 10: Scale-Up &amp; Corpus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1D12B-7616-4BA0-BE0B-CA864DA5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Standardize benchmark criteria and define rules for raw binary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Defined dataset promotion/exclusion guidelines.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Enforced raw binary policy: abstain from schema field claims, record file-level evidence only.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53611-2CE0-42C2-997A-78FF77B2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F29D9-A7D1-4D68-9992-DA216182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Phase 11: Paper Draft &amp; GUI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6D2DB-05F7-411F-8CC2-5A8FA535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Compile tables and charts, write the draft, and construct an interactive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Wrote paper_draft.md using frozen metrics.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Coded build_paper_tables.py and build_paper_figures.py (generating SVG charts).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Built gui_demo web server (server.py) with live scratch upload extraction.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E6592-4F99-4C8A-A76E-F40C47AD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6/10</a:t>
            </a:r>
          </a:p>
        </p:txBody>
      </p:sp>
    </p:spTree>
    <p:extLst>
      <p:ext uri="{BB962C8B-B14F-4D97-AF65-F5344CB8AC3E}">
        <p14:creationId xmlns:p14="http://schemas.microsoft.com/office/powerpoint/2010/main" val="1122122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F22E08-02B6-4638-BE59-FE62F0A8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00923-0DD8-43FA-9135-614634C3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Substrate Refactoring &amp; NetCDF/CF (Phases 12-13)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3361C-6DA6-4DA9-809C-701EEAB6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Overhauling architecture with registries, routing, and adding NetCDF/CF scientific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86296-179A-4D63-BAF1-9F3D1E3A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10F09-AA5D-4E99-92A3-245E4849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49566-E470-4504-B2E1-5793120E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Phase 12: Deterministic Substrate Upgrade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455F6-3528-4B4B-BE2E-9DF5F00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Introduce typed contracts, routing, and a temporal validator.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Added central capability registry and signature-based routing.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Standardized typed ExtractionRequest and ExtractionOutcome.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Developed timezone-aware temporal semantics module for calendar regularity and coord conflicts.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Tested on a 13-case challenge pack.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28401-52B1-4F2B-A1F1-FD5255A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332A4-5F18-42E1-B414-E39C5F1B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6690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 13: NetCDF/CF Scientific Format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686EE-27FE-4C10-B164-0E2F6A31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10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Support NetCDF coordinates and CF conventions under the registry.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Built classic (scipy) and NetCDF4 (h5py) metadata extractors.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Decoded CF coordinates, calendars, dimensions, and units.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Shared temporal validation.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Verified against a 14-case challenge pack.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1EE36-4945-4F6D-8CE7-7E6167B7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7/10</a:t>
            </a:r>
          </a:p>
        </p:txBody>
      </p:sp>
    </p:spTree>
    <p:extLst>
      <p:ext uri="{BB962C8B-B14F-4D97-AF65-F5344CB8AC3E}">
        <p14:creationId xmlns:p14="http://schemas.microsoft.com/office/powerpoint/2010/main" val="1391807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0D3ED-A3C7-4B27-B6FA-BA856E3D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ADA3D-569A-4C6C-A2BB-D2D6E5AC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Zarr Array Integration (Phases 14A-C)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0A981-6702-422A-A680-78444F6B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Enabling directory-store inputs and validating compatibility against third-party Zarr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52E9A-BD1A-4F97-B2E1-DC3C0475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7F113-1F9F-458D-8674-F12E84E6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D5519-ABC8-4C6D-A316-1DA7541E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 14A: Zarr Directory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12191-4C8C-401D-8639-6D708521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086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Support multi-file local directory stores and extract Zarr v2 array hierarchies.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Extended intake to support directory stores.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Coded light Zarr v2 metadata extractor parsing .zarray/.zgroup files and _ARRAY_DIMENSIONS.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Tested on a 14-case challenge pack.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74318-6E41-410F-9748-A9F0DDBE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686C4-B054-4E49-A9FA-2D40A021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66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Phase 14B: Layout Compatibility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D47CC-3891-41AD-A468-D74FDCB0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9800"/>
            <a:ext cx="3086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Validate the extractor against diverse producer-shaped Zarr configurations.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Tested a 17-case local compatibility corpus.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Implemented chunk-directory path pruning and group-scoped coordinate references.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Handled NumPy structured dtypes.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B27BF-A8B6-4D3E-A290-5744825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429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A5066-8833-4BF0-B2B6-BFF56612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66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Phase 14C: External Conformance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3890D-344D-474C-B49B-E1FE82F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3086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Match outputs against official zarr-python and Xarray load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Curated 12 conformance cases from official test suites.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Evaluated cross-parser differences in fill value representations and default behaviors.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E39EA-4565-4419-9BD4-34CB53CD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8/10</a:t>
            </a:r>
          </a:p>
        </p:txBody>
      </p:sp>
    </p:spTree>
    <p:extLst>
      <p:ext uri="{BB962C8B-B14F-4D97-AF65-F5344CB8AC3E}">
        <p14:creationId xmlns:p14="http://schemas.microsoft.com/office/powerpoint/2010/main" val="1544976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15D4A-EDA3-4C01-AD95-FC92B86B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CFFCC-8284-455D-ACA3-7E30F4E2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409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Structured Formats: Parquet, JSON, XML (Phases 15-16)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EBB2F-CB18-4632-9957-F2819B46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Extracting schemas from Parquet footers, JSON documents, and XML element trees.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8CF67-D243-46A1-88B4-D0EC8F47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B0B9A-08A0-4633-A49D-59FCA4A7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A1CA8-B052-418D-A8F4-C6890E35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 15A: Parquet / Arrow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A54EB-CA86-40C2-959E-568863C9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086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Extract PyArrow schema and Parquet footer metadata without reading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Mapped Arrow logical schema paths to Parquet columns.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Extracted row group counts, definitions, repetition levels, and column stats.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3E075-2B46-4959-B4F6-B3F9FB4F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A1DB2-098E-4761-A984-D21C3130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66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Phase 16A: JSON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D3704-A9D1-42FE-9344-88496E54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9800"/>
            <a:ext cx="3086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Extract observed structures and declared JSON Schema definitions.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Coded sample-bounded recursive path traversal.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Parsed declared fields from schema sidecars.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Flagged conflicts when samples deviated from schema definitions.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D267F-AEF5-4615-96F9-FAF23D64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42900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C30FB-0C82-4011-9F8D-E80EFB00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66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Phase 16B: XML / XSD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F2A8F-360D-4EB4-8C69-08D509F1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3086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Extract namespace coordinates and structures from XML and XSD schemas.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Namespace-aware tag and attribute path observation.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Tracked repeated elements, XSD declarations, and xsi:type conflicts.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301D9-C0A3-48F4-B828-B2BDD336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9/10</a:t>
            </a:r>
          </a:p>
        </p:txBody>
      </p:sp>
    </p:spTree>
    <p:extLst>
      <p:ext uri="{BB962C8B-B14F-4D97-AF65-F5344CB8AC3E}">
        <p14:creationId xmlns:p14="http://schemas.microsoft.com/office/powerpoint/2010/main" val="610148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5D868F-2222-4659-8BB7-19E4ED8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8930C-C3BE-47EC-8093-8A7BFE48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172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Unified Envelope, Evaluator &amp; Workbench (Phases 17-20)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F0600-BC35-4184-9A07-2EB5DF67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Projecting outcomes into a single model, unifying evaluation, and completing release prep.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BF417-FD11-4FCC-B8FD-076591CC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5630F-61B5-49DF-AEA7-88AA7A8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7175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EE92A-F1B1-4D6C-A962-17998A94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56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Phase 17: Unified Envelope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A93EB-93C7-49E1-947B-6B545A38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2288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Project outcomes into a cross-format envelope.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Coded extract_unified() for identity, physical, logical, semantic, evidence, and provenance.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Kept legacy APIs immutable.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B8A78-CDC2-4802-8D64-AD2B3465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57175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52335-50D3-4371-987C-D8D84381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86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Phase 18: Evaluation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BD10E-7FAD-47A8-89A2-943BBCD5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2288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Provide a single entrypoint for all validation tracks.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Created unified evaluator running 11 distinct test tracks.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Kept track metrics separate to preserve transparency.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BEA21-EB9A-482C-B6A5-E87AE7AF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257175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7F131-F203-4B7E-B06C-C3BC2B76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65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Phase 19: Agent-Ready Exports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076F2-0FE0-45F5-A7A3-0FD241A2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22288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Provide read-only context for downstream AI coding agents.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Exported structured JSON with claims, evidence, and search context.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Enforced read-only mutation guards.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52C8F-2E41-4B5E-8DE9-4FAB1201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14500"/>
            <a:ext cx="2762250" cy="438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9BACD-D46C-44DF-B54C-15930C78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669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65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Phase 20: Release Readiness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3C968-92C0-452F-8FC6-FE28C216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4193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Purpose: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Validate final codebase cleanliness and path hygiene.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Implementation: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Wrote gui_demo/DESIGN.md.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Cleared local absolute paths from code and artifacts.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- Passed final release audit with ready=true.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3D123-D806-43DC-B119-5654E5BB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High-Fidelity Schema Extraction Study · Phases 1-20 Summary · Slide 10/10</a:t>
            </a:r>
          </a:p>
        </p:txBody>
      </p:sp>
    </p:spTree>
    <p:extLst>
      <p:ext uri="{BB962C8B-B14F-4D97-AF65-F5344CB8AC3E}">
        <p14:creationId xmlns:p14="http://schemas.microsoft.com/office/powerpoint/2010/main" val="916531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2026-06-26T04:44:26.2790000Z</dcterms:created>
  <dcterms:modified xsi:type="dcterms:W3CDTF">2026-06-26T04:44:26.2790000Z</dcterms:modified>
</coreProperties>
</file>