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dc94edc9e943fa" /><Relationship Type="http://schemas.openxmlformats.org/officeDocument/2006/relationships/extended-properties" Target="/docProps/app.xml" Id="R74c5e4210b1941e1" /><Relationship Type="http://schemas.openxmlformats.org/officeDocument/2006/relationships/officeDocument" Target="/ppt/presentation.xml" Id="Rb0562cfd967649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00b4bb54b54fe8"/>
  </p:sldMasterIdLst>
  <p:notesMasterIdLst>
    <p:notesMasterId xmlns:r="http://schemas.openxmlformats.org/officeDocument/2006/relationships" r:id="Rbba66800117c4a19"/>
  </p:notesMasterIdLst>
  <p:sldIdLst>
    <p:sldId xmlns:r="http://schemas.openxmlformats.org/officeDocument/2006/relationships" id="256" r:id="Rf406b054869b4bb1"/>
    <p:sldId xmlns:r="http://schemas.openxmlformats.org/officeDocument/2006/relationships" id="257" r:id="R8a4edf69b35f4520"/>
    <p:sldId xmlns:r="http://schemas.openxmlformats.org/officeDocument/2006/relationships" id="258" r:id="R26a3d3c0bb67441a"/>
    <p:sldId xmlns:r="http://schemas.openxmlformats.org/officeDocument/2006/relationships" id="259" r:id="Re7b03a1275a242de"/>
    <p:sldId xmlns:r="http://schemas.openxmlformats.org/officeDocument/2006/relationships" id="260" r:id="R1cf5f5c1bd584042"/>
    <p:sldId xmlns:r="http://schemas.openxmlformats.org/officeDocument/2006/relationships" id="261" r:id="Rf6646969bd994efe"/>
    <p:sldId xmlns:r="http://schemas.openxmlformats.org/officeDocument/2006/relationships" id="262" r:id="Rceb9629c0d884fad"/>
    <p:sldId xmlns:r="http://schemas.openxmlformats.org/officeDocument/2006/relationships" id="263" r:id="R2e525009b58c4b0f"/>
    <p:sldId xmlns:r="http://schemas.openxmlformats.org/officeDocument/2006/relationships" id="264" r:id="Reb3945c959a640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0b4bb54b54fe8" /><Relationship Type="http://schemas.openxmlformats.org/officeDocument/2006/relationships/theme" Target="/ppt/theme/theme1.xml" Id="R6720acbb538c4513" /><Relationship Type="http://schemas.openxmlformats.org/officeDocument/2006/relationships/notesMaster" Target="/ppt/notesMasters/notesMaster1.xml" Id="Rbba66800117c4a19" /><Relationship Type="http://schemas.openxmlformats.org/officeDocument/2006/relationships/presProps" Target="/ppt/presProps.xml" Id="R7a29fdb9a6b54c27" /><Relationship Type="http://schemas.openxmlformats.org/officeDocument/2006/relationships/viewProps" Target="/ppt/viewProps.xml" Id="Ra6123742c5df41ae" /><Relationship Type="http://schemas.openxmlformats.org/officeDocument/2006/relationships/tableStyles" Target="/ppt/tableStyles.xml" Id="Rc6f7a79dc97a4340" /><Relationship Type="http://schemas.openxmlformats.org/officeDocument/2006/relationships/slide" Target="/ppt/slides/slide1.xml" Id="Rf406b054869b4bb1" /><Relationship Type="http://schemas.openxmlformats.org/officeDocument/2006/relationships/slide" Target="/ppt/slides/slide2.xml" Id="R8a4edf69b35f4520" /><Relationship Type="http://schemas.openxmlformats.org/officeDocument/2006/relationships/slide" Target="/ppt/slides/slide3.xml" Id="R26a3d3c0bb67441a" /><Relationship Type="http://schemas.openxmlformats.org/officeDocument/2006/relationships/slide" Target="/ppt/slides/slide4.xml" Id="Re7b03a1275a242de" /><Relationship Type="http://schemas.openxmlformats.org/officeDocument/2006/relationships/slide" Target="/ppt/slides/slide5.xml" Id="R1cf5f5c1bd584042" /><Relationship Type="http://schemas.openxmlformats.org/officeDocument/2006/relationships/slide" Target="/ppt/slides/slide6.xml" Id="Rf6646969bd994efe" /><Relationship Type="http://schemas.openxmlformats.org/officeDocument/2006/relationships/slide" Target="/ppt/slides/slide7.xml" Id="Rceb9629c0d884fad" /><Relationship Type="http://schemas.openxmlformats.org/officeDocument/2006/relationships/slide" Target="/ppt/slides/slide8.xml" Id="R2e525009b58c4b0f" /><Relationship Type="http://schemas.openxmlformats.org/officeDocument/2006/relationships/slide" Target="/ppt/slides/slide9.xml" Id="Reb3945c959a640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63e7e90a0e742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f92fc5c59c4a98" /><Relationship Type="http://schemas.openxmlformats.org/officeDocument/2006/relationships/notesMaster" Target="/ppt/notesMasters/notesMaster1.xml" Id="Rbf1a79fa1d5046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b4ec69270f4cf1" /><Relationship Type="http://schemas.openxmlformats.org/officeDocument/2006/relationships/notesMaster" Target="/ppt/notesMasters/notesMaster1.xml" Id="Rb14f118cd72e4d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fd52b4b82a44a5" /><Relationship Type="http://schemas.openxmlformats.org/officeDocument/2006/relationships/notesMaster" Target="/ppt/notesMasters/notesMaster1.xml" Id="R848958edc3b744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b2d5d2ae92492a" /><Relationship Type="http://schemas.openxmlformats.org/officeDocument/2006/relationships/notesMaster" Target="/ppt/notesMasters/notesMaster1.xml" Id="R37db7868123f4e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eff9b69b3a4a3a" /><Relationship Type="http://schemas.openxmlformats.org/officeDocument/2006/relationships/notesMaster" Target="/ppt/notesMasters/notesMaster1.xml" Id="R1c115d628faa45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2ced4c109045bf" /><Relationship Type="http://schemas.openxmlformats.org/officeDocument/2006/relationships/notesMaster" Target="/ppt/notesMasters/notesMaster1.xml" Id="R1a6439a63f5445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f32b8e390f4802" /><Relationship Type="http://schemas.openxmlformats.org/officeDocument/2006/relationships/notesMaster" Target="/ppt/notesMasters/notesMaster1.xml" Id="Re4241f0f8f504d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00019730d14b02" /><Relationship Type="http://schemas.openxmlformats.org/officeDocument/2006/relationships/notesMaster" Target="/ppt/notesMasters/notesMaster1.xml" Id="Rc633d8f0778146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aefeea3a6d49de" /><Relationship Type="http://schemas.openxmlformats.org/officeDocument/2006/relationships/notesMaster" Target="/ppt/notesMasters/notesMaster1.xml" Id="R3c886643be414f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study in plain language. Keep focus on evidence first, LLM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study in plain language. Keep focus on evidence first, LLM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study in plain language. Keep focus on evidence first, LLM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study in plain language. Keep focus on evidence first, LLM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study in plain language. Keep focus on evidence first, LLM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study in plain language. Keep focus on evidence first, LLM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study in plain language. Keep focus on evidence first, LLM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study in plain language. Keep focus on evidence first, LLM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study in plain language. Keep focus on evidence first, LLM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fe82a46f9428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5AF3E0A2-404C-4E20-8E87-280D2569E55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17D0BE6-B51D-4BD8-8703-7DD4E47D8F8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04D929-8C74-47F8-AFAB-DD17BB71E7B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97124B-5CBA-4815-9252-71B04AA4B82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0F229-AF70-47F8-87E2-55F4D7C8BEC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2f0b0769d144e81" /><Relationship Type="http://schemas.openxmlformats.org/officeDocument/2006/relationships/slideLayout" Target="/ppt/slideLayouts/slideLayout2.xml" Id="R7aae66a533394c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D89B90-F982-4911-95C6-780A8807946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e66a533394c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7c502ff3e44733" /><Relationship Type="http://schemas.openxmlformats.org/officeDocument/2006/relationships/notesSlide" Target="/ppt/notesSlides/notesSlide1.xml" Id="Rd800c1386fb2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04f1c8284743a6" /><Relationship Type="http://schemas.openxmlformats.org/officeDocument/2006/relationships/notesSlide" Target="/ppt/notesSlides/notesSlide2.xml" Id="R43a8ff2b84ff49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85f31844474410" /><Relationship Type="http://schemas.openxmlformats.org/officeDocument/2006/relationships/notesSlide" Target="/ppt/notesSlides/notesSlide3.xml" Id="R6f7d265a39cf4e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ac9640115e405c" /><Relationship Type="http://schemas.openxmlformats.org/officeDocument/2006/relationships/notesSlide" Target="/ppt/notesSlides/notesSlide4.xml" Id="Rba1b28f1811440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b3a109126c41a4" /><Relationship Type="http://schemas.openxmlformats.org/officeDocument/2006/relationships/notesSlide" Target="/ppt/notesSlides/notesSlide5.xml" Id="Rf8c3c4d3a26046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b03b2feaf24deb" /><Relationship Type="http://schemas.openxmlformats.org/officeDocument/2006/relationships/notesSlide" Target="/ppt/notesSlides/notesSlide6.xml" Id="R948a904b0c524d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62bd1abe64450b" /><Relationship Type="http://schemas.openxmlformats.org/officeDocument/2006/relationships/notesSlide" Target="/ppt/notesSlides/notesSlide7.xml" Id="R12e5023e4ef447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afededdc844bf9" /><Relationship Type="http://schemas.openxmlformats.org/officeDocument/2006/relationships/notesSlide" Target="/ppt/notesSlides/notesSlide8.xml" Id="R482f443ea8804c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967cafaeb34c5b" /><Relationship Type="http://schemas.openxmlformats.org/officeDocument/2006/relationships/notesSlide" Target="/ppt/notesSlides/notesSlide9.xml" Id="R783af23e68e843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0F229-AF70-47F8-87E2-55F4D7C8B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FDD52-23B3-485B-94E5-D8B4994A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8F17B-8976-4F04-BCFA-D9C49213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</a:defRPr>
            </a:pPr>
            <a:r>
              <a:rPr sz="3150" b="1">
                <a:solidFill>
                  <a:srgbClr val="18212B"/>
                </a:solidFill>
              </a:rPr>
              <a:t>让 AI 不再乱猜数据字段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84FF5-C2F3-4305-B134-D5AF46FA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17C"/>
                </a:solidFill>
              </a:defRPr>
            </a:pPr>
            <a:r>
              <a:rPr sz="1650" b="0">
                <a:solidFill>
                  <a:srgbClr val="64717C"/>
                </a:solidFill>
              </a:rPr>
              <a:t>一个高中生也能听懂的 schema extraction study 介绍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B13AF-9CA4-49A4-ACF4-6351F8FD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628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核心想法：先用程序证明文件里真的有什么，再让 LLM 只解释有证据的内容。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9E180-E74E-4C93-812B-911695B8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95350"/>
            <a:ext cx="3143250" cy="1123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1DE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E4A34-F54F-4738-9461-F554FEF2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066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不是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F1D82-66A9-4C8F-A72D-43752B8F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47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把文件丢给 LLM，然后让它猜 schema。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E4F36-2BCD-4C38-9AB4-CCB91516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3143250" cy="1352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2FF1F-C7C4-4F83-A60E-1980F94C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而是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707B4-3D1B-48CA-84F7-BFE3F2B5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先 deterministic parser，再 evidence-grounded semantic layer。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CEC33-0F07-4137-B67D-E5D73737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B8F"/>
                </a:solidFill>
              </a:defRPr>
            </a:pPr>
            <a:r>
              <a:rPr sz="1125" b="1">
                <a:solidFill>
                  <a:srgbClr val="245B8F"/>
                </a:solidFill>
              </a:rPr>
              <a:t>Study, not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0733B-3088-4A3B-8460-E41BB9BF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9575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Field-level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A0E1C-FBC7-4499-8A71-48BF8DED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95750"/>
            <a:ext cx="2286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B7791F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791F"/>
                </a:solidFill>
              </a:defRPr>
            </a:pPr>
            <a:r>
              <a:rPr sz="1125" b="1">
                <a:solidFill>
                  <a:srgbClr val="B7791F"/>
                </a:solidFill>
              </a:rPr>
              <a:t>No unsupported guessing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FEDA3-E1BE-4791-A880-5C832DF4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· 1/9</a:t>
            </a:r>
          </a:p>
        </p:txBody>
      </p:sp>
    </p:spTree>
    <p:extLst>
      <p:ext uri="{BB962C8B-B14F-4D97-AF65-F5344CB8AC3E}">
        <p14:creationId xmlns:p14="http://schemas.microsoft.com/office/powerpoint/2010/main" val="1304824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0F229-AF70-47F8-87E2-55F4D7C8B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56C8A-C1F0-4DEA-87EC-9DEA67D7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CA86A-025A-4E7A-A68F-BADFC4D3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问题：科学数据常常没有清楚说明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D424E-D07D-4D4F-89FC-3A598609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CSV、HDF5、时间序列和二进制文件里，字段可能有名字，但不一定有清楚意义。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98D66-1084-4877-80CF-A99386A1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62D5F-1A50-4F7E-9A39-A8E72CAC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143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8E825-B2E3-4D22-82A1-7DA7B726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看起来像数字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17C1F-224D-4ADC-B38B-5005D1C0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00123 可能是 ID，不是可以做加减乘除的数字。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48B35-B983-4B1B-BE69-3208DBCB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43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F0E0D-6A96-4109-841A-533C0328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看起来像表格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9A9D1-B5C1-4486-BC66-8A26C017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HDF5 其实有层级结构。把它压平成一张表会丢信息。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361E2-2326-41AC-8C06-4580810A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143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109F0-080E-4113-83EF-35993ED8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看起来像时间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36D22-946F-4D8B-9BEE-80650A9C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频率、缺失时间段、时区都需要计算，不能凭感觉猜。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82647-C21E-403F-92D5-8A769A6B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42318"/>
                </a:solidFill>
              </a:defRPr>
            </a:pPr>
            <a:r>
              <a:rPr sz="1875" b="1">
                <a:solidFill>
                  <a:srgbClr val="B42318"/>
                </a:solidFill>
              </a:rPr>
              <a:t>如果直接让 LLM 猜，它可能编出不存在的字段、猜错单位，或者给出听起来合理但没有证据的解释。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6880B-7D25-495A-9D41-6AD52A5B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· 2/9</a:t>
            </a:r>
          </a:p>
        </p:txBody>
      </p:sp>
    </p:spTree>
    <p:extLst>
      <p:ext uri="{BB962C8B-B14F-4D97-AF65-F5344CB8AC3E}">
        <p14:creationId xmlns:p14="http://schemas.microsoft.com/office/powerpoint/2010/main" val="1054366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0F229-AF70-47F8-87E2-55F4D7C8B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29E1F-9294-433E-99FF-A56BDB25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F366B-1C33-42EC-A681-E0000E1E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决定：先证明结构，再解释意义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D5A09-DD32-4ACA-AF0A-C95BF2EB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这是一条方法论边界：LLM 不能凭空创造 schema。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2B416-14F5-4E34-B3F9-2213C5E5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2715B-9BD5-468F-85E6-040DC27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47675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20592-E7C3-49B1-A136-5027BCB7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405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Deterministic parser 做什么？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6D7B9-CE65-4D56-8613-A529A28D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40576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读取真实存在的结构：列名、数据类型、HDF5 path、shape、attributes、缺失值、时间间隔。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3A1C9-72C3-446A-AAAD-AA8BCEC1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47675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88E70-4E4E-4A80-92A1-B2F414EC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71700"/>
            <a:ext cx="405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LLM 做什么？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9E061-B3BA-4358-A7B0-4C831C15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2700"/>
            <a:ext cx="40576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在已有证据范围内解释：缩写、字段描述、语义类型、低风险 metadata。证据不足就输出 unknown。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D1DFC-4AD3-4CDB-8E54-1DE216B0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381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17C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4717C"/>
                </a:solidFill>
              </a:defRPr>
            </a:pPr>
            <a:r>
              <a:rPr sz="1200" b="1">
                <a:solidFill>
                  <a:srgbClr val="64717C"/>
                </a:solidFill>
              </a:rPr>
              <a:t>再交给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B1CD4-6D88-4081-AF67-75BA8DB7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规则：Tier 4 的 LLM 推断不能覆盖 Tier 1 的显式 metadata。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ED485-935C-4BF9-A906-5A668E23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· 3/9</a:t>
            </a:r>
          </a:p>
        </p:txBody>
      </p:sp>
    </p:spTree>
    <p:extLst>
      <p:ext uri="{BB962C8B-B14F-4D97-AF65-F5344CB8AC3E}">
        <p14:creationId xmlns:p14="http://schemas.microsoft.com/office/powerpoint/2010/main" val="34196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0F229-AF70-47F8-87E2-55F4D7C8B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9E6C8-6DD0-46E4-BC9B-5327E45A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A4029-31CF-4E68-B2D8-15414C13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方法：Evidence-Grounded Schema Extraction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59994-F8B8-44D9-AA0F-D110121D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每一步都保留证据，让 schema 不是猜出来的。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FEDFD-BFAE-4891-BDE7-CE0B322B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B8D5D-11EF-491B-BB0F-67266410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17C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4717C"/>
                </a:solidFill>
              </a:defRPr>
            </a:pPr>
            <a:r>
              <a:rPr sz="1200" b="1">
                <a:solidFill>
                  <a:srgbClr val="64717C"/>
                </a:solidFill>
              </a:rPr>
              <a:t>Raw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1F1C9-BCD6-4CFE-AD28-FF91D709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B8F"/>
                </a:solidFill>
              </a:defRPr>
            </a:pPr>
            <a:r>
              <a:rPr sz="1200" b="1">
                <a:solidFill>
                  <a:srgbClr val="245B8F"/>
                </a:solidFill>
              </a:rPr>
              <a:t>Detect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67768-BEEC-4FED-B358-942539EA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Extract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61849-B347-4567-8BC6-15805400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Capture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73E41-CA11-4229-8768-23F4919B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B7791F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791F"/>
                </a:solidFill>
              </a:defRPr>
            </a:pPr>
            <a:r>
              <a:rPr sz="1200" b="1">
                <a:solidFill>
                  <a:srgbClr val="B7791F"/>
                </a:solidFill>
              </a:rPr>
              <a:t>Add semantics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9203D-388C-4705-91AF-5127EC8F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762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256C43"/>
            </a:solidFill>
          </a:ln>
        </p:spPr>
        <p:txBody>
          <a:bodyPr xmlns:a="http://schemas.openxmlformats.org/drawingml/2006/main" lIns="171450" tIns="57150" rIns="2667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C43"/>
                </a:solidFill>
              </a:defRPr>
            </a:pPr>
            <a:r>
              <a:rPr sz="1200" b="1">
                <a:solidFill>
                  <a:srgbClr val="256C43"/>
                </a:solidFill>
              </a:rPr>
              <a:t>Evaluate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D9811-494A-45FA-90A3-32AF1E60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0480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E383F-0288-45F9-A714-1AEAB4DE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Physical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D41A7-7B45-48F9-A010-E2289926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628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真实结构：列、dtype、path、shape、missingness。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247AE-8D14-40E9-B53E-DB15CE37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480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08274-8F32-4A92-B1C2-19928977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862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Logical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62F95-26F9-4018-8424-B7876F1B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2628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组织方式：时间轴、ID、measurement、relationship。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553BD-9D9B-49B3-A910-D87E3E55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30480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43EEC-CC5E-4713-A755-8B962DE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Semantic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2437D-461A-427D-A552-76BF2333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628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人类意义：温度、单位、站点、研究用途。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C4BF7-6F1A-44C2-A97B-50AE35B7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· 4/9</a:t>
            </a:r>
          </a:p>
        </p:txBody>
      </p:sp>
    </p:spTree>
    <p:extLst>
      <p:ext uri="{BB962C8B-B14F-4D97-AF65-F5344CB8AC3E}">
        <p14:creationId xmlns:p14="http://schemas.microsoft.com/office/powerpoint/2010/main" val="565223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0F229-AF70-47F8-87E2-55F4D7C8B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8C631-85BF-4C55-B0B6-AD69E1C1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00C69-05C5-4AC4-B024-DE72C7B0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几个必须听懂的词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820FF-7A93-4284-BA33-C8388387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这些词决定了我们怎么设计实验和解释结果。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8D8F6-48EB-4655-A6E1-6290F7F7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6E32F-2D61-4709-A369-2F11A5CE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381250" cy="1695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4A2E1-29B6-4B85-834B-920C485C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A8E06-C180-4BF7-8FC1-48416AFE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小规模试点数据。先用它检查 pipeline 是否跑通。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3DDA3-504E-466C-91A7-4D459E82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28800"/>
            <a:ext cx="2381250" cy="1695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D8557-CCD8-4B9F-9133-97B62352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C43"/>
                </a:solidFill>
              </a:defRPr>
            </a:pPr>
            <a:r>
              <a:rPr sz="1500" b="1">
                <a:solidFill>
                  <a:srgbClr val="256C43"/>
                </a:solidFill>
              </a:rPr>
              <a:t>Gold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80A26-2F09-4380-BC92-3DC600A3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人工写的标准答案。系统输出要和它比较。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C99E5-37C1-4EBC-A8E1-BA176C7D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2381250" cy="1695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17EFD-6D88-48F4-804C-70938278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External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CE344-EF1A-4D31-9873-7CE9D3CD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来自 Dryad / Zenodo 的真实公开数据。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981D4-92A6-425B-A2F7-93B586F6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28800"/>
            <a:ext cx="2381250" cy="1695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45F2D-DD54-42A3-8AF5-4206FBE5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002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Distractor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ED11B-F810-42F1-BF7D-2D1A413E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检索时故意放进去的干扰文件，测试系统会不会选错。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9DDF2-9A62-4D2C-BFD9-3268FAC6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same-family distractor 更难：它和目标来自同一个数据包，描述和字段都很像。</a:t>
            </a:r>
          </a:p>
          <a:p xmlns:a="http://schemas.openxmlformats.org/drawingml/2006/main">
            <a:pPr algn="ctr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cross-domain distractor 更广：它来自不同主题，用来测试泛化。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2127C-4426-413F-BF54-67B1091E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· 5/9</a:t>
            </a:r>
          </a:p>
        </p:txBody>
      </p:sp>
    </p:spTree>
    <p:extLst>
      <p:ext uri="{BB962C8B-B14F-4D97-AF65-F5344CB8AC3E}">
        <p14:creationId xmlns:p14="http://schemas.microsoft.com/office/powerpoint/2010/main" val="1233307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0F229-AF70-47F8-87E2-55F4D7C8B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644B1-6FCE-45C4-BEDF-26137C65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5339D-D534-41F3-8DC1-3841B4CA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现在已经做到了什么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422E6-6361-4B40-B613-028FA733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项目已经从 scaffold 走到可运行的研究原型。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621DC-C274-4F0A-9AB5-FAF64CA4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35987-0D52-492D-B7E9-595F23C6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4288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5E03A-4CBD-447E-A45C-6E77B803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</a:defRPr>
            </a:pPr>
            <a:r>
              <a:rPr sz="1275" b="1">
                <a:solidFill>
                  <a:srgbClr val="245B8F"/>
                </a:solidFill>
              </a:rPr>
              <a:t>Internal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163BE-F125-4F29-B0A2-B1AC296B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5B8F"/>
                </a:solidFill>
              </a:defRPr>
            </a:pPr>
            <a:r>
              <a:rPr sz="2850" b="1">
                <a:solidFill>
                  <a:srgbClr val="245B8F"/>
                </a:solidFill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CF518-DFEB-48C2-8348-855692B7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CSV / HDF5 / time-series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FCFED-75BA-4007-9DAB-C24C0DF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1428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A672E-DDAE-46DE-8BA1-84E49441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External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B9C7C-8488-4EA0-8A46-F8C0C53E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766E"/>
                </a:solidFill>
              </a:defRPr>
            </a:pPr>
            <a:r>
              <a:rPr sz="2850" b="1">
                <a:solidFill>
                  <a:srgbClr val="0F766E"/>
                </a:solidFill>
              </a:rPr>
              <a:t>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88C93-99D9-4A8C-BD18-519F9367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Dryad + Zenodo, all derived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80905-CE43-468E-822D-ED9DB1A6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14288">
            <a:solidFill>
              <a:srgbClr val="B7791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4DEC0-8AB0-4FF0-A3C7-E1FC9B2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193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Retrieval pool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FB962-1120-4B3D-AB72-EA505CE4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7791F"/>
                </a:solidFill>
              </a:defRPr>
            </a:pPr>
            <a:r>
              <a:rPr sz="2850" b="1">
                <a:solidFill>
                  <a:srgbClr val="B7791F"/>
                </a:solidFill>
              </a:rPr>
              <a:t>10 + 6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E3E9C-7CFA-4B13-9178-EAB4B37D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targets + distractors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2C52A-FF33-4FE7-9E66-A6E7461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143250" cy="1162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DA043-1A31-4E85-9DAC-D04EA0E6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Deterministic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C3868-3B79-427F-89D7-769709C1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字段级评估、uncertainty、error modes 都已经生成。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63499-9DDD-4503-9560-949DC868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3143250" cy="1162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41417-1ECC-4524-95C0-941D6CA7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767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Retrieval evaluation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DCFF6A-52DC-41EC-8198-DBBB9383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5770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metadata / README / schema-enhanced 三种方式可比较。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E51B2-8E7B-4DAE-85C3-63C5DD5C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3143250" cy="1162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77AF6E-5A68-4390-938C-6E9212FF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767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Semantic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E86387-38D2-486F-976B-F982CB34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388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能跑 annotation、validation、merge-back，但收益还不稳定。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C4521E-E041-4A29-8275-91C39F0A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· 6/9</a:t>
            </a:r>
          </a:p>
        </p:txBody>
      </p:sp>
    </p:spTree>
    <p:extLst>
      <p:ext uri="{BB962C8B-B14F-4D97-AF65-F5344CB8AC3E}">
        <p14:creationId xmlns:p14="http://schemas.microsoft.com/office/powerpoint/2010/main" val="881564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0F229-AF70-47F8-87E2-55F4D7C8B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DC21C-0102-4E83-AD5B-73481F56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FC7AA-EB66-42D0-B0AE-C0D9973E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当前结果：schema 帮检索更准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62851-01A7-470B-BAE2-FF2A5565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在 16 个真实外部文件、10 个目标 query 的池子里比较。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5C0A4-5FD4-4099-B297-00FDAF20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E1BA9-ABF9-46FC-9382-53046D75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8120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717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710F3-7348-458B-9DD7-0DE33D88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526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4717C"/>
                </a:solidFill>
              </a:defRPr>
            </a:pPr>
            <a:r>
              <a:rPr sz="1275" b="1">
                <a:solidFill>
                  <a:srgbClr val="64717C"/>
                </a:solidFill>
              </a:rPr>
              <a:t>metadata_only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8E839-15CE-4920-AE00-DE17C6A1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574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4717C"/>
                </a:solidFill>
              </a:defRPr>
            </a:pPr>
            <a:r>
              <a:rPr sz="2850" b="1">
                <a:solidFill>
                  <a:srgbClr val="64717C"/>
                </a:solidFill>
              </a:rPr>
              <a:t>0.6000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DF7AA-B1A3-45A8-BD36-6F86F8E5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718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recall@1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7B65E-8ECB-4A82-A20F-5A5D2E92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4288">
            <a:solidFill>
              <a:srgbClr val="245B8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DCEBF-96FC-4BDD-BD20-3F9FDB30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</a:defRPr>
            </a:pPr>
            <a:r>
              <a:rPr sz="1275" b="1">
                <a:solidFill>
                  <a:srgbClr val="245B8F"/>
                </a:solidFill>
              </a:rPr>
              <a:t>readme_only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500F1-31AC-4C90-93C9-395E8F44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5B8F"/>
                </a:solidFill>
              </a:defRPr>
            </a:pPr>
            <a:r>
              <a:rPr sz="2850" b="1">
                <a:solidFill>
                  <a:srgbClr val="245B8F"/>
                </a:solidFill>
              </a:rPr>
              <a:t>0.5000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43AE3-FA21-42FC-B193-812779E6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recall@1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258DE-BB5F-4F79-AEF1-7BE3718A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81200"/>
            <a:ext cx="32385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4288">
            <a:solidFill>
              <a:srgbClr val="256C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80755-1388-4F94-927A-0472B7EB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526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</a:defRPr>
            </a:pPr>
            <a:r>
              <a:rPr sz="1275" b="1">
                <a:solidFill>
                  <a:srgbClr val="256C43"/>
                </a:solidFill>
              </a:rPr>
              <a:t>schema_enhanced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46F0E-A3D6-45BC-97D6-89DCC1A6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574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C43"/>
                </a:solidFill>
              </a:defRPr>
            </a:pPr>
            <a:r>
              <a:rPr sz="2850" b="1">
                <a:solidFill>
                  <a:srgbClr val="256C43"/>
                </a:solidFill>
              </a:rPr>
              <a:t>0.8000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DD2C1-23BE-4EAF-921E-A5363DB1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718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C"/>
                </a:solidFill>
              </a:defRPr>
            </a:pPr>
            <a:r>
              <a:rPr sz="1050" b="0">
                <a:solidFill>
                  <a:srgbClr val="64717C"/>
                </a:solidFill>
              </a:rPr>
              <a:t>recall@1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441BF-3319-45F0-8B52-4A4319CA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12B"/>
                </a:solidFill>
              </a:defRPr>
            </a:pPr>
            <a:r>
              <a:rPr sz="1800" b="1">
                <a:solidFill>
                  <a:srgbClr val="18212B"/>
                </a:solidFill>
              </a:rPr>
              <a:t>解释：只看文件描述不够；把真实字段、单位、时间轴和 evidence 放进检索材料后，更容易找到正确数据。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AC79D-A436-4CB8-BA57-1E8A22F3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注意：这还不是最终 benchmark，只是当前扩大后的 Dryad + Zenodo pool。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CEB5D-985D-49ED-93FF-150F0648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· 7/9</a:t>
            </a:r>
          </a:p>
        </p:txBody>
      </p:sp>
    </p:spTree>
    <p:extLst>
      <p:ext uri="{BB962C8B-B14F-4D97-AF65-F5344CB8AC3E}">
        <p14:creationId xmlns:p14="http://schemas.microsoft.com/office/powerpoint/2010/main" val="3392380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0F229-AF70-47F8-87E2-55F4D7C8B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FF7E2-2A87-4EC2-92ED-5EC17F89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AB4D9-D868-4133-AD78-E78CF740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当前限制：不是数据不够，而是语义层还要更稳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931EF-B144-4F6B-BEA0-D2635170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限制要写清楚，因为这是 study，不是演示魔法。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8E8B7-AA5A-4315-BC1A-630407BF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4FF8F-9CE1-47C6-A9F0-A1A6443F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25755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1DE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B9718-939C-49BC-A58D-EE7F8F69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Limit 1: Endpoint timeout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14F0D-3375-425B-83D9-D35D83BA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8384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Greenland cod year1 和 functional_traits 已切成字段组，但远端模型仍会超时。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5000E-A3F6-4462-9A9F-55E09FAC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5755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3BA19-F078-4D92-9776-ED60268B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Limit 2: Safe but low-yield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506C5-1C59-4CE5-BFD7-6D9696E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384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semantic merge 很保守，不会乱改 schema；但真正带来指标增益的例子还少。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3D815-60F7-4215-B891-25FF3F13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325755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C06CB-45B4-44EE-9D32-BE449BEA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</a:defRPr>
            </a:pPr>
            <a:r>
              <a:rPr sz="1500" b="1">
                <a:solidFill>
                  <a:srgbClr val="245B8F"/>
                </a:solidFill>
              </a:rPr>
              <a:t>Limit 3: Benchmark not frozen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F12EA-B6AC-4881-A1E5-46538E5E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8384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external corpus 已经进来，但最终 target / distractor 还要继续 hardening。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9DB74-4890-4BF4-A067-3C7933C2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967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解决方向：retry/backoff、group-level resume、更小字段块、更多 regression tests、冻结 benchmark。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BEC5A-ED68-4683-9CB0-EC59BF8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· 8/9</a:t>
            </a:r>
          </a:p>
        </p:txBody>
      </p:sp>
    </p:spTree>
    <p:extLst>
      <p:ext uri="{BB962C8B-B14F-4D97-AF65-F5344CB8AC3E}">
        <p14:creationId xmlns:p14="http://schemas.microsoft.com/office/powerpoint/2010/main" val="10348623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0F229-AF70-47F8-87E2-55F4D7C8B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80BCC-6EC2-4AC6-9D94-B207C768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D73A2-6E6C-4A8C-B3BF-6F70E5A9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如何收敛：从可运行到可发表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829F2-DD71-44E2-A12D-642D20F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最终目标是一个可信的研究结论，而不是一个会猜的 demo。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A51D4-7BB2-41A7-9A0A-3F4A34B6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4095B-2B54-494C-A3FA-F198B151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AA282-F381-412A-ABA6-5ACEDC75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954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稳定 semantic runner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76958-D2A1-4327-A01E-C0B1EB89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1930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支持重试、断点续跑、字段组级缓存。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152A6-9DA1-4E42-9FF5-3BCCB5F6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B0004-480E-4C90-93D8-D1DA5D19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找到 measurable gain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5807F-8840-4F7F-BCD4-B771AD32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3370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至少一个 semantic merge 能提高 gold 对齐。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012AE-2586-469B-9165-C5322EA9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BA74B-868E-4A7B-99F4-EE5E97C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242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冻结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EEA2A-F087-47A5-BCC2-E723F576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明确 target、distractor、keep、excluded。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5D3F9-E52B-4EA2-A5A5-CB69A69D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FA103-F108-4C8A-BB97-0E985B92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386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形成论文材料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63292-C00F-4C50-9EE0-5259FD6B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</a:defRPr>
            </a:pPr>
            <a:r>
              <a:rPr sz="1275" b="0">
                <a:solidFill>
                  <a:srgbClr val="64717C"/>
                </a:solidFill>
              </a:rPr>
              <a:t>方法、实验、失败模式、限制都可复现。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BFA2B-A350-49C8-89D8-3EE8D830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197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最终一句话：让 AI 的解释站在证据上，而不是站在猜测上。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55E11-0BDB-432B-9B06-92385466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</a:defRPr>
            </a:pPr>
            <a:r>
              <a:rPr sz="900" b="0">
                <a:solidFill>
                  <a:srgbClr val="64717C"/>
                </a:solidFill>
              </a:rPr>
              <a:t>High-Fidelity Schema Extraction Study · 9/9</a:t>
            </a:r>
          </a:p>
        </p:txBody>
      </p:sp>
    </p:spTree>
    <p:extLst>
      <p:ext uri="{BB962C8B-B14F-4D97-AF65-F5344CB8AC3E}">
        <p14:creationId xmlns:p14="http://schemas.microsoft.com/office/powerpoint/2010/main" val="1486773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2026-05-01T18:15:02.4840000Z</dcterms:created>
  <dcterms:modified xsi:type="dcterms:W3CDTF">2026-05-01T18:15:02.4840000Z</dcterms:modified>
</coreProperties>
</file>