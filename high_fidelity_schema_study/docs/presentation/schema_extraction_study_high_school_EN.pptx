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6dcb28dba4fb3" /><Relationship Type="http://schemas.openxmlformats.org/officeDocument/2006/relationships/extended-properties" Target="/docProps/app.xml" Id="R47abb672e46c4aa5" /><Relationship Type="http://schemas.openxmlformats.org/officeDocument/2006/relationships/officeDocument" Target="/ppt/presentation.xml" Id="R99aa3b987ab147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c966e8723f4715"/>
  </p:sldMasterIdLst>
  <p:notesMasterIdLst>
    <p:notesMasterId xmlns:r="http://schemas.openxmlformats.org/officeDocument/2006/relationships" r:id="Raa6a6c5328354ae7"/>
  </p:notesMasterIdLst>
  <p:sldIdLst>
    <p:sldId xmlns:r="http://schemas.openxmlformats.org/officeDocument/2006/relationships" id="256" r:id="Rcff51b85f0da420d"/>
    <p:sldId xmlns:r="http://schemas.openxmlformats.org/officeDocument/2006/relationships" id="257" r:id="Ra04ce68330154a42"/>
    <p:sldId xmlns:r="http://schemas.openxmlformats.org/officeDocument/2006/relationships" id="258" r:id="R3ff158f44fc5428a"/>
    <p:sldId xmlns:r="http://schemas.openxmlformats.org/officeDocument/2006/relationships" id="259" r:id="R378fcfa9f4cc4eb3"/>
    <p:sldId xmlns:r="http://schemas.openxmlformats.org/officeDocument/2006/relationships" id="260" r:id="R755e72c5ea4246df"/>
    <p:sldId xmlns:r="http://schemas.openxmlformats.org/officeDocument/2006/relationships" id="261" r:id="R4a06fc92c5524125"/>
    <p:sldId xmlns:r="http://schemas.openxmlformats.org/officeDocument/2006/relationships" id="262" r:id="R83a668469c78459c"/>
    <p:sldId xmlns:r="http://schemas.openxmlformats.org/officeDocument/2006/relationships" id="263" r:id="Rf5ea865ace744480"/>
    <p:sldId xmlns:r="http://schemas.openxmlformats.org/officeDocument/2006/relationships" id="264" r:id="R654295cfb5af4f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966e8723f4715" /><Relationship Type="http://schemas.openxmlformats.org/officeDocument/2006/relationships/theme" Target="/ppt/theme/theme1.xml" Id="R7a38829eb6084d7a" /><Relationship Type="http://schemas.openxmlformats.org/officeDocument/2006/relationships/notesMaster" Target="/ppt/notesMasters/notesMaster1.xml" Id="Raa6a6c5328354ae7" /><Relationship Type="http://schemas.openxmlformats.org/officeDocument/2006/relationships/presProps" Target="/ppt/presProps.xml" Id="Rfbb15dee26814d85" /><Relationship Type="http://schemas.openxmlformats.org/officeDocument/2006/relationships/viewProps" Target="/ppt/viewProps.xml" Id="Rc4a5e6a0035741e9" /><Relationship Type="http://schemas.openxmlformats.org/officeDocument/2006/relationships/tableStyles" Target="/ppt/tableStyles.xml" Id="Raee47512ea9144fa" /><Relationship Type="http://schemas.openxmlformats.org/officeDocument/2006/relationships/slide" Target="/ppt/slides/slide1.xml" Id="Rcff51b85f0da420d" /><Relationship Type="http://schemas.openxmlformats.org/officeDocument/2006/relationships/slide" Target="/ppt/slides/slide2.xml" Id="Ra04ce68330154a42" /><Relationship Type="http://schemas.openxmlformats.org/officeDocument/2006/relationships/slide" Target="/ppt/slides/slide3.xml" Id="R3ff158f44fc5428a" /><Relationship Type="http://schemas.openxmlformats.org/officeDocument/2006/relationships/slide" Target="/ppt/slides/slide4.xml" Id="R378fcfa9f4cc4eb3" /><Relationship Type="http://schemas.openxmlformats.org/officeDocument/2006/relationships/slide" Target="/ppt/slides/slide5.xml" Id="R755e72c5ea4246df" /><Relationship Type="http://schemas.openxmlformats.org/officeDocument/2006/relationships/slide" Target="/ppt/slides/slide6.xml" Id="R4a06fc92c5524125" /><Relationship Type="http://schemas.openxmlformats.org/officeDocument/2006/relationships/slide" Target="/ppt/slides/slide7.xml" Id="R83a668469c78459c" /><Relationship Type="http://schemas.openxmlformats.org/officeDocument/2006/relationships/slide" Target="/ppt/slides/slide8.xml" Id="Rf5ea865ace744480" /><Relationship Type="http://schemas.openxmlformats.org/officeDocument/2006/relationships/slide" Target="/ppt/slides/slide9.xml" Id="R654295cfb5af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8f2eb8e972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cecdf24f14e6a" /><Relationship Type="http://schemas.openxmlformats.org/officeDocument/2006/relationships/notesMaster" Target="/ppt/notesMasters/notesMaster1.xml" Id="Rd5982333fbbe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03b2564784ffd" /><Relationship Type="http://schemas.openxmlformats.org/officeDocument/2006/relationships/notesMaster" Target="/ppt/notesMasters/notesMaster1.xml" Id="R4ad7d0284da3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ed3c172424453f" /><Relationship Type="http://schemas.openxmlformats.org/officeDocument/2006/relationships/notesMaster" Target="/ppt/notesMasters/notesMaster1.xml" Id="Rea7f09058ada4a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c1b960d3bb4fd5" /><Relationship Type="http://schemas.openxmlformats.org/officeDocument/2006/relationships/notesMaster" Target="/ppt/notesMasters/notesMaster1.xml" Id="R45bf13f3154045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5404a799724c2c" /><Relationship Type="http://schemas.openxmlformats.org/officeDocument/2006/relationships/notesMaster" Target="/ppt/notesMasters/notesMaster1.xml" Id="R9c021ce6430b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3d725a36514217" /><Relationship Type="http://schemas.openxmlformats.org/officeDocument/2006/relationships/notesMaster" Target="/ppt/notesMasters/notesMaster1.xml" Id="Re528786a99a449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d49e07c5f54f2f" /><Relationship Type="http://schemas.openxmlformats.org/officeDocument/2006/relationships/notesMaster" Target="/ppt/notesMasters/notesMaster1.xml" Id="R98d27500750d40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930beaffed4d54" /><Relationship Type="http://schemas.openxmlformats.org/officeDocument/2006/relationships/notesMaster" Target="/ppt/notesMasters/notesMaster1.xml" Id="R32e7c7762b5448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c4dc18ff4d4368" /><Relationship Type="http://schemas.openxmlformats.org/officeDocument/2006/relationships/notesMaster" Target="/ppt/notesMasters/notesMaster1.xml" Id="R0cd6cf660b65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plain language. Keep the central contrast clear: evidence first, LLM interpretation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ffe62716143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45C0C2A-D5EC-498E-A1B5-BE216C5291D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63E5696-D1EA-4604-B7FD-9F67B3C39EB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D80401-3366-4B9D-8B7D-D9F26E249F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6B720C-86F2-4C6D-A603-7C07803A5D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cfb85e0b4844bb" /><Relationship Type="http://schemas.openxmlformats.org/officeDocument/2006/relationships/slideLayout" Target="/ppt/slideLayouts/slideLayout2.xml" Id="Re414e6ab1f6a4c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4A98DB-30BD-415A-BB1E-22D12924201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4e6ab1f6a4c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2462767544be3" /><Relationship Type="http://schemas.openxmlformats.org/officeDocument/2006/relationships/notesSlide" Target="/ppt/notesSlides/notesSlide1.xml" Id="R63943d9e79eb47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c8c00aac44d18" /><Relationship Type="http://schemas.openxmlformats.org/officeDocument/2006/relationships/notesSlide" Target="/ppt/notesSlides/notesSlide2.xml" Id="Rddf84028fd4740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6070729454bc1" /><Relationship Type="http://schemas.openxmlformats.org/officeDocument/2006/relationships/notesSlide" Target="/ppt/notesSlides/notesSlide3.xml" Id="R668c620678f642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eda954e77485a" /><Relationship Type="http://schemas.openxmlformats.org/officeDocument/2006/relationships/notesSlide" Target="/ppt/notesSlides/notesSlide4.xml" Id="Rfab32cc6076f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062260a1d47c0" /><Relationship Type="http://schemas.openxmlformats.org/officeDocument/2006/relationships/notesSlide" Target="/ppt/notesSlides/notesSlide5.xml" Id="R1a0a24677bca40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09a2f10744923" /><Relationship Type="http://schemas.openxmlformats.org/officeDocument/2006/relationships/notesSlide" Target="/ppt/notesSlides/notesSlide6.xml" Id="R6d2c2fed22b347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da81fa8ce74cf6" /><Relationship Type="http://schemas.openxmlformats.org/officeDocument/2006/relationships/notesSlide" Target="/ppt/notesSlides/notesSlide7.xml" Id="R8b510d47566647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a3ac22cc624161" /><Relationship Type="http://schemas.openxmlformats.org/officeDocument/2006/relationships/notesSlide" Target="/ppt/notesSlides/notesSlide8.xml" Id="R0140205943bb40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bb0b18d9734d38" /><Relationship Type="http://schemas.openxmlformats.org/officeDocument/2006/relationships/notesSlide" Target="/ppt/notesSlides/notesSlide9.xml" Id="R5dae8a24db6f40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3C7AB-285F-42AB-B516-EB46348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0B08F-C63A-4149-BB49-CADE1C46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62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</a:defRPr>
            </a:pPr>
            <a:r>
              <a:rPr sz="3150" b="1">
                <a:solidFill>
                  <a:srgbClr val="18212B"/>
                </a:solidFill>
              </a:rPr>
              <a:t>Stop letting AI guess data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FC3A8-1B2F-478E-B5E2-29CE1972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17C"/>
                </a:solidFill>
              </a:defRPr>
            </a:pPr>
            <a:r>
              <a:rPr sz="1650" b="0">
                <a:solidFill>
                  <a:srgbClr val="64717C"/>
                </a:solidFill>
              </a:rPr>
              <a:t>A high-school-readable introduction to a schema extraction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5269F-D14B-4E93-9953-86D0AC4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47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Core idea: first prove what is actually inside the file, then let the LLM explain only what the evidence supports.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7202D-94E1-45A3-BAAE-8BCD638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143250" cy="1123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1DE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930DD-B775-4B6B-BB2C-EF1AF05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Not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1991C-4475-40E1-89D5-BDB6CE4B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Send a file to an LLM and ask it to guess the schema.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AD6A0-A7D6-41F5-B10E-83EF241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143250" cy="1352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4B7C4-F1B3-4E85-A800-B46EE4F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This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43D66-B2AA-4D85-ACB1-9DBC989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Use a deterministic parser first, then an evidence-grounded semantic layer.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9897C-FAEC-4571-ACD8-94BA40ED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B8F"/>
                </a:solidFill>
              </a:defRPr>
            </a:pPr>
            <a:r>
              <a:rPr sz="1125" b="1">
                <a:solidFill>
                  <a:srgbClr val="245B8F"/>
                </a:solidFill>
              </a:rPr>
              <a:t>Study, not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74315-6EFA-4FE9-8568-FA4735C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957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Field-level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8A302-AA57-486E-B36C-CE234721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2286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No unsupported guessing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FDB05-87C9-4922-918C-84969536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- 1/9</a:t>
            </a:r>
          </a:p>
        </p:txBody>
      </p:sp>
    </p:spTree>
    <p:extLst>
      <p:ext uri="{BB962C8B-B14F-4D97-AF65-F5344CB8AC3E}">
        <p14:creationId xmlns:p14="http://schemas.microsoft.com/office/powerpoint/2010/main" val="641182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93437-1027-4BD7-9361-45B9C4BD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E77DD-8F97-4FA0-983D-FF4A0D4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The problem: data files often hide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B164F-1134-4313-BA7B-DFC2B194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A file may have column names, paths, or numbers, but that does not mean the meaning is obvious.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3CE1E-5EBF-4583-BB18-13F3900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7C0A6-0B65-42B1-9FE4-A45A6245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43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D9DA3-88B4-4F6F-B96C-3024736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Looks numeric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41217-AA99-4757-B981-F80445E0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00123 may be an ID, not a number you should average or multiply.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3699-A72D-46EA-847C-8636BA1B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8D4CD-6A13-4563-B9C5-DEE18C95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Looks tabular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3105D-E086-4ABB-8355-B299D58A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HDF5 can be a tree. Flattening it into one table can destroy structure.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B93B7-E51A-46C4-8565-02D7570C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B12E0-0829-4C5D-A5D8-62EE6AF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Looks like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4C9A8-D002-4A3D-BFCF-533834B0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Frequency, missing intervals, and time zones must be computed, not guessed.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9D6B6-9E10-449E-899F-51C90ECC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42318"/>
                </a:solidFill>
              </a:defRPr>
            </a:pPr>
            <a:r>
              <a:rPr sz="1875" b="1">
                <a:solidFill>
                  <a:srgbClr val="B42318"/>
                </a:solidFill>
              </a:rPr>
              <a:t>If an LLM guesses directly, it can invent fields, assign the wrong unit, or give a confident explanation with no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2F657-31D7-4E5D-9A7F-5769E9A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- 2/9</a:t>
            </a:r>
          </a:p>
        </p:txBody>
      </p:sp>
    </p:spTree>
    <p:extLst>
      <p:ext uri="{BB962C8B-B14F-4D97-AF65-F5344CB8AC3E}">
        <p14:creationId xmlns:p14="http://schemas.microsoft.com/office/powerpoint/2010/main" val="406270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CC50B-47AD-40A0-A450-19B2DE6B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42B5E-9ABC-46D9-9396-3D46F98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The decision: prove structure, then explain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0BA66-B2FE-4100-BEF7-1637354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This is the core boundary: the LLM cannot invent schema elements.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17A41-9F20-4B7A-A910-7C7D7B3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112B1-93EC-4D5A-9050-55C3A21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47675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0A111-146C-4316-B68E-E57183B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What does the parser do?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FBF39-DD61-40EF-9004-22D643DD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4057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It reads what is really present: column names, data types, HDF5 paths, shapes, attributes, missingness, and time intervals.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81AF7-5A36-4D71-A8F2-D38B4AA3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47675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55312-DB66-4D93-9252-1361634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71700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What does the LLM 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BCE13-19A6-41DF-8917-A7F8BD60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4057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It explains within the evidence: abbreviations, field descriptions, semantic types, and low-risk metadata. If evidence is missing, output unknown.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2FF4-C640-4EF9-84C7-26090CE3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381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17C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C"/>
                </a:solidFill>
              </a:defRPr>
            </a:pPr>
            <a:r>
              <a:rPr sz="1200" b="1">
                <a:solidFill>
                  <a:srgbClr val="64717C"/>
                </a:solidFill>
              </a:rPr>
              <a:t>then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962F8-034B-440D-AA3C-32610236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Rule: an LLM inference cannot override explicit metadata from the 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BD1E5-E79C-45C8-B4B7-E0D57150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- 3/9</a:t>
            </a:r>
          </a:p>
        </p:txBody>
      </p:sp>
    </p:spTree>
    <p:extLst>
      <p:ext uri="{BB962C8B-B14F-4D97-AF65-F5344CB8AC3E}">
        <p14:creationId xmlns:p14="http://schemas.microsoft.com/office/powerpoint/2010/main" val="426295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D079-C4FE-40EA-B20D-615E421A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CB88D-CBCB-4A62-BAB6-6FFD592A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The method: evidence-grounded schema extraction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891ED-D5F7-48F3-95F1-738EBA3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Every step keeps evidence, so the schema is traced back to the file.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E0690-2F13-4BB3-9A93-F59C953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C38F9-89C5-4BA6-8B5B-9B504401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17C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C"/>
                </a:solidFill>
              </a:defRPr>
            </a:pPr>
            <a:r>
              <a:rPr sz="1200" b="1">
                <a:solidFill>
                  <a:srgbClr val="64717C"/>
                </a:solidFill>
              </a:rPr>
              <a:t>Raw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1F984-F939-44E3-90C2-DEC3F6D8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B8F"/>
                </a:solidFill>
              </a:defRPr>
            </a:pPr>
            <a:r>
              <a:rPr sz="1200" b="1">
                <a:solidFill>
                  <a:srgbClr val="245B8F"/>
                </a:solidFill>
              </a:rPr>
              <a:t>Detect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4199B-4A6B-429D-9478-2A05F5B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Extract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BFB92-5F94-4249-BB9E-EB1C7E27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Capture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95D49-E6A0-4480-AA46-5D1F23C6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91F"/>
                </a:solidFill>
              </a:defRPr>
            </a:pPr>
            <a:r>
              <a:rPr sz="1200" b="1">
                <a:solidFill>
                  <a:srgbClr val="B7791F"/>
                </a:solidFill>
              </a:rPr>
              <a:t>Add 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B2027-2E9F-43A7-9F19-168B924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C43"/>
                </a:solidFill>
              </a:defRPr>
            </a:pPr>
            <a:r>
              <a:rPr sz="1200" b="1">
                <a:solidFill>
                  <a:srgbClr val="256C43"/>
                </a:solidFill>
              </a:rPr>
              <a:t>Evaluate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67772-2AD0-40F9-82CF-CFC5B06D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480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3DC73-2720-447C-AB53-1FA2FDE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Physical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64586-5F11-4279-B4F8-73FBE6DE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What exists: columns, dtype, path, shape, missingness.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88C2B-FA3C-48E4-BEC6-F66C80A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285F1-A08B-4DD2-A2C1-205D6E35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86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Logical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0B984-1B45-4DDE-AA5A-F0234480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How data is organized: time axis, ID, measurement, relationship.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54E78-33CD-40C0-BEA9-8AB5E8DB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0480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47C6-0720-444D-B3D4-1A03CF61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Semantic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53E20-8796-4A84-B178-FCFCD2EE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Human meaning: temperature, unit, station, research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51133-5E2D-4276-88B8-E5BAD6F1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- 4/9</a:t>
            </a:r>
          </a:p>
        </p:txBody>
      </p:sp>
    </p:spTree>
    <p:extLst>
      <p:ext uri="{BB962C8B-B14F-4D97-AF65-F5344CB8AC3E}">
        <p14:creationId xmlns:p14="http://schemas.microsoft.com/office/powerpoint/2010/main" val="1669069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8F83E-761D-43DC-948C-03BA1596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1D023-C5DA-4044-9288-789C58A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Key terms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17972-3B3B-4B70-989D-EAB381D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These words explain how the experiment is designed.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EABDE-B2F7-4942-B377-FC016E7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B4E87-29C1-4456-B359-0644AD0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71366-237D-48C5-9B91-9B05D0FA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D5959-FBB6-47A7-AE32-BC68BEF2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A small controlled dataset set used to check whether the pipeline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687DC-716B-4175-A107-8FE20678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18C1A-B7D0-4616-85E3-207972A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C43"/>
                </a:solidFill>
              </a:defRPr>
            </a:pPr>
            <a:r>
              <a:rPr sz="1500" b="1">
                <a:solidFill>
                  <a:srgbClr val="256C43"/>
                </a:solidFill>
              </a:rPr>
              <a:t>Gold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F3910-118A-4647-B82A-8EE148BB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A human-written answer key. System outputs are judged against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3F85F-8BB2-48BD-A61F-34228371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3544B-5D4F-4425-8F05-300986BF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External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22E0E-97CF-422A-93A6-BF780973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Real public data from Dryad and Zenodo, not hand-built examples.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30787-D06E-4636-951E-0089395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A9AD8-3C70-480B-BA3F-0C98755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Distractor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1C7C9-13C5-4AE7-8117-5B36184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A file placed in retrieval to see whether the system picks the wrong 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5C9A7-54F4-47C3-9CB5-7D604F16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Same-family distractors are harder: they come from the same data bundle and share words, context, and field patterns.</a:t>
            </a:r>
          </a:p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Cross-domain distractors are broader: they come from different topics and test general robustness.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96DFB-B3D5-4338-B761-2D9F96FC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- 5/9</a:t>
            </a:r>
          </a:p>
        </p:txBody>
      </p:sp>
    </p:spTree>
    <p:extLst>
      <p:ext uri="{BB962C8B-B14F-4D97-AF65-F5344CB8AC3E}">
        <p14:creationId xmlns:p14="http://schemas.microsoft.com/office/powerpoint/2010/main" val="1929891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6B566-672B-45A6-A0FC-16E16849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6300A-E3DC-4B3A-B414-788E6402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What has been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68418-C8A1-46B1-A3E7-129786D0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The project has moved from a scaffold to a working research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22C6-B975-4892-97E9-7B71D36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D1439-BA92-4833-9A74-FE9C9072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15C73-3E2F-4332-9A80-EBF63DD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</a:defRPr>
            </a:pPr>
            <a:r>
              <a:rPr sz="1275" b="1">
                <a:solidFill>
                  <a:srgbClr val="245B8F"/>
                </a:solidFill>
              </a:rPr>
              <a:t>Internal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C474D-547C-49DF-89D4-3B11744A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5B8F"/>
                </a:solidFill>
              </a:defRPr>
            </a:pPr>
            <a:r>
              <a:rPr sz="2850" b="1">
                <a:solidFill>
                  <a:srgbClr val="245B8F"/>
                </a:solidFill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80FB6-DEE9-4ECE-A355-8983785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CSV / HDF5 / time-series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538FC-9466-4D9E-B049-C26E48A1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1428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5F0AC-696E-48CE-93AC-1FFF0F8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External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DB006-8DD1-41AA-A6CE-4BF00A16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D53DB-63FD-4799-BCB6-BB5766DA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Dryad + Zenodo, all derived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275B3-E640-440E-9D14-41A492F2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14288">
            <a:solidFill>
              <a:srgbClr val="B7791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656E1-AFF5-4628-86F1-0BBB92F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Retrieval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67B1E-85CC-44CE-AF7D-EBDA2AB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7791F"/>
                </a:solidFill>
              </a:defRPr>
            </a:pPr>
            <a:r>
              <a:rPr sz="2850" b="1">
                <a:solidFill>
                  <a:srgbClr val="B7791F"/>
                </a:solidFill>
              </a:rPr>
              <a:t>10 + 6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07C0B-EEF7-4A3F-8688-B5368DE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targets + distractors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5D7E0-8727-4ED4-AED0-3895DB82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143250" cy="1162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97871-B3F4-4CEF-8D85-42923D4D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Deterministic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84E44-69B8-49ED-80F6-AEF3180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Field-level evaluation, uncertainty, and error modes now exist.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40A6D-A4A2-4CC3-B753-247C1E1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3143250" cy="1162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0C36D-4200-4638-BBE6-0F1AC4C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Retrieval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EBE95-7F75-44A4-B2CB-0F5A3E2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577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72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metadata, README, and schema-enhanced artifacts can be compared.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94A26-9F46-45A7-ACD7-8F94ADB8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3143250" cy="1162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03A23-D3B1-4490-A36A-780B66B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Semantic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6F450-6CC5-45B7-A5CA-F36DC8B0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Annotation, validation, and merge-back work, but gains are not stable yet.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173E25-80EB-4441-A73E-769B36D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- 6/9</a:t>
            </a:r>
          </a:p>
        </p:txBody>
      </p:sp>
    </p:spTree>
    <p:extLst>
      <p:ext uri="{BB962C8B-B14F-4D97-AF65-F5344CB8AC3E}">
        <p14:creationId xmlns:p14="http://schemas.microsoft.com/office/powerpoint/2010/main" val="1673509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79E89-A5CC-43EE-AD3E-04558992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DBCA7-8A4C-48E7-A1FF-09710260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Current result: schema helps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B1E28-09C2-4512-8A18-C4F8B5B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Comparison over 16 real external files and 10 planted target queries.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2D5DB-C22C-405D-9A8F-85ABA48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BA844-4F89-41B4-BFCE-709336B1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71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06740-C32C-4A3B-A550-9A0ECF46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52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17C"/>
                </a:solidFill>
              </a:defRPr>
            </a:pPr>
            <a:r>
              <a:rPr sz="1275" b="1">
                <a:solidFill>
                  <a:srgbClr val="64717C"/>
                </a:solidFill>
              </a:rPr>
              <a:t>metadata_only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0E6C8-464E-4F74-AE4B-BF1E2E5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574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4717C"/>
                </a:solidFill>
              </a:defRPr>
            </a:pPr>
            <a:r>
              <a:rPr sz="2850" b="1">
                <a:solidFill>
                  <a:srgbClr val="64717C"/>
                </a:solidFill>
              </a:rPr>
              <a:t>0.6000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8071A-53F2-4363-BA92-8BB3283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718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recall@1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D81EB-5B34-4499-A7A8-59F0F9D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245B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2AC60-3ED8-4B7F-B1D6-E4BD51E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</a:defRPr>
            </a:pPr>
            <a:r>
              <a:rPr sz="1275" b="1">
                <a:solidFill>
                  <a:srgbClr val="245B8F"/>
                </a:solidFill>
              </a:rPr>
              <a:t>readme_only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8FB25-33AF-41E6-9235-C34F4A4B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5B8F"/>
                </a:solidFill>
              </a:defRPr>
            </a:pPr>
            <a:r>
              <a:rPr sz="2850" b="1">
                <a:solidFill>
                  <a:srgbClr val="245B8F"/>
                </a:solidFill>
              </a:rPr>
              <a:t>0.5000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E1C0D-C599-4BDD-B664-251F8CE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recall@1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F7B1D-B4E5-4AB2-B8B0-45CD7A2C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20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4288">
            <a:solidFill>
              <a:srgbClr val="256C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D39AA-CE32-4059-BA71-93EDC2C6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52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</a:defRPr>
            </a:pPr>
            <a:r>
              <a:rPr sz="1275" b="1">
                <a:solidFill>
                  <a:srgbClr val="256C43"/>
                </a:solidFill>
              </a:rPr>
              <a:t>schema_enhanced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8F02E-8F13-4CF9-9349-DFFA8408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574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C43"/>
                </a:solidFill>
              </a:defRPr>
            </a:pPr>
            <a:r>
              <a:rPr sz="2850" b="1">
                <a:solidFill>
                  <a:srgbClr val="256C43"/>
                </a:solidFill>
              </a:rPr>
              <a:t>0.8000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215E7-5BB5-4FA8-9F19-1516177D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718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recall@1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4726C-1AB6-4CE4-BBFD-38AA02DB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12B"/>
                </a:solidFill>
              </a:defRPr>
            </a:pPr>
            <a:r>
              <a:rPr sz="1800" b="1">
                <a:solidFill>
                  <a:srgbClr val="18212B"/>
                </a:solidFill>
              </a:rPr>
              <a:t>Meaning: file descriptions alone are not enough. Adding real fields, units, time axes, and evidence makes the right dataset easier to find.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40C67-272E-4C42-A6AB-F553E13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Caveat: this is the current expanded Dryad + Zenodo pool, not the final frozen benchmark.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67CA4-0635-48DA-96F1-7A11CCEB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- 7/9</a:t>
            </a:r>
          </a:p>
        </p:txBody>
      </p:sp>
    </p:spTree>
    <p:extLst>
      <p:ext uri="{BB962C8B-B14F-4D97-AF65-F5344CB8AC3E}">
        <p14:creationId xmlns:p14="http://schemas.microsoft.com/office/powerpoint/2010/main" val="352334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D2C0-D6B6-4196-9E8B-DE7D73B4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7557D-62F6-48FD-BDC2-C6844120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Current limits: the semantic layer needs more stability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F1452-0A05-4FB1-9658-6AABEE2C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The corpus is no longer the main blocker; execution reliability 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312AB-F2C0-432D-AD59-1566529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70749-8FBE-456B-8B51-5197C88E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25755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1DE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CBE20-8CEE-43E1-93DC-5ABA11CA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Limit 1: Endpoint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FFECA-D3AE-448B-9870-DDE8978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838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Greenland cod year1 and functional_traits are already split into field groups, but the remote model still times 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ED5A6-9FA0-4098-BCDF-7ADC8FA2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5755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D4507-C6EF-4974-99E0-61D6415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Limit 2: Safe but low-yield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7579D-43F4-46AB-9EED-3CE9F1F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38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Semantic merge is conservative and does not pollute schemas, but accepted gains are still rare.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B2594-82E5-4D0C-BF57-367C913D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25755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A2F99-6B40-478B-95E3-16522D9F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Limit 3: Benchmark not frozen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3B05A-827A-4FB2-9C02-9CED89B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38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The external corpus is integrated, but final target and distractor roles still need hardening.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1B9E5-0F6A-4980-AAA9-6E479F5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472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Fix path: retry/backoff, group-level resume, smaller field chunks, more regression tests, and a frozen benchmark.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536AB-3E07-489A-89E7-FD3F1A2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- 8/9</a:t>
            </a:r>
          </a:p>
        </p:txBody>
      </p:sp>
    </p:spTree>
    <p:extLst>
      <p:ext uri="{BB962C8B-B14F-4D97-AF65-F5344CB8AC3E}">
        <p14:creationId xmlns:p14="http://schemas.microsoft.com/office/powerpoint/2010/main" val="1948004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7E09F-9FF8-4422-8493-DBC9D2340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D8C48-E1F4-4145-A167-C6714B3F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6F0EF-2640-4B23-9FBD-53F59FFA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How the work converges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D8131-A6B8-4888-A0C8-E9CF86D9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The final goal is a trustworthy study result, not a guessing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108CD-164E-4848-B4B8-34763C97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232B8-816E-497C-8F5E-D3147E65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8D64B-C3CE-475F-B762-BAA0A00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95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Stabilize the semantic runner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A8E29-8FB0-48C5-9585-B1F6BCDB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193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Add retry, resume, and field-group caching.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BD4F5-A364-4732-89B5-9B72F24F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E975B-3D68-4403-B2C8-DD4154BA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Find measurable gain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0B01C-1427-41D3-9A08-37B1CE2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At least one semantic merge should improve gold alignment.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28F48-9FDA-4F0A-920D-538A299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E5ED9-0C18-45F8-89D1-6BF5DEF7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Freeze the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0CEDA-AB87-4141-B00E-AAAB485C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Make target, distractor, keep, and excluded roles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22A63-7299-4E67-AD73-56E3D209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8C688-EF3E-44A7-8DF6-BE12815F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Prepare paper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973F1-63CC-41CD-9A82-B782B2E2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Method, experiments, failure modes, and limits should be reproducible.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E3172-5A22-4D73-8361-F29BEB91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197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Final message: AI explanations should stand on evidence, not on guessing.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409CA-F191-4EEE-913A-320B2A77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- 9/9</a:t>
            </a:r>
          </a:p>
        </p:txBody>
      </p:sp>
    </p:spTree>
    <p:extLst>
      <p:ext uri="{BB962C8B-B14F-4D97-AF65-F5344CB8AC3E}">
        <p14:creationId xmlns:p14="http://schemas.microsoft.com/office/powerpoint/2010/main" val="503629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2026-05-01T18:23:27.6210000Z</dcterms:created>
  <dcterms:modified xsi:type="dcterms:W3CDTF">2026-05-01T18:23:27.6210000Z</dcterms:modified>
</coreProperties>
</file>