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fbf63a43e441cd" /><Relationship Type="http://schemas.openxmlformats.org/officeDocument/2006/relationships/extended-properties" Target="/docProps/app.xml" Id="R2921f333491848ba" /><Relationship Type="http://schemas.openxmlformats.org/officeDocument/2006/relationships/officeDocument" Target="/ppt/presentation.xml" Id="R7ee28c64336f40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834f9ae078432f"/>
  </p:sldMasterIdLst>
  <p:notesMasterIdLst>
    <p:notesMasterId xmlns:r="http://schemas.openxmlformats.org/officeDocument/2006/relationships" r:id="Ra91807b67faf480d"/>
  </p:notesMasterIdLst>
  <p:sldIdLst>
    <p:sldId xmlns:r="http://schemas.openxmlformats.org/officeDocument/2006/relationships" id="256" r:id="Ra138c7eb7c8e45a6"/>
    <p:sldId xmlns:r="http://schemas.openxmlformats.org/officeDocument/2006/relationships" id="257" r:id="R007dc9a567064def"/>
    <p:sldId xmlns:r="http://schemas.openxmlformats.org/officeDocument/2006/relationships" id="258" r:id="Rc2d589d1ce984fcc"/>
    <p:sldId xmlns:r="http://schemas.openxmlformats.org/officeDocument/2006/relationships" id="259" r:id="R3644aae436f24b9a"/>
    <p:sldId xmlns:r="http://schemas.openxmlformats.org/officeDocument/2006/relationships" id="260" r:id="R08919e2a35d949af"/>
    <p:sldId xmlns:r="http://schemas.openxmlformats.org/officeDocument/2006/relationships" id="261" r:id="Ra9a5424ab0fe4412"/>
    <p:sldId xmlns:r="http://schemas.openxmlformats.org/officeDocument/2006/relationships" id="262" r:id="Rde1a292b59ca4e44"/>
    <p:sldId xmlns:r="http://schemas.openxmlformats.org/officeDocument/2006/relationships" id="263" r:id="Rf14fc9bd41774908"/>
    <p:sldId xmlns:r="http://schemas.openxmlformats.org/officeDocument/2006/relationships" id="264" r:id="R66ce907d2cfa4d93"/>
    <p:sldId xmlns:r="http://schemas.openxmlformats.org/officeDocument/2006/relationships" id="265" r:id="R66fa34e955a84bc4"/>
    <p:sldId xmlns:r="http://schemas.openxmlformats.org/officeDocument/2006/relationships" id="266" r:id="R5e77d4a579a44b6f"/>
    <p:sldId xmlns:r="http://schemas.openxmlformats.org/officeDocument/2006/relationships" id="267" r:id="Rd452f37f56524c9d"/>
    <p:sldId xmlns:r="http://schemas.openxmlformats.org/officeDocument/2006/relationships" id="268" r:id="Re684b8c798b5411f"/>
    <p:sldId xmlns:r="http://schemas.openxmlformats.org/officeDocument/2006/relationships" id="269" r:id="R198c6c73198d4a72"/>
    <p:sldId xmlns:r="http://schemas.openxmlformats.org/officeDocument/2006/relationships" id="270" r:id="Rd4338dd4a6cc42cb"/>
    <p:sldId xmlns:r="http://schemas.openxmlformats.org/officeDocument/2006/relationships" id="271" r:id="Re33d1d8b573b4b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be0ca8e554cf9" /><Relationship Type="http://schemas.openxmlformats.org/officeDocument/2006/relationships/slideMaster" Target="/ppt/slideMasters/slideMaster1.xml" Id="Re2834f9ae078432f" /><Relationship Type="http://schemas.openxmlformats.org/officeDocument/2006/relationships/notesMaster" Target="/ppt/notesMasters/notesMaster1.xml" Id="Ra91807b67faf480d" /><Relationship Type="http://schemas.openxmlformats.org/officeDocument/2006/relationships/presProps" Target="/ppt/presProps.xml" Id="Rccc7527f49a947ee" /><Relationship Type="http://schemas.openxmlformats.org/officeDocument/2006/relationships/tableStyles" Target="/ppt/tableStyles.xml" Id="R2ac0b7679e154531" /><Relationship Type="http://schemas.openxmlformats.org/officeDocument/2006/relationships/slide" Target="/ppt/slides/slide1.xml" Id="Ra138c7eb7c8e45a6" /><Relationship Type="http://schemas.openxmlformats.org/officeDocument/2006/relationships/slide" Target="/ppt/slides/slide2.xml" Id="R007dc9a567064def" /><Relationship Type="http://schemas.openxmlformats.org/officeDocument/2006/relationships/slide" Target="/ppt/slides/slide3.xml" Id="Rc2d589d1ce984fcc" /><Relationship Type="http://schemas.openxmlformats.org/officeDocument/2006/relationships/slide" Target="/ppt/slides/slide4.xml" Id="R3644aae436f24b9a" /><Relationship Type="http://schemas.openxmlformats.org/officeDocument/2006/relationships/slide" Target="/ppt/slides/slide5.xml" Id="R08919e2a35d949af" /><Relationship Type="http://schemas.openxmlformats.org/officeDocument/2006/relationships/slide" Target="/ppt/slides/slide6.xml" Id="Ra9a5424ab0fe4412" /><Relationship Type="http://schemas.openxmlformats.org/officeDocument/2006/relationships/slide" Target="/ppt/slides/slide7.xml" Id="Rde1a292b59ca4e44" /><Relationship Type="http://schemas.openxmlformats.org/officeDocument/2006/relationships/slide" Target="/ppt/slides/slide8.xml" Id="Rf14fc9bd41774908" /><Relationship Type="http://schemas.openxmlformats.org/officeDocument/2006/relationships/slide" Target="/ppt/slides/slide9.xml" Id="R66ce907d2cfa4d93" /><Relationship Type="http://schemas.openxmlformats.org/officeDocument/2006/relationships/slide" Target="/ppt/slides/slide10.xml" Id="R66fa34e955a84bc4" /><Relationship Type="http://schemas.openxmlformats.org/officeDocument/2006/relationships/slide" Target="/ppt/slides/slide11.xml" Id="R5e77d4a579a44b6f" /><Relationship Type="http://schemas.openxmlformats.org/officeDocument/2006/relationships/slide" Target="/ppt/slides/slide12.xml" Id="Rd452f37f56524c9d" /><Relationship Type="http://schemas.openxmlformats.org/officeDocument/2006/relationships/slide" Target="/ppt/slides/slide13.xml" Id="Re684b8c798b5411f" /><Relationship Type="http://schemas.openxmlformats.org/officeDocument/2006/relationships/slide" Target="/ppt/slides/slide14.xml" Id="R198c6c73198d4a72" /><Relationship Type="http://schemas.openxmlformats.org/officeDocument/2006/relationships/slide" Target="/ppt/slides/slide15.xml" Id="Rd4338dd4a6cc42cb" /><Relationship Type="http://schemas.openxmlformats.org/officeDocument/2006/relationships/slide" Target="/ppt/slides/slide16.xml" Id="Re33d1d8b573b4b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0388fc368f4c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1df9f41974d90" /><Relationship Type="http://schemas.openxmlformats.org/officeDocument/2006/relationships/notesMaster" Target="/ppt/notesMasters/notesMaster1.xml" Id="R1a8b13829d0241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6c40e0173ef42bb" /><Relationship Type="http://schemas.openxmlformats.org/officeDocument/2006/relationships/notesMaster" Target="/ppt/notesMasters/notesMaster1.xml" Id="R0a7719e5298e4d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bb038564f24714" /><Relationship Type="http://schemas.openxmlformats.org/officeDocument/2006/relationships/notesMaster" Target="/ppt/notesMasters/notesMaster1.xml" Id="Rae13f086bd70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6a658a62af4616" /><Relationship Type="http://schemas.openxmlformats.org/officeDocument/2006/relationships/notesMaster" Target="/ppt/notesMasters/notesMaster1.xml" Id="Rbac38d531b684d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5262ee74164bf2" /><Relationship Type="http://schemas.openxmlformats.org/officeDocument/2006/relationships/notesMaster" Target="/ppt/notesMasters/notesMaster1.xml" Id="Rf9d4926c61b748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3f976206c14f72" /><Relationship Type="http://schemas.openxmlformats.org/officeDocument/2006/relationships/notesMaster" Target="/ppt/notesMasters/notesMaster1.xml" Id="R7b47e94cf8064e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71eed4338a4c28" /><Relationship Type="http://schemas.openxmlformats.org/officeDocument/2006/relationships/notesMaster" Target="/ppt/notesMasters/notesMaster1.xml" Id="Rc4859d6a1fb44d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496ec841804159" /><Relationship Type="http://schemas.openxmlformats.org/officeDocument/2006/relationships/notesMaster" Target="/ppt/notesMasters/notesMaster1.xml" Id="Rf5614eb7d70b43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40adaadb204413" /><Relationship Type="http://schemas.openxmlformats.org/officeDocument/2006/relationships/notesMaster" Target="/ppt/notesMasters/notesMaster1.xml" Id="R9c636c51656046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03011567e714491" /><Relationship Type="http://schemas.openxmlformats.org/officeDocument/2006/relationships/notesMaster" Target="/ppt/notesMasters/notesMaster1.xml" Id="R7c022c62dbfd4a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007c2b43bb4c10" /><Relationship Type="http://schemas.openxmlformats.org/officeDocument/2006/relationships/notesMaster" Target="/ppt/notesMasters/notesMaster1.xml" Id="R876744c5e63448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6710b86b0d459b" /><Relationship Type="http://schemas.openxmlformats.org/officeDocument/2006/relationships/notesMaster" Target="/ppt/notesMasters/notesMaster1.xml" Id="Rc20c22eaff4748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5d094662224ba1" /><Relationship Type="http://schemas.openxmlformats.org/officeDocument/2006/relationships/notesMaster" Target="/ppt/notesMasters/notesMaster1.xml" Id="Rb8355539c4ef4a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bb5ea52f484ebb" /><Relationship Type="http://schemas.openxmlformats.org/officeDocument/2006/relationships/notesMaster" Target="/ppt/notesMasters/notesMaster1.xml" Id="Rfe5af19f597746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e99fccaf0f4375" /><Relationship Type="http://schemas.openxmlformats.org/officeDocument/2006/relationships/notesMaster" Target="/ppt/notesMasters/notesMaster1.xml" Id="Rfd1fd9cf320a41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7b048fe6d584bf9" /><Relationship Type="http://schemas.openxmlformats.org/officeDocument/2006/relationships/notesMaster" Target="/ppt/notesMasters/notesMaster1.xml" Id="R62862c1677fc4d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开场强调：这不是凭空设计的架构。本 PPT 完全基于代码库的真实实现：cli.py、extractors/registry.py、各个具体的 extractor 模块、semantic_layer.py、unified_schema.py、provenance 测试文件以及相关文档。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仓库将模式提取定位为后续检索或智能体使用的受控基底。其目标不是进行宽泛的自主解读，而是提供一个高保真、可辩护的 Schema 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本页罗列了真实的入口函数。对于技术受众，重点在于 extract_path 是通用的路由路径，而旧的 CSV/HDF5 命令主要是为了向下兼容。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这是来自 registry.py 的具体支持格式列表。需要阐明 Zarr 是目录存储（directory_store），而大部分其他格式是单文件。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用这张图说明整体流水线。要明确指出，LLM 并不处于规范提取的主干流程中，它只是在确定性成果之上的可选辅助增强。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 tests/test_extractor_registry.py 进行讲解：例如 HDF5 魔数与 CSV Hint 冲突时会选择弃权；未知二进制文件返回 raw_binary，并将字段主张策略设为 abstain。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本页作为一个密集的格式目录。听众不需要每个解析器的代码细节，但要明确函数的命名 and 提取的边界。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说明这是一种“受控的富化”：代码计算时间网格、单位映射、缺失率和标识符质量，但在证据薄弱的地方诚实地记录不确定性。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这契合了对三层结构的区分：原始输入、中间结构化表示、受控 Schema 以及验证后的最终输出。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务必准确：不要让听众误以为 LLM 是规范提取流水线的一部分。它是一个在确定性结果之上的、被验证和合并规则所守护的下游富化路径。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本页汇总了主要的受控面：数据类字段、允许的逻辑类型、主张状态词汇、显式声明的提取器能力、单位别名表以及合并策略。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用此图讲解验证闭环。强调错误模式是系统的一等公民状态和 issue 码，而不是对用户隐藏的异常。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提到 tests/test_unified_schema.py 验证了所有支持的主张都包含有效的 evidence_refs，且对应的证据 ID 均能被成功解析。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 Schema 仍然作为权威且不受影响。统一信封是增量合入的，测试套件对此进行了严格校验。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这是局限性说明页。诚实地指出我们缺失的控制机制；这是本项目的信任模型的核心部分。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结尾再次强调研究态度：当前管道已经是受控且可审计的，后续工作应当专注于提升覆盖面和验证精度，而不是将其变成一个“端到端 LLM 盲猜器”。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a95cc9f6d545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f44a12b8d34a34" /><Relationship Type="http://schemas.openxmlformats.org/officeDocument/2006/relationships/slideLayout" Target="/ppt/slideLayouts/slideLayout1.xml" Id="R5892f9398c4e4f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92f9398c4e4f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d59a7a86d4b53" /><Relationship Type="http://schemas.openxmlformats.org/officeDocument/2006/relationships/notesSlide" Target="/ppt/notesSlides/notesSlide1.xml" Id="R28bd23c3962b4f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7c63f15de4b3a" /><Relationship Type="http://schemas.openxmlformats.org/officeDocument/2006/relationships/notesSlide" Target="/ppt/notesSlides/notesSlide2.xml" Id="R047beef332124f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5020d0cd44dfa" /><Relationship Type="http://schemas.openxmlformats.org/officeDocument/2006/relationships/notesSlide" Target="/ppt/notesSlides/notesSlide3.xml" Id="Re7046b8a8f7342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1d9c42e674117" /><Relationship Type="http://schemas.openxmlformats.org/officeDocument/2006/relationships/notesSlide" Target="/ppt/notesSlides/notesSlide4.xml" Id="Ra4a5dcc3f9b641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47e40cc06457b" /><Relationship Type="http://schemas.openxmlformats.org/officeDocument/2006/relationships/notesSlide" Target="/ppt/notesSlides/notesSlide5.xml" Id="R79e4e007d91142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72cbaf16145c4" /><Relationship Type="http://schemas.openxmlformats.org/officeDocument/2006/relationships/notesSlide" Target="/ppt/notesSlides/notesSlide6.xml" Id="Ra87e30dbb86343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ae37b074843ac" /><Relationship Type="http://schemas.openxmlformats.org/officeDocument/2006/relationships/notesSlide" Target="/ppt/notesSlides/notesSlide7.xml" Id="Rf99c62f9cab042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0252fbcd140ea" /><Relationship Type="http://schemas.openxmlformats.org/officeDocument/2006/relationships/notesSlide" Target="/ppt/notesSlides/notesSlide8.xml" Id="Rb6962988ab254f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f5f313f8c4e9b" /><Relationship Type="http://schemas.openxmlformats.org/officeDocument/2006/relationships/notesSlide" Target="/ppt/notesSlides/notesSlide9.xml" Id="Rcc05ba55224841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dee7c965f43d8" /><Relationship Type="http://schemas.openxmlformats.org/officeDocument/2006/relationships/notesSlide" Target="/ppt/notesSlides/notesSlide10.xml" Id="Re72f2873eb8a42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6dac8b1724019" /><Relationship Type="http://schemas.openxmlformats.org/officeDocument/2006/relationships/notesSlide" Target="/ppt/notesSlides/notesSlide11.xml" Id="Rf2230b4084e74a4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2e8f02d414f98" /><Relationship Type="http://schemas.openxmlformats.org/officeDocument/2006/relationships/notesSlide" Target="/ppt/notesSlides/notesSlide12.xml" Id="R95996c1daeb249d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ee50773354590" /><Relationship Type="http://schemas.openxmlformats.org/officeDocument/2006/relationships/notesSlide" Target="/ppt/notesSlides/notesSlide13.xml" Id="R784a6dfd8e464f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f6dffa7ca468a" /><Relationship Type="http://schemas.openxmlformats.org/officeDocument/2006/relationships/notesSlide" Target="/ppt/notesSlides/notesSlide14.xml" Id="R2399f15b9739458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6c9b784f84ec8" /><Relationship Type="http://schemas.openxmlformats.org/officeDocument/2006/relationships/notesSlide" Target="/ppt/notesSlides/notesSlide15.xml" Id="R31d1712a89024a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82baef1f84e6f" /><Relationship Type="http://schemas.openxmlformats.org/officeDocument/2006/relationships/notesSlide" Target="/ppt/notesSlides/notesSlide16.xml" Id="Rf502eefa628949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92F83-4673-47F2-B76C-88C97BF1B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6468B-BCAB-46AB-8522-5A1AFB2D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66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从原始数据到可信模式输出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62F73-9C3D-4AB9-9108-61B32016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基于代码走读的当前仓库数据处理管道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8DAFC-0DD4-4110-A014-F4508AE5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64770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8DB994-7EA6-4BD0-9772-E79AA961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76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53131-619F-4548-A236-43634B8A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6115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规范性立场：确定性优先提取、基于证据的主张、显式的未知/冲突/弃权状态。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C3796C-A7E4-4014-B369-1CE8777A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00100"/>
            <a:ext cx="3143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9DF291-6CAE-44DA-9271-CF86C3E7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9334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主入口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69DD57-5613-407C-A47A-7DBADC1C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extractors/registry.py::extract_path(ExtractionRequest)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D22CF5-9806-428C-9DD6-E5DAE1A6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143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5D178E-0D1B-4BA9-B47E-91ED01C9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输出格式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AFA74C-0364-46D1-A0EB-F4011954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908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ExtractionOutcome.to_dict() 与 unified_schema.py::build_unified_schema_envelope()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4797D6-D8E0-4534-901A-7F152EB4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67100"/>
            <a:ext cx="3143250" cy="1066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30B40-3D7B-480F-A943-1212A1F3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0450"/>
            <a:ext cx="2800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可选语义层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6F214-5D22-4602-9A70-E9A884CB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2800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809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semantic_annotate.py 与 merge_semantic_annotations.py；下游处理，受证据约束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EC1A1C-FF45-4DFB-9FD4-60C7E508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3050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拒绝 LLM 盲猜模式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34E75-DB4E-4EE9-9CCE-4FDDC8D4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771900"/>
            <a:ext cx="207645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仅限已注册的提取器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2D4F5-975E-4F0B-9EAA-08023FB2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71900"/>
            <a:ext cx="1600200" cy="3048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属性可追溯绑定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45000-B670-481E-8721-971825F5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990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已走读代码：CLI、注册表、提取器、数据类、验证器、语义标注、合并策略、溯源生成器、GUI 路径、测试及文档。</a:t>
            </a:r>
          </a:p>
        </p:txBody>
      </p:sp>
    </p:spTree>
    <p:extLst>
      <p:ext uri="{BB962C8B-B14F-4D97-AF65-F5344CB8AC3E}">
        <p14:creationId xmlns:p14="http://schemas.microsoft.com/office/powerpoint/2010/main" val="1289867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74560C-B30F-4482-8B7F-73D15284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2F4B3-7539-4F58-8EF3-530768875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模式提取解决的问题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45723-0960-464C-8E4A-A9C5B87C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在不凭空捏造字段的前提下，将异构的科学数据文件转化为可审计的结构。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78ECC-6FA4-48EA-9737-554556B3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91860-8A21-4569-83F3-F86A7A9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F91C1-85FA-4928-AE09-E64427B7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2575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6FB1B-B635-449D-86D8-754C5CA8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输入现状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3C781-A1BF-420F-BC76-4BA250C6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CSV 表格、HDF5 层级、NetCDF/CF 变量、Zarr 目录存储、Parquet 页脚、JSON/XML 结构以及不透明文件以不同的方式暴露模式信息。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F4DA5-A80D-4352-8444-52CCADE9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32575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964E4E-19DB-45A2-BCF6-5AAE9F70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期望输出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346F9-D01B-4403-A21B-C6ED4487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669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一个包含字段、路径、dtype、shape、单位、逻辑角色、时间轴特征、主张状态、证据链、issue 和溯源信息的结构化 Schema。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80758-C412-49C0-B1AE-935543BB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3257550" cy="2000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B56D3D-48E5-42F7-BA6F-C955E843F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43100"/>
            <a:ext cx="2914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可信度要求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360D5-602A-45F0-BF54-CDD3FAC4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9146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相比于幻觉出的字段或对微弱证据的默认采纳，代码更倾向于输出 unknown（未知）、conflicted（冲突）、partial（部分成功）、failed（失败）或 abstained（弃权）状态。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D1C2B-4BB7-42AB-8894-D50940B8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96202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12780-37B5-442A-9890-6A959844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3CFE9-1273-4AEB-84D1-E98936CD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91050"/>
            <a:ext cx="925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README.md 明确指出核心任务：基于文件结构、显式元数据、确定性验证器和留存的证据，构建可获得的最强 Schema 支撑。</a:t>
            </a:r>
          </a:p>
        </p:txBody>
      </p:sp>
    </p:spTree>
    <p:extLst>
      <p:ext uri="{BB962C8B-B14F-4D97-AF65-F5344CB8AC3E}">
        <p14:creationId xmlns:p14="http://schemas.microsoft.com/office/powerpoint/2010/main" val="20179681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5337E-1898-4DA9-9223-A10495EE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8C67E-08E6-440C-9EE9-DBB13F70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真实入口点与输出契约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8DF1C-ACC6-4B87-A663-81BA0373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当前代码既保留了针对特定格式的传统命令，也提供了基于注册表的通用路径。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273F-8C61-4907-B53B-2FF5F90B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2E175-0731-4F10-8818-24F88F77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D0FF2-28D9-442F-98D1-AC49FA8B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429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BD4F7C-1B2B-468A-8E90-F9F7B93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命令行接口 (CLI)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098E5-D962-4329-8199-3BC55257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4503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cli.py::main()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子命令：extract、extract-csv、extract-hdf5、evaluate、agent-export。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通用 extract 支持 --output-shape legacy|envelope|both。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03834-C43E-4392-9A38-06D550D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95450"/>
            <a:ext cx="3429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5129F-96BB-408C-90EF-CA05C814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288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编程式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B2829-FE81-4FA5-BB92-B56E5F18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526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16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extractors/registry.py::extract_path(request)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输入：ExtractionRequest(path, format_hint, sample_limit, resource_kind)。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输出：ExtractionOutcome(status, format_decision, extractor, schema, issues)。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D437CB-CFC1-4A65-8A82-22A73E95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95450"/>
            <a:ext cx="3429000" cy="15240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DA1ED-C657-425E-A55D-7B9F1F4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288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GUI/API 上传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A1D47-075D-4EA3-BB0D-156E540D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52650"/>
            <a:ext cx="30861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9644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gui_demo/server.py::extract_uploaded_schema()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通过 extract_path 进行路由，保留传统 Schema，并增加 extraction_outcome 和 unified_schema_envelope。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D51F90-41A9-4E51-A315-2B982FF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34290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559F7E-352A-4406-8C9E-6B5B3F8D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传统 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7DFA1C-5AE9-4C8B-9A1F-A00426FF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3086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models.py::DatasetSchema 和 FieldSchema，持有物理/逻辑/语义字段以及 EvidenceRecord 列表。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6457F-2F0D-4BC3-A8A2-FCF4827C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90950"/>
            <a:ext cx="34290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2AEF9-6845-4C69-8730-D20D23CD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统一信封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717A5-15FC-4024-8BCC-9481A3E5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48150"/>
            <a:ext cx="3086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unified_schema.py::build_unified_schema_envelope()，归一化主张、证据、冲突、弃权、溯源及评估元数据。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4235E-311A-42E7-AC25-58CB842A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90950"/>
            <a:ext cx="3429000" cy="1238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804588-72B2-4228-B803-DBE5B5F0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2430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智能体导出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170642-BF33-4840-85E0-C3203E13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48150"/>
            <a:ext cx="3086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agent_exports.py::export_agent_bundle() 生成只读包，并将 canonical_mutation_allowed 设为 false。</a:t>
            </a:r>
          </a:p>
        </p:txBody>
      </p:sp>
    </p:spTree>
    <p:extLst>
      <p:ext uri="{BB962C8B-B14F-4D97-AF65-F5344CB8AC3E}">
        <p14:creationId xmlns:p14="http://schemas.microsoft.com/office/powerpoint/2010/main" val="12397281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3B7319-BF03-4D3F-AC69-86C4181B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9D234-B497-4E05-ACF1-4B1EDA9A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输入数据：数据源、格式与核心假设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7A698-86D0-4E3F-B9EA-73873360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系统所支持的输入格式显式声明在 EXTRACTOR_CAPABILITIES 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F370F-ECA4-41DB-92F2-CAC66885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05181-24DC-4D5D-A55A-DEE693C4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6F944-5E82-41BB-B961-DDCAB912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0CA1E-A81A-4BB9-A1AA-0075D4F7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CSV/TSV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C8B5B-B8FE-44BE-A55D-09A165A06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D85F1-90B3-4077-99F2-55634B82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表头 + 样本行；sample_limit 默认值为 200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A9FE1-F9BF-4A29-B0C4-603669DC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B9275-B70F-40DA-BD06-3E2F0B39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HDF5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20608-8518-47E8-BFB3-F95AA0A2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66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0B14C5-44A1-4A18-B538-2321AAE3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通过 h5py 遍历 groups/datasets/attrs 属性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0C405-173C-42C8-B539-C085DD4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603663-AC59-42F2-8409-6F8F794D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NetCDF/CF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ABEE1-FD0F-4EB4-A156-DEBCFE1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24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51720-2436-48F3-A359-D555D7B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传统 magic 魔数或含有 NetCDF4 标记 of HDF5 格式 .nc 文件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543DF-778E-4E9B-9BED-361FEF7D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E97CE-235B-4DEB-9FB7-053FA072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Zarr v2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08D81D-73D3-433A-BDB9-DDD23ABCF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813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directory_store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25B7C-9DAA-4C59-969C-DB994F27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仅读取本地元数据配置；不读取分片 chunk 的数据载荷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824A37-3E29-4636-A526-AE88DFBB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B5AFD-171A-4A8A-B7E3-11A188FE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Parquet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27AC7-B054-4EEF-BD08-6273BD80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853511-15CB-475B-9FD4-62F28FC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通过 pyarrow 读取页脚和 Arrow schema；不读取数据行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53A8DE-73F1-4A15-BDE7-E8C56CF7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351A96-8775-4C95-9A12-80A3DE93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JSON/JSONL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B20617-5348-452C-96AB-F0C4175B5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957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0FB7B2-AEE1-4A06-840F-2908379F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957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限制路径树深度遍历或解析已声明的 JSON Schema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56E8D4-8DBA-4560-94DB-2547F36F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3A93CB-6155-4EA6-92F6-2D04B5FA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XML/XSD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BCA96E-A2A5-43EB-9FA5-C54DD445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52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F44D84-955D-47D0-B916-BA784FF4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5529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限制实例路径遍历或轻量级 XSD 声明解析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B990FB-D74C-4441-8066-2547EE9E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706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9626CF-62D2-4334-B03D-B0C372B2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101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原始/未知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D0DAC1-529C-4187-9E59-C341CB73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file or directory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486470-5F4C-45D2-93F9-019BEFAE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结构化弃权；仅记录文件层级的证据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3D279A-3542-4AD5-8943-D07ECE58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38800"/>
            <a:ext cx="981075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ABFC87-5C71-4B73-A644-154FD1AA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6388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6136C6-2F12-4846-A16E-455B2D64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772150"/>
            <a:ext cx="944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对于不支持或未注册的格式，系统绝不强行推断 Schema；registry.py 将以弃权状态返回，并附带错误 issue 代码和空的 raw_binary 模式壳。</a:t>
            </a:r>
          </a:p>
        </p:txBody>
      </p:sp>
    </p:spTree>
    <p:extLst>
      <p:ext uri="{BB962C8B-B14F-4D97-AF65-F5344CB8AC3E}">
        <p14:creationId xmlns:p14="http://schemas.microsoft.com/office/powerpoint/2010/main" val="479604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4798F2-D444-4B3E-BCDA-52B281D3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F32D4C-B1ED-4AD5-B89A-D1D95197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高层流水线概述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87EEE-C83C-4DF8-AF68-C14701DA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核心路径由解析器（Parser）主导；语义标注处于下游，是可选的增强步骤。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10A09-FE29-443D-9F04-806AC86D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7999D-FB91-4F0B-97D7-A51982B9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C3965-AFA9-4715-A37A-8C67713CD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16192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  <p:txBody>
          <a:bodyPr xmlns:a="http://schemas.openxmlformats.org/drawingml/2006/main" lIns="133350" tIns="28575" rIns="2286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原始文件/存储输入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89505D-A0F4-4E6D-BD65-1FD4441C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38350"/>
            <a:ext cx="17335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detect_format</a:t>
            </a:r>
          </a:p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格式识别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A860C-2FCC-4729-970D-3D90E6FD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38350"/>
            <a:ext cx="17526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能力注册表</a:t>
            </a:r>
          </a:p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路由器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14163-0E60-44C0-A89D-34BB29E2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38350"/>
            <a:ext cx="18097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特定格式</a:t>
            </a:r>
          </a:p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提取器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A363A0-87F9-4CBE-8C2D-E7EF9458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38350"/>
            <a:ext cx="173355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验证器与</a:t>
            </a:r>
          </a:p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6ACE0-9BB7-445A-82E2-71E61E2E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38350"/>
            <a:ext cx="1638300" cy="666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  <p:txBody>
          <a:bodyPr xmlns:a="http://schemas.openxmlformats.org/drawingml/2006/main" lIns="133350" tIns="28575" rIns="228600" bIns="28575" anchor="ctr">
            <a:normAutofit fontScale="91540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模式输出</a:t>
            </a:r>
          </a:p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A9314-859F-4E7C-B3B8-AF03CD0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52800"/>
            <a:ext cx="9048750" cy="933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3D58B1-8B47-4694-9FE5-66084AE6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052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规范输出路径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282EE9-CFF4-4B95-A695-84734B01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2905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61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ExtractionOutcome -&gt; DatasetSchema/FieldSchema/EvidenceRecord -&gt; 统一模式信封 (主张/证据/溯源)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0D2D3-AC7F-4C2A-B2E9-CB527039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28650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DE262-C124-4B36-BD85-DA9167C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571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可选的下游语义增强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345F0-8FB5-4593-AAE5-0906E926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00650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Grounding 任务包 -&gt; LLM JSON 成果 -&gt; 兼容性校验 -&gt; 合并策略 -&gt; semantic_merged 构件</a:t>
            </a:r>
          </a:p>
        </p:txBody>
      </p:sp>
    </p:spTree>
    <p:extLst>
      <p:ext uri="{BB962C8B-B14F-4D97-AF65-F5344CB8AC3E}">
        <p14:creationId xmlns:p14="http://schemas.microsoft.com/office/powerpoint/2010/main" val="91604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756E9-A3CB-4948-80C8-0C0FF7AC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68EBC-ED5D-4B33-A7D1-EC411A9B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摄入、识别与信任边界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22E97-9C76-4742-BD40-43F7073A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格式决策收集多维度信号，且在信号冲突时显式弃权。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8FD426-5A2B-4830-B66D-953B7BFE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52A9B-D52D-4B07-808A-6FB3A160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33D57-F1E9-4848-BEA2-27B34784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333750" cy="1714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3D79C-6BE2-44EB-816B-02DB142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输入验证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5148D-E397-4DB9-A2F6-531FA1FE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990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extract_path() 检查路径是否存在，并校验资源类别（auto、file 或 directory_store）。路径非法或类型不匹配直接返回失败。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6E402F-C594-4216-B96C-1F250EA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95450"/>
            <a:ext cx="3333750" cy="1714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A51A0-17B7-4269-89DC-4666F0A92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28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信号收集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790A2-E070-42B8-9856-EE0E9B8B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52650"/>
            <a:ext cx="2990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detect_format() 收集文件魔数（magic bytes）、目录元数据标识、显式 Hint、后缀名以及分隔符嗅探探针。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EC045-1656-4486-89B7-79DC0931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95450"/>
            <a:ext cx="3333750" cy="1714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9418C-F609-466C-A3BF-B22DD0AF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28800"/>
            <a:ext cx="2990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匹配决策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8B70E-8834-4B0F-B15C-09DB4FB4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29908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优先级排序：强魔数/目录标识 &gt; Hint &gt; 后缀名 &gt; 文本探测。含 NetCDF4 标记的 HDF5 文件会自动识别为 netcdf。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3597D-E933-485F-A919-A01477C0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9906000" cy="8763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CC3AFA-F689-4978-A75B-C136CC988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信任边界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7C8E2-D9FF-4428-B38B-9A82D7D0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863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29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若强信号之间发生冲突，系统将不选择任何解析器。_abstention_issue() 会抛出诸如 unknown_conflicting_format_signals（冲突信号）、unknown_no_signature（无特征）或 unknown_no_spec_backed_extractor（无支持提取器）等 issue 代码。</a:t>
            </a:r>
          </a:p>
        </p:txBody>
      </p:sp>
    </p:spTree>
    <p:extLst>
      <p:ext uri="{BB962C8B-B14F-4D97-AF65-F5344CB8AC3E}">
        <p14:creationId xmlns:p14="http://schemas.microsoft.com/office/powerpoint/2010/main" val="20279978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87723C-C31E-4904-8AA0-2CE67B92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A6350-A345-4DEB-B948-38907D76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提取器装载与解析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15C58-1B9C-491E-AF71-069106B4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各个已注册的提取器分别产出包含源证据的 DatasetSchema。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82A8D-5EF9-4B83-8F76-841A45D6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3BB3F-66B8-4430-9B7F-351C9427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7/16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AC6EA-DB9F-42C8-8878-96D35CE1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8FB0D-3DC5-413E-871C-5F5CA81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076A32-8DCF-4738-A0C0-4D56116C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csv_extractor.py::extract_csv_schema()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解析表头、取样行、保守的类型推断、前导零保护、通过后缀提取单位。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549A6-D66A-4B43-9BAF-C83C99B9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8EDD0-6D8D-465C-A346-F9AB4C3F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HDF5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5CA52-6799-4ED5-964E-685C4626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8813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hdf5_extractor.py::extract_hdf5_schema()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遍历组与数据集，读取 dtype、shape、属性，记录可恢复的提取错误。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173AD-70EF-4EB2-AF25-0769F8E0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D0D3B-AEA2-4856-9184-3A24DBFC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NetCDF/CF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1A8AA-30A3-4793-8863-07A39EC9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6778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netcdf_extractor.py::extract_netcdf_schema()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传统 scipy 路径或基于 HDF5 路径；解析维度、变量、属性以及 CF 坐标。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5E525-5D00-494B-86E1-FE7B4314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7640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B3C75-4DF0-44E3-BA21-901DEA88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Zarr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425E1-7EAD-435B-8A47-939C947C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3360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2461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zarr_extractor.py::extract_zarr_schema()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仅限本地 v2 元数据；验证 .zarray 配置、维度、CF/Xarray 属性；遇 v3 弃权。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F335D5-D738-46C4-95EE-8E2FFC72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A2CEB-EE40-43EE-BC76-A58673D0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Parquet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309F33-5680-4669-8ACC-CB10278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4507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parquet_extractor.py::extract_parquet_schema()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读取 Parquet 页脚和 Arrow 模式、行组、编码、统计指标；不读取具体行数据。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4A016-8CA7-4B01-BD8A-6A4E4D0E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62C08-CA69-486A-BD01-A715A0B6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34DC1E-A03B-4CC2-A93C-8E0D300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075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json_extractor.py::extract_json_schema()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大小限制 16MB；支持 JSON Schema 属性遍历或限制深度的动态路径遍历、空值统计。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A19BBB-E1A2-491E-8535-AD5FEF8C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21A02C-9A96-4123-8830-C06D6F4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XML/XSD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D7FC5-6933-4AAC-8138-46FA5705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764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xml_extractor.py::extract_xml_schema()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大小限制 16MB；限制深度的 XML 实例路径遍历或轻量级 XSD 声明解析。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D15399-31EA-4712-AE8B-065CE3C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48050"/>
            <a:ext cx="2667000" cy="12763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383564-979D-4C70-9691-BD024A5D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814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Raw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56CB33-E88C-43D0-9DA8-42809F3C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05250"/>
            <a:ext cx="2324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5475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registry.py::build_raw_binary_schema()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不作出任何字段主张；保留文件大小、二进制前缀或目录项数，采用弃权策略。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928DBF-371D-46CF-9131-89C0F2B5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876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所有解析器最终收敛到 models.py 中定义的 DatasetSchema、FieldSchema 和 EvidenceRecord 数据结构。</a:t>
            </a:r>
          </a:p>
        </p:txBody>
      </p:sp>
    </p:spTree>
    <p:extLst>
      <p:ext uri="{BB962C8B-B14F-4D97-AF65-F5344CB8AC3E}">
        <p14:creationId xmlns:p14="http://schemas.microsoft.com/office/powerpoint/2010/main" val="16915146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2C8AF0-C15E-4C5E-A94E-F39F6C96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0C192-9B2B-4DEA-90DB-E4618219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数据预处理与标准化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63B89-56FF-41E2-84D7-0B7F0703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流水线对解析器的输出进行丰富，但不抹除不确定性。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B46F8-AE7C-485E-A217-1413EE67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1679D-3EA0-4747-BC4C-34697D71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8/16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F4D861-55EA-42DF-8757-63CA20BE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2095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2BE060-7478-4B11-9076-820201D0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时间语义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10E3ED-B0D3-4442-9CB7-53B80118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933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temporal_semantics.py::analyze_temporal_semantics()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根据时间类型、强特征名称、语义/逻辑线索对候选者打分。只在置信度高时做出选择；平局会抛出 ambiguous_time_axis_candidates。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24A25-3070-48DF-841E-BC26D476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2095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F1487-5366-42B0-A6FF-2E7CF06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单位归一化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C06AF-376E-4DDF-AE94-A3D5EC3C1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52650"/>
            <a:ext cx="2933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unit_normalization.py::normalize_unit_claim()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将已知单位映射到标准名称与 UCUM 编码；记录 evidence_basis 证据链（如显式元数据、名称模式或无证据支撑）。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2CCEDF-B600-40DF-A803-80BB8B2C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20955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B1AEE0-472E-4CE9-8AAE-B34C89FD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数据剖析属性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74E7A9-9D16-4669-9EE3-2C8B9C59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933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deterministic_profile.py::attach_dataset_profile()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分析空值率和标识符质量。跨文件关系作为确定性候选关联保留，而不强行断言 JOIN。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B6FC7-B57A-4394-A9B6-3ACE4E7A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979170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B64A04-ABCF-4B4A-81FC-249B0F72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76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315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E6AE2-5DE7-49E4-9F33-7FD918E9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705350"/>
            <a:ext cx="942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标准化阶段会赋予主张状态和原因码，例如 supported（支持）、derived（派生）、unknown（未知）、conflicted（冲突）、sampling_insufficient（采样不足）以及保守回退到 string。</a:t>
            </a:r>
          </a:p>
        </p:txBody>
      </p:sp>
    </p:spTree>
    <p:extLst>
      <p:ext uri="{BB962C8B-B14F-4D97-AF65-F5344CB8AC3E}">
        <p14:creationId xmlns:p14="http://schemas.microsoft.com/office/powerpoint/2010/main" val="7662413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CFAAC-40E5-4F77-8044-88B81D84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CD223-79A5-44F2-B630-D9FDFCF8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提取核心：Schema 候选如何产生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C73F5-A13F-4455-BF70-543900C0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具体数据模型分层设计，但均存储在显式的数据类中。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050FDC-2F17-482B-83FE-A05F2F38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CB9B6-33BB-49C7-B175-9B71E9E2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9/16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69958-B8E2-4044-8572-A0991A47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52600"/>
            <a:ext cx="3067050" cy="3028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F06FF-4803-4B5C-8347-9D73F371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原始/不受信的输入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6F475-ECCD-4FC3-A3B0-967734EB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字节流、文本行、XML/JSON 树、HDF5/NetCDF 容器、Parquet 页脚、Zarr 元数据目录。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本身不足以推断语义。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4E63E-DA2A-45E4-9487-C0926298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067050" cy="3028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B76A29-6CF9-48BB-8610-A78932FF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中间表示 (IR)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ECBB18-1358-402A-AB88-711ABCAF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62200"/>
            <a:ext cx="2381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models.py::FieldSchema</a:t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field_name, field_path, physical_type, shape, nullable, examples, source_evidence, confidence, uncertainty_reason。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models.py::DatasetSchema 归类字段与元数据。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0F3F4-438A-4C7E-9EFF-2C79B8FE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067050" cy="3028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BBA143-F644-4E65-B348-2B049262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受控 Schema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8AD5C-1C66-446B-A282-92C50674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62200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逻辑角色、语义线索、单位、时间轴分析、特定格式分析、主张状态、证据记录。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仅在解析器或验证器支持时提升。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3A6EB-E2A3-44CF-A526-6BB7A75B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14650"/>
            <a:ext cx="5905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33350" tIns="28575" rIns="228600" bIns="285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2E7002-D99B-4FBA-8EF6-71677C4CC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14650"/>
            <a:ext cx="5905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33350" tIns="28575" rIns="228600" bIns="28575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2487E-223F-4B6D-A258-81996CB6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8572500" cy="590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56DF0-7B26-49A3-ABCD-259719A0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410200"/>
            <a:ext cx="76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14C45C-166B-4DCB-AA3C-9A044E4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543550"/>
            <a:ext cx="82105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最终的可信输出要么是传统的 ExtractionOutcome，要么是包含主张/证据/溯源的统一版本化信封。</a:t>
            </a:r>
          </a:p>
        </p:txBody>
      </p:sp>
    </p:spTree>
    <p:extLst>
      <p:ext uri="{BB962C8B-B14F-4D97-AF65-F5344CB8AC3E}">
        <p14:creationId xmlns:p14="http://schemas.microsoft.com/office/powerpoint/2010/main" val="14586683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78F68-79A9-4379-BF35-51B22516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43FBC-FDEB-4923-A3ED-CD41C59D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提示词、模型与规则逻辑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906BF-E679-4E92-9D64-CAF91755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规范提取基于确定性的规则与解析器；LLM 仅用于下游语义增强。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C877A-59E4-4776-B13D-C414F73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4EF06C-E358-4F7D-9A15-73C0E34D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10/16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C83279-A4EF-4831-B2AD-BEE10604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29565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42A3E-4126-4AEF-9B22-2FCB21AF3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规范提取路径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A0DF6-7727-4A67-83B5-A53114B9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extract_path() 不使用任何 prompt。已注册的提取器采用确定性解析、受限取样、元数据审查、显式别名和验证器。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BD0C4-AEFC-473D-8827-D0DBEE50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14500"/>
            <a:ext cx="329565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762915-552B-40EF-80A8-E265B8C8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47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提示词构建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A4FD4-1E9F-4E58-82B3-7B3C0329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build_semantic_grounding.py 生成任务包；semantic_layer.py::build_prompt_payload() 整合 SYSTEM_RULES、确定性 Schema、上下文片段和目标输出格式。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FC29ED-75D1-44B7-875B-ED1D7B18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14500"/>
            <a:ext cx="3295650" cy="22479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4C648-35DE-4E54-9F55-A50E550A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2952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LLM 执行器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16B55-70A8-4133-B368-5D27E05D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71700"/>
            <a:ext cx="2952750" cy="1657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semantic_annotate.py 向聊天补全接口发送严格 of JSON 任务。它只能对指定的字段进行标注，且必须引用已有的证据 ID。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9AF9A-A1A7-48B8-9DC2-7F017024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10077450" cy="83820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421A04-6B9C-43C9-8779-1A2AF213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762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AB4880-0350-45A7-BC05-D2B37FAF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19650"/>
            <a:ext cx="971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安全控制说明：本系统并不包含密码学签名、形式化证明系统或完整的 XML/XSD/JSON 校验引擎。其安全控制主要依赖于确定性路由、受限解析器、验证器、测试套件、明确的 issue 状态以及证据/溯源链条。</a:t>
            </a:r>
          </a:p>
        </p:txBody>
      </p:sp>
    </p:spTree>
    <p:extLst>
      <p:ext uri="{BB962C8B-B14F-4D97-AF65-F5344CB8AC3E}">
        <p14:creationId xmlns:p14="http://schemas.microsoft.com/office/powerpoint/2010/main" val="1518548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C65B03-19AE-4597-A46E-987044F7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226C0-9133-415C-A2E0-30A4BCB7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受控词表与 Schema 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4FDBF3-B588-4792-94F4-AA49CE0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代码对输出表达以及不确定性的记录进行了严格限制。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152D9-8462-49DD-B421-5641C320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D124D-0A24-4CA0-AE02-F74CD9E7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11/16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5FFE36-6FA5-4E49-9896-84053CE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2385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252F30-B2E8-4107-90C0-2B949DAE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允许的逻辑类型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219C1-ACCA-4B22-9F02-877BE018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semantic_layer.py::ALLOWED_LOGICAL_TYPES: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identifier, time_axis, measurement, coordinate, label, attribute, relationship, unknown。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E7A1FD-9869-4427-BDF1-8B65BE78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32385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06B64-0607-45A4-BD73-177B5D919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097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主张状态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CE7B1-2267-4697-A980-AC608F88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33600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unified_schema.py::CLAIM_STATES: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observed, declared, derived, supported, conflicted, unknown, unsupported, abstained。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557BA7-0F4D-4344-9D5C-27826122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76400"/>
            <a:ext cx="32385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C3FD5-B88F-4CB9-A8DB-42728E75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提取器能力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C6107-1698-44F5-B255-E3102B7E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2895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registry.py::EXTRACTOR_CAPABILITIES 声明了 extractor_id、版本、支持格式、后缀名、操作、确定性级别、证据类型和资源类别。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97B33C-DF74-436E-80E8-8738EA4D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385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013642-4CA4-425C-AEF8-C091AF8C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单位字典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17383-EB34-49E4-AD24-75804D7C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895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UNIT_ALIASES 将支持的单位名投影到 canonical_unit 和类似 UCUM 的编码；未匹配的单位保留原样，防止误导性的映射。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F80AF-8B2A-4A0D-A8A6-6DC1F724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385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EC153-64E0-48AF-8405-A891DF89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386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证据等级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C5130-9C6F-4A55-AD9E-948ADEFD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62450"/>
            <a:ext cx="2895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2602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docs/target_schema.md 定义：explicit_metadata &gt; structural &gt; statistical &gt; llm_inference。低等级证据不得随意覆盖高等级证据。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5FFF5-DABC-47EB-9BC8-5C7C48F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2385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651A2-8AC8-411F-90DA-6487FB48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2895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合并策略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B747C-471E-44AB-84D9-06077F06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895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merge_annotation_result() 拒绝不支持的标注，并在信封中忠实记录逻辑/语义/单位冲突，不予隐瞒。</a:t>
            </a:r>
          </a:p>
        </p:txBody>
      </p:sp>
    </p:spTree>
    <p:extLst>
      <p:ext uri="{BB962C8B-B14F-4D97-AF65-F5344CB8AC3E}">
        <p14:creationId xmlns:p14="http://schemas.microsoft.com/office/powerpoint/2010/main" val="9805928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5DBC6E-911D-4608-ABD3-2897826A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B56A9-1ED9-4C25-A110-8CE54C4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验证与一致性闭环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F98FF-93EE-4F2D-A51C-E8A63907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验证工作贯穿于摄入、提取、标准化、信封投影以及回归测试中。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1AAF6-BC36-4322-A8B0-EB23EF35F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902047-320A-4AA4-AFCA-8E9B8023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12/16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C9593-2A19-4710-8640-18AF13B2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输入验证</a:t>
            </a:r>
          </a:p>
          <a:p xmlns:a="http://schemas.openxmlformats.org/drawingml/2006/main">
            <a:pPr algn="ctr">
              <a:def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Input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318AB7-C46E-437A-8285-75AA573C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提取器验证</a:t>
            </a:r>
          </a:p>
          <a:p xmlns:a="http://schemas.openxmlformats.org/drawingml/2006/main">
            <a:pPr algn="ctr">
              <a:def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Extractor 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869E9-B077-4E96-8604-46C0FE4D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归一化主张</a:t>
            </a:r>
          </a:p>
          <a:p xmlns:a="http://schemas.openxmlformats.org/drawingml/2006/main">
            <a:pPr algn="ctr">
              <a:def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Normalizer claims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65A1D-A598-4A8A-8C4F-1061B8E8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信封审计</a:t>
            </a:r>
          </a:p>
          <a:p xmlns:a="http://schemas.openxmlformats.org/drawingml/2006/main">
            <a:pPr algn="ctr">
              <a:def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Envelope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7A0CD0-1EE7-4148-B88C-82EE9CD3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1809750" cy="628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  <p:txBody>
          <a:bodyPr xmlns:a="http://schemas.openxmlformats.org/drawingml/2006/main" lIns="133350" tIns="28575" rIns="228600" bIns="28575" anchor="ctr">
            <a:normAutofit fontScale="85227"/>
          </a:bodyPr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测试与报告</a:t>
            </a:r>
          </a:p>
          <a:p xmlns:a="http://schemas.openxmlformats.org/drawingml/2006/main">
            <a:pPr algn="ctr">
              <a:def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Tests +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480DD-3684-4C37-ABD4-D8DF036E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43250"/>
            <a:ext cx="8763000" cy="13525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F00F3-BA2E-43A7-8F07-5C9C602F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闭环表现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EB9F6-721C-4C83-88C7-175932B5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766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63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任何阶段都可以返回 success、partial、abstained 或 failed。Issue 码会被向后传递，而不是合并为一个模糊的得分。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4BDC0-F4C6-444E-AB5A-9E568DCB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788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例如：dependency_unavailable、parser_error、partial_extraction、sampling_insufficient、declared_observed_type_conflict、unsupported_zarr_version。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BE83F-0D26-4135-A07B-8F276CB2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29527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8811A5-0B37-469F-8B91-ED8D83A6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57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注册表测试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83AC4F-582A-4ED3-99F4-077FC2BE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5816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897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tests/test_extractor_registry.py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955DCB-AD16-4C67-ACED-FE503FA0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24450"/>
            <a:ext cx="29527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34CB86-373E-4B3D-B838-2BD9AFAA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257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信封测试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07116-AF9F-4549-9475-4E465F97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816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897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tests/test_unified_schema.py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79BEF-930C-44E0-8CA4-84DA8996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24450"/>
            <a:ext cx="2952750" cy="742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EE1D4-9864-4A72-AF52-89DA41B0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257800"/>
            <a:ext cx="2609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语义与 PROV 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9DD37-2332-4866-BFFC-E84350E7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81650"/>
            <a:ext cx="2609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61891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test_semantic_annotate_payload.py; test_provenance_manifest.py</a:t>
            </a:r>
          </a:p>
        </p:txBody>
      </p:sp>
    </p:spTree>
    <p:extLst>
      <p:ext uri="{BB962C8B-B14F-4D97-AF65-F5344CB8AC3E}">
        <p14:creationId xmlns:p14="http://schemas.microsoft.com/office/powerpoint/2010/main" val="15075527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D0B61E-A5A5-45BE-9D9F-629C7574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7247F-D830-4FD9-BFFA-D941C426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溯源、可追踪性与可审计性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D3CE5B-1183-4C76-9A03-92913B44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每一个获得支持的主张都必须指向明确的客观证据。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1AFC3-8405-43A3-97A1-E8E177B6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D25A05-19C6-4F24-BE47-B44A28F4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13/16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CFFF8-54C3-4FF3-8A5A-8D7C610F7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76600" cy="2266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452678-490B-4497-AF43-45461D14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字段级证据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A2C85-2341-4A2C-9844-F37895D7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52650"/>
            <a:ext cx="2933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每一个 FieldSchema 均带有 source_evidence: EvidenceRecord(tier, evidence_type, source, detail, confidence)。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例如：csv_header、sample_rows、hdf5_attribute、netcdf_variable、zarr_array_metadata。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EF711-EE41-4823-B2D2-4A11CE44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2266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D24F9-31A7-4D95-877E-5A6A7D93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统一主张图谱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350087-7448-4DBC-BF0E-C9D372F2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52650"/>
            <a:ext cx="2933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build_unified_schema_envelope() 对证据库去重（赋予 e0001 等 ID），生成包含 evidence_refs 的 c0001 等主张。冲突和弃权会独立投影。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F92B4-BE02-4376-8F4E-C8BB04CB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3276600" cy="22669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4E924-36D0-4386-AC2C-DC20CFD7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288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仿 PROV 清单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AF828-8199-43B3-82F7-42BA6C88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52650"/>
            <a:ext cx="29337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build_provenance_manifest.py 在源文件、派生 Schema、字段、证据、语义标注、合并记录、报告、智能体、活动和关联关系上建立起轻量级的 prov_v1 溯源关系图。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AAFECE-754B-4439-8977-933A8623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9601200" cy="7048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B5508-1CA1-4637-A703-418FC0F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6315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16EFA-B2D2-4600-822A-D58D6EF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72050"/>
            <a:ext cx="923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信任源自可追踪性以及严谨的主张策略，而非单一的置信度分值。置信度字段存在，但 issue 状态和证据引用是更强的控制。</a:t>
            </a:r>
          </a:p>
        </p:txBody>
      </p:sp>
    </p:spTree>
    <p:extLst>
      <p:ext uri="{BB962C8B-B14F-4D97-AF65-F5344CB8AC3E}">
        <p14:creationId xmlns:p14="http://schemas.microsoft.com/office/powerpoint/2010/main" val="40613247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E0835B-5F6D-4342-9FDE-96356DA8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AEA9F-FD21-4A00-9343-8950EC96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最终模式输出格式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2F17A-C161-4C55-9DBE-7D7E4459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最终产出可作为传统 JSON、统一信封 JSON，或两者兼具。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832F21-DD50-4C4B-B6DC-E3C5E82D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4C6AE-E705-49F1-9571-C640F729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14/16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3E74B-5FF0-4A7B-B759-7270A0B5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76400"/>
            <a:ext cx="3429000" cy="2533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C4A73-684C-459E-B1DF-4A9BD7F7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传统 ExtractionOutcome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A27DA8-E505-4F51-9D1D-CF954489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086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status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format_decision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extractor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issues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schema 包含 DatasetSchema 字段、分组、元数据和备注。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01FACF-1A23-4C03-A5E5-A5626231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76400"/>
            <a:ext cx="3429000" cy="2533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4F695-9657-4F5F-A3AC-10B5829F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097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统一信封 v1.0.0 (Unified Envelope)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E6DD5-10A4-45E3-9084-C20A2717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3086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format_detection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extractor_capability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outcome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physical_structure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logical_roles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semantic_hints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units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temporal_semantics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claims/evidence/provenance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A6776-D5BC-41F7-BB0C-613F300E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76400"/>
            <a:ext cx="3429000" cy="2533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04E99F-4A48-4B68-A06A-FA4CEF4B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3086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智能体包 (Agent Bundle)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A5927-B5BB-4F43-B1AF-5C899D6A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0861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agent_export_version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schema_summary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claim_records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evidence_records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provenance_graph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retrieval_context</a:t>
            </a:r>
          </a:p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requestable_actions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CC4B8E-7C73-4CFE-AB06-5E9F9725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196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CLI 运行实例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7E072-991D-4E9F-B492-5308A9EB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24450"/>
            <a:ext cx="9791700" cy="552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16202A"/>
          </a:solidFill>
          <a:ln xmlns:a="http://schemas.openxmlformats.org/drawingml/2006/main" w="9525">
            <a:solidFill>
              <a:srgbClr val="16202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B81F8-DF1F-4282-B054-7EAA6D4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python -m high_fidelity_schema_study.cli extract --input path/to/file --output-shape both</a:t>
            </a:r>
          </a:p>
        </p:txBody>
      </p:sp>
    </p:spTree>
    <p:extLst>
      <p:ext uri="{BB962C8B-B14F-4D97-AF65-F5344CB8AC3E}">
        <p14:creationId xmlns:p14="http://schemas.microsoft.com/office/powerpoint/2010/main" val="4865673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850F1D-7B4D-445C-886C-A46058B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A3832-5340-4754-8961-1EDA9B72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错误处理、失败模式与局限性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52552-EDAF-43DB-A0B1-55BA09CF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代码诚实地暴露了系统的限制，而不是假装问题已经解决。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D0692-ECF6-471F-A9B3-ADF524FC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7D0AC-563B-458E-8BE2-44B47102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15/16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FF03A-A801-454C-B6F1-DE8F1B43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1A558-0F31-48D4-AD6A-5C234093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弃权情形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A6852-1B40-4584-BE29-B0A226BA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未知二进制文件、强信号冲突、未注册格式、Zarr v3、缺失 Zarr 元数据、JSON/XML 超过大小限制都会导致系统主动弃权。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22F61-5DF9-4472-98AA-1A8B6B98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F9962-202C-4B82-9879-59E0BCFC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部分成功/失败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0505CD-F923-4769-8522-3CCA441C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可恢复的解析错误转为 partial。致命错误或缺失环境依赖返回 structured failed 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2311B-5BF9-4C51-9343-277F9540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D425C-0BA3-41C7-B7F5-11D89E06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样本限制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65C6B-2B13-4359-9686-B727DD08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CSV/JSON/XML 剖析基于有限的样本（sample_limit）；源自样本的特征不应作为普适 of 物理证明。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615293-4725-4BAA-B161-3110237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2667000" cy="1619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3BCB08-6251-43AB-9ACE-3772D176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7165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局限于元数据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F71129-D9CA-46B7-AD95-7326B0D0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3241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不读取 Parquet 实体行和 Zarr 数据块；页脚统计及配置元数据不对实际的 Payload 数据值做交叉校验。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686369-4F51-47FD-9B4B-4B0BB30F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9F323-0FD8-40DD-AC48-93124926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格式解析范围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B2E9F5-4711-41D7-AE0F-FB780DF8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NetCDF4 路径较保守；XML/XSD 较轻量；JSON Schema 解析不等同于完整的校验引擎。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A0E9BF-14AB-40E3-B4E6-3F3DE6E7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800B28-7147-4161-AE82-EFE548A9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LLM 增强范围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0BF60-3B67-4FA1-9FB4-ABDFF26C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LLM 标注处于下游，可能失败、冲突或返回未知。它绝对无法自行创造任何物理字段。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A830B8-0404-40B5-954B-8084D2D7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0CB6F-3692-40ED-A080-424EB889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测试集局限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4FB70-BCB8-4E4C-9CDE-FF598945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挑战包反映的是显式设计的特例表现，并不代表在整个现实生态中具有无漏洞的强壮性。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F6381-F2A1-4167-9179-CC837AC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790950"/>
            <a:ext cx="2667000" cy="13906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48ECCE-E1CC-4A9E-9A2F-DF2A8EA0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24300"/>
            <a:ext cx="2324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缺失的控制安全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64151D-AFDA-4805-80C4-E5C0AA200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23241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缺少密码学签名、没有形式化证明校验器、不支持自动加载远程实体或模式定义、不提供全自动的兼容性担保。</a:t>
            </a:r>
          </a:p>
        </p:txBody>
      </p:sp>
    </p:spTree>
    <p:extLst>
      <p:ext uri="{BB962C8B-B14F-4D97-AF65-F5344CB8AC3E}">
        <p14:creationId xmlns:p14="http://schemas.microsoft.com/office/powerpoint/2010/main" val="19583111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103532-1EE8-47C1-9903-B5AD60F4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4"/>
          </a:solidFill>
          <a:ln xmlns:a="http://schemas.openxmlformats.org/drawingml/2006/main" w="9525">
            <a:solidFill>
              <a:srgbClr val="F6F7F4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C9E98-5174-4613-B269-BCE630E8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8572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推荐的后续改进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174AB1-1C02-40CE-AF4D-B10F1397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953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在不削弱确定性优先这一契约的前提下，扩展提取的覆盖面和可信度。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A23E8B-BA99-4788-A0D3-3408A8E4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0629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3D8"/>
          </a:solidFill>
          <a:ln xmlns:a="http://schemas.openxmlformats.org/drawingml/2006/main" w="9525">
            <a:solidFill>
              <a:srgbClr val="CBD3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FDE5F-0C6E-4DDD-8B99-5E6E0F8E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E6B75"/>
                </a:solidFill>
                <a:latin typeface="Microsoft YaHei"/>
                <a:ea typeface="Microsoft YaHei"/>
                <a:cs typeface="Microsoft YaHei"/>
              </a:rPr>
              <a:t>当前模式提取管道 | 16/16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DC3F29-C96D-48CB-8C5B-DCE2314B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32766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2EEF8"/>
          </a:solidFill>
          <a:ln xmlns:a="http://schemas.openxmlformats.org/drawingml/2006/main" w="9525">
            <a:solidFill>
              <a:srgbClr val="245B8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28748-9C37-4BE5-B5DC-53266B35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B8F"/>
                </a:solidFill>
                <a:latin typeface="Microsoft YaHei"/>
                <a:ea typeface="Microsoft YaHei"/>
                <a:cs typeface="Microsoft YaHei"/>
              </a:rPr>
              <a:t>宽泛兼容性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BE6C7-7878-4A8B-8768-A4C7089D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933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扩展针对 Parquet、JSON、XML、NetCDF/CF 和 Zarr 的多源校验能力，每个测试语料库与冻结的基准测试主张保持物理隔离。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78845A-4584-4BF2-8DD6-BC312687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76400"/>
            <a:ext cx="32766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DDF1EC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1A19FD-2538-4E77-8C52-C9349CFC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097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强模式验证器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9D83D-58B8-46F4-8AD8-61685142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33600"/>
            <a:ext cx="2933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在显式能力标识后加入更完整的 JSON Schema 与 XML/XSD 验证模式；严格分离观察主张与声明主张。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EDD40-A1B5-47B9-ACA4-A1B69AEB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76400"/>
            <a:ext cx="3276600" cy="1695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1EFDF"/>
          </a:solidFill>
          <a:ln xmlns:a="http://schemas.openxmlformats.org/drawingml/2006/main" w="9525">
            <a:solidFill>
              <a:srgbClr val="256C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2D82D-7861-4412-B994-5501CB35E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0975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6C43"/>
                </a:solidFill>
                <a:latin typeface="Microsoft YaHei"/>
                <a:ea typeface="Microsoft YaHei"/>
                <a:cs typeface="Microsoft YaHei"/>
              </a:rPr>
              <a:t>物理数据校验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F67304-8881-40D7-AA94-3C894936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133600"/>
            <a:ext cx="2933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引入可选的 Parquet 页脚统计与 Zarr 数据块属性的采样读取校验，并提供显式的开销控制。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A1D95-BAE6-43DE-9C03-7A243C3A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2766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ECE8F5"/>
          </a:solidFill>
          <a:ln xmlns:a="http://schemas.openxmlformats.org/drawingml/2006/main" w="9525">
            <a:solidFill>
              <a:srgbClr val="5D4B8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7D4DAB-9221-438D-A0BF-DD8A46E9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386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D4B8C"/>
                </a:solidFill>
                <a:latin typeface="Microsoft YaHei"/>
                <a:ea typeface="Microsoft YaHei"/>
                <a:cs typeface="Microsoft YaHei"/>
              </a:rPr>
              <a:t>溯源安全加固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FABC9-2AFF-49C4-98C2-C4255303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为生成的模式和信封加入构件哈希、执行清单、依赖版本锁定以及可选的电子签名。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15BAE6-5F2B-4738-8660-8D387694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05250"/>
            <a:ext cx="32766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7E7C8"/>
          </a:solidFill>
          <a:ln xmlns:a="http://schemas.openxmlformats.org/drawingml/2006/main" w="9525">
            <a:solidFill>
              <a:srgbClr val="A5631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19915A-D038-40E0-8612-1191DF14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56315"/>
                </a:solidFill>
                <a:latin typeface="Microsoft YaHei"/>
                <a:ea typeface="Microsoft YaHei"/>
                <a:cs typeface="Microsoft YaHei"/>
              </a:rPr>
              <a:t>LLM 治理机制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F237E8-1B3C-4026-BAFA-BEC10FB7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6245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默认保持 LLM 增强为非权威属性；优化证据 ID 关联、提升 prompt 回归测试并建设冲突监控面板。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4870B-B2A3-480B-9930-B1DA150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276600" cy="13144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ADFDA"/>
          </a:solidFill>
          <a:ln xmlns:a="http://schemas.openxmlformats.org/drawingml/2006/main" w="9525">
            <a:solidFill>
              <a:srgbClr val="B4231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05BE36-9E8A-4210-87DF-E5B07EE0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38600"/>
            <a:ext cx="293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用户端质检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CC4C6C-28FF-4955-BD90-0435682D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2933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在 CLI 和 GUI 输出中更清晰地展示 issue 代码、样本限制、弃权原因以及深入的证据链下钻。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A3F81C-C956-4C3C-A255-B665F9FB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8763000" cy="476250"/>
          </a:xfrm>
          <a:prstGeom xmlns:a="http://schemas.openxmlformats.org/drawingml/2006/main" prst="roundRect">
            <a:avLst>
              <a:gd name="adj" fmla="val 9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3A49F-0754-47C5-BDD7-C95B9AD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412E07-B92B-4C55-B68B-83C93316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867400"/>
            <a:ext cx="840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绝不放宽核心原则：没有足够证据支持的推断应始终保持 unknown、conflicted、partial、failed 或 abstained 状态。</a:t>
            </a:r>
          </a:p>
        </p:txBody>
      </p:sp>
    </p:spTree>
    <p:extLst>
      <p:ext uri="{BB962C8B-B14F-4D97-AF65-F5344CB8AC3E}">
        <p14:creationId xmlns:p14="http://schemas.microsoft.com/office/powerpoint/2010/main" val="127630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2026-06-28T20:24:49.5140000Z</dcterms:created>
  <dcterms:modified xsi:type="dcterms:W3CDTF">2026-06-28T20:24:49.5140000Z</dcterms:modified>
</coreProperties>
</file>