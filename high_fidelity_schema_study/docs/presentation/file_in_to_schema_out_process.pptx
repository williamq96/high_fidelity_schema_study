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48843f146d4a20" /><Relationship Type="http://schemas.openxmlformats.org/officeDocument/2006/relationships/extended-properties" Target="/docProps/app.xml" Id="R5a7252329ff84a64" /><Relationship Type="http://schemas.openxmlformats.org/officeDocument/2006/relationships/officeDocument" Target="/ppt/presentation.xml" Id="R84695f0af32a4d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66f23de6f448b"/>
  </p:sldMasterIdLst>
  <p:notesMasterIdLst>
    <p:notesMasterId xmlns:r="http://schemas.openxmlformats.org/officeDocument/2006/relationships" r:id="Rcb0b1bb60351490b"/>
  </p:notesMasterIdLst>
  <p:sldIdLst>
    <p:sldId xmlns:r="http://schemas.openxmlformats.org/officeDocument/2006/relationships" id="256" r:id="Rfeeffc47982d4ecc"/>
    <p:sldId xmlns:r="http://schemas.openxmlformats.org/officeDocument/2006/relationships" id="257" r:id="R2c2c294ac084451c"/>
    <p:sldId xmlns:r="http://schemas.openxmlformats.org/officeDocument/2006/relationships" id="258" r:id="Re8541e6b26304493"/>
    <p:sldId xmlns:r="http://schemas.openxmlformats.org/officeDocument/2006/relationships" id="259" r:id="Rd9366186c57c4f58"/>
    <p:sldId xmlns:r="http://schemas.openxmlformats.org/officeDocument/2006/relationships" id="260" r:id="Ra00e798a44cb4676"/>
    <p:sldId xmlns:r="http://schemas.openxmlformats.org/officeDocument/2006/relationships" id="261" r:id="Rbd9a7b0bbf134320"/>
    <p:sldId xmlns:r="http://schemas.openxmlformats.org/officeDocument/2006/relationships" id="262" r:id="R031e6f0bc7774f9a"/>
    <p:sldId xmlns:r="http://schemas.openxmlformats.org/officeDocument/2006/relationships" id="263" r:id="Rd3ae3068c149407c"/>
    <p:sldId xmlns:r="http://schemas.openxmlformats.org/officeDocument/2006/relationships" id="264" r:id="Rbfc2cb232dbe45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89f01a5e8432a" /><Relationship Type="http://schemas.openxmlformats.org/officeDocument/2006/relationships/slideMaster" Target="/ppt/slideMasters/slideMaster1.xml" Id="R6e366f23de6f448b" /><Relationship Type="http://schemas.openxmlformats.org/officeDocument/2006/relationships/notesMaster" Target="/ppt/notesMasters/notesMaster1.xml" Id="Rcb0b1bb60351490b" /><Relationship Type="http://schemas.openxmlformats.org/officeDocument/2006/relationships/presProps" Target="/ppt/presProps.xml" Id="R5fd496590c284e2e" /><Relationship Type="http://schemas.openxmlformats.org/officeDocument/2006/relationships/tableStyles" Target="/ppt/tableStyles.xml" Id="R98942c29f09b4de2" /><Relationship Type="http://schemas.openxmlformats.org/officeDocument/2006/relationships/slide" Target="/ppt/slides/slide1.xml" Id="Rfeeffc47982d4ecc" /><Relationship Type="http://schemas.openxmlformats.org/officeDocument/2006/relationships/slide" Target="/ppt/slides/slide2.xml" Id="R2c2c294ac084451c" /><Relationship Type="http://schemas.openxmlformats.org/officeDocument/2006/relationships/slide" Target="/ppt/slides/slide3.xml" Id="Re8541e6b26304493" /><Relationship Type="http://schemas.openxmlformats.org/officeDocument/2006/relationships/slide" Target="/ppt/slides/slide4.xml" Id="Rd9366186c57c4f58" /><Relationship Type="http://schemas.openxmlformats.org/officeDocument/2006/relationships/slide" Target="/ppt/slides/slide5.xml" Id="Ra00e798a44cb4676" /><Relationship Type="http://schemas.openxmlformats.org/officeDocument/2006/relationships/slide" Target="/ppt/slides/slide6.xml" Id="Rbd9a7b0bbf134320" /><Relationship Type="http://schemas.openxmlformats.org/officeDocument/2006/relationships/slide" Target="/ppt/slides/slide7.xml" Id="R031e6f0bc7774f9a" /><Relationship Type="http://schemas.openxmlformats.org/officeDocument/2006/relationships/slide" Target="/ppt/slides/slide8.xml" Id="Rd3ae3068c149407c" /><Relationship Type="http://schemas.openxmlformats.org/officeDocument/2006/relationships/slide" Target="/ppt/slides/slide9.xml" Id="Rbfc2cb232dbe45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ab9dc273ab42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97e2c5d6934812" /><Relationship Type="http://schemas.openxmlformats.org/officeDocument/2006/relationships/notesMaster" Target="/ppt/notesMasters/notesMaster1.xml" Id="R4c8a3919718543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88e20bf3994628" /><Relationship Type="http://schemas.openxmlformats.org/officeDocument/2006/relationships/notesMaster" Target="/ppt/notesMasters/notesMaster1.xml" Id="R552b016fd27046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cf80e0ecc4784" /><Relationship Type="http://schemas.openxmlformats.org/officeDocument/2006/relationships/notesMaster" Target="/ppt/notesMasters/notesMaster1.xml" Id="R0d27421df4e749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ac2840b9d47f9" /><Relationship Type="http://schemas.openxmlformats.org/officeDocument/2006/relationships/notesMaster" Target="/ppt/notesMasters/notesMaster1.xml" Id="R98b3f0d35167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e58670798348e6" /><Relationship Type="http://schemas.openxmlformats.org/officeDocument/2006/relationships/notesMaster" Target="/ppt/notesMasters/notesMaster1.xml" Id="R52081f0a868e45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1a88a2c3664a2f" /><Relationship Type="http://schemas.openxmlformats.org/officeDocument/2006/relationships/notesMaster" Target="/ppt/notesMasters/notesMaster1.xml" Id="R81d3554e06c8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6d558a86944d0e" /><Relationship Type="http://schemas.openxmlformats.org/officeDocument/2006/relationships/notesMaster" Target="/ppt/notesMasters/notesMaster1.xml" Id="Rd24b0a50852643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b9e0a683f349b3" /><Relationship Type="http://schemas.openxmlformats.org/officeDocument/2006/relationships/notesMaster" Target="/ppt/notesMasters/notesMaster1.xml" Id="Rbb7e01409e1549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0f41efa5174284" /><Relationship Type="http://schemas.openxmlformats.org/officeDocument/2006/relationships/notesMaster" Target="/ppt/notesMasters/notesMaster1.xml" Id="R41d333ec83124e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high-fidelity schema extraction pipeline stages: Intake, Extractor, Profiler, Semantics, and Envelope.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2474b75ab43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4dfa3b70cf4e5f" /><Relationship Type="http://schemas.openxmlformats.org/officeDocument/2006/relationships/slideLayout" Target="/ppt/slideLayouts/slideLayout1.xml" Id="Rc4466bb51e1344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66bb51e1344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4f9889e4c4363" /><Relationship Type="http://schemas.openxmlformats.org/officeDocument/2006/relationships/notesSlide" Target="/ppt/notesSlides/notesSlide1.xml" Id="R74cd20d60e3d48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06083453e4e9c" /><Relationship Type="http://schemas.openxmlformats.org/officeDocument/2006/relationships/notesSlide" Target="/ppt/notesSlides/notesSlide2.xml" Id="R2c100dee55824d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d03dc4d9a4677" /><Relationship Type="http://schemas.openxmlformats.org/officeDocument/2006/relationships/notesSlide" Target="/ppt/notesSlides/notesSlide3.xml" Id="Rd259f264cc874c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dccdbb42d47a9" /><Relationship Type="http://schemas.openxmlformats.org/officeDocument/2006/relationships/notesSlide" Target="/ppt/notesSlides/notesSlide4.xml" Id="R7181915f38a3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f06bcf8004bef" /><Relationship Type="http://schemas.openxmlformats.org/officeDocument/2006/relationships/notesSlide" Target="/ppt/notesSlides/notesSlide5.xml" Id="Re0cb73d2045c43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a290538414281" /><Relationship Type="http://schemas.openxmlformats.org/officeDocument/2006/relationships/notesSlide" Target="/ppt/notesSlides/notesSlide6.xml" Id="Rd435f81cbea145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87fb5e08e454d" /><Relationship Type="http://schemas.openxmlformats.org/officeDocument/2006/relationships/notesSlide" Target="/ppt/notesSlides/notesSlide7.xml" Id="Rfa974ea8b3114c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61f4849d64b2d" /><Relationship Type="http://schemas.openxmlformats.org/officeDocument/2006/relationships/notesSlide" Target="/ppt/notesSlides/notesSlide8.xml" Id="Rfa26a40f9a9f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fdf946e1a41f7" /><Relationship Type="http://schemas.openxmlformats.org/officeDocument/2006/relationships/notesSlide" Target="/ppt/notesSlides/notesSlide9.xml" Id="Rb8b8cbd2831d4f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699DE-F4C5-4498-B39E-2E2F0CC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8C906-12CE-4D3F-A9CF-14DC2252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从文件输入到统一模式信封输出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FAB99-DD0F-47DA-BA13-D40FA0A3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高保真 Schema 提取全生命周期流程详解与设计落地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9A4C2-349D-49F3-99CD-E1DA4C1E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628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先用程序证明结构与客观事实，再让 LLM 在证据约束下补充语义理解。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125D7-5D53-4EAC-B1A2-6CB23ED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95350"/>
            <a:ext cx="3143250" cy="1123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682D6-BED9-4DB4-807B-867382C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668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物理主导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A6C5D-5C53-405A-B44B-939FE39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47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解析器读取绝对客观的结构与内秉元数据。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4487E-85D2-4B4A-8DD0-0D0F2D01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3143250" cy="1352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1B94-4D3F-4915-82B0-E704B3FA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图谱投影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75EE1-4252-4808-A038-0D05CC89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76550"/>
            <a:ext cx="2724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主张与证据分离，全局去重并支持图谱化关联追溯。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FC674-D50D-4B68-90B9-64747B5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905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Deterministic-first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2B82F-3CCF-4EE7-BA83-EF89DB83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95750"/>
            <a:ext cx="2095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Evidence-constrained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259A5-A189-4B7D-BFA4-F769C46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2190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B7791F"/>
            </a:solidFill>
          </a:ln>
        </p:spPr>
        <p:txBody>
          <a:bodyPr xmlns:a="http://schemas.openxmlformats.org/drawingml/2006/main" lIns="95250" tIns="28575" rIns="952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Unified Schema Envelope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DCD8B-8BBB-4DCB-BDC7-77F8C16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1/9</a:t>
            </a:r>
          </a:p>
        </p:txBody>
      </p:sp>
    </p:spTree>
    <p:extLst>
      <p:ext uri="{BB962C8B-B14F-4D97-AF65-F5344CB8AC3E}">
        <p14:creationId xmlns:p14="http://schemas.microsoft.com/office/powerpoint/2010/main" val="505499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7ED002-D48D-49E7-BBF3-FDD3C140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52D32-0AAC-438D-BB63-160FAA8A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设计哲学：确定性优先 (Deterministic-First)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57EC4-49FC-410D-AC4E-66B3FC4B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克服传统的“端到端 LLM 盲猜”模式所带来的不可审计、幻觉和无法复现等致命缺陷。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16AFB-95AE-48BE-8D29-7FB7FDB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83D00-8B1F-4029-BA73-DC8FF97A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14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CD3FD-58BC-48F4-A8F7-917873D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程序主导物理提取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FC430-DDAE-42FD-9E68-F2AB2455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用高度稳定的专属解析器读取物理结构，包括列名、dtype、shape和属性，确保底座绝对客观准确。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8E753-939B-4520-998D-951D2F2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8E8F8-C93F-4B3B-A508-7178901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过程捕捉过程证据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D5450-1B2F-43D2-A649-83C5653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在提取中自动保留物理决策对应的文件片断或行号，建立不可篡改的 EvidenceRecord 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80BF8-64A2-4823-9770-49394C49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14325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D18AC-22EF-4883-9A5B-CE3F23F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9550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受限语义增强合并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C1E8B-D479-4581-81DA-D002DD6C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2724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LLM 只能修改特定语义字段，所有修改必须有证据文本支撑，且必须通过系统兼容性校验校验。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A097F-5009-4273-9CED-E68BB8A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核心边界规则：任何高级的语义推断都不能覆盖底层明确的物理/结构证据。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B73608-1678-4BD7-8A86-EACC5CE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2/9</a:t>
            </a:r>
          </a:p>
        </p:txBody>
      </p:sp>
    </p:spTree>
    <p:extLst>
      <p:ext uri="{BB962C8B-B14F-4D97-AF65-F5344CB8AC3E}">
        <p14:creationId xmlns:p14="http://schemas.microsoft.com/office/powerpoint/2010/main" val="985752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3A7D77-C4CF-4A17-8B59-F7F56F19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A0CFF-E79B-478C-A8E4-B05D2A8E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第一阶段：文件摄入与类型检测 (File Intake)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E92E2-93BA-4AB9-B99B-05B34BB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智能匹配解析器并提供多级降级防冲突机制。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B2B16-449B-4AB3-B13C-330F3129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B7A69-C671-4CA1-9A15-3A067416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4765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75929-0AD4-4C81-94ED-6A1F3A4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1. 资源边界校验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750E3-87C1-49DB-80B6-78204A47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通过 _actual_resource_kind 判定是 file 还是 directory_store (如 Zarr)。若与指定预期不符，立即拦截报错。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8F8EE-2041-4FCB-B8B6-E92E702A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28800"/>
            <a:ext cx="24765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B072E-BB9D-4CB6-BB3A-96C03B5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00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2. 多重信号探测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9E69A-9126-44B9-AB77-D3F9F27C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魔数优先 (HDF5/Parquet/NetCDF)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目录元数据探测 (Zarr)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后缀解析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csv.Sniffer 文本分列探针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AB760-80CC-4117-AAEE-B6E53EC6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24765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2880E-82C2-4F1F-A3DF-7FBF93B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3. 优先级决策与重写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F3355-E914-4A0A-9856-4DF5B67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057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Magic &gt; Hint &gt; Suffix &gt; Text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特殊重写：若 HDF5 包含 NetCDF4 特征且后缀为 .nc/.cdf，自动升级为 netcdf 信号。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C5E11-5C30-47B9-911E-B4C6D84F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28800"/>
            <a:ext cx="2667000" cy="2000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DE1DE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1B2CC-1E6B-429F-9213-A2F726A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4. 冲突判定与安全回退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1A09C-9787-42CA-B4BC-90E24D12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81250"/>
            <a:ext cx="2247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若 Magic 信号与用户 Hint 强冲突，系统将判定为 conflicted 并主动弃权，回退输出通用的 raw_binary 模式。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6C176-D7F5-4FF5-A5EC-4ED3014E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通过此模块，系统实现了多模态原始文件与专属确定性提取器（Extractor）的精准、安全路由。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7F34AC-7F82-4C06-8619-FF54D064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3/9</a:t>
            </a:r>
          </a:p>
        </p:txBody>
      </p:sp>
    </p:spTree>
    <p:extLst>
      <p:ext uri="{BB962C8B-B14F-4D97-AF65-F5344CB8AC3E}">
        <p14:creationId xmlns:p14="http://schemas.microsoft.com/office/powerpoint/2010/main" val="1199835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704CAE-5FB0-495C-A545-0A83211A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3C588-6974-4E72-9850-0834A2F1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第二阶段：确定性结构提取 - CSV &amp; JSON Extractor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50DBE-B59F-4137-A560-1295848D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对半结构化与结构化文本实施“保守提取”与“路径遍历”策略。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C64DD-D09B-4699-9286-56C3BDA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E2B0C-D858-465A-960A-29E7CA08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7727E-88BB-4892-8AD4-4A3CD6F8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CSV 提取器：保守类型推断与前导零保护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81E2A-9247-49B8-B41D-44C4D3F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读取表头，截取前 N 行（默认 200 行）作为样本。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int/float/datetime 必须在样本中获得 100% 成功解析。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导入前导零检测 (_has_leading_zero)：如 '0123' 的纯数字字段强制推断为 string，避免邮编/电话丢失首字符。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类型冲突时保守回退到 string，防止产生误导性物理主张。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0EBCC-ECD3-4724-A9C2-885307C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A1161-9FBC-43C3-8A52-837095F6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JSON 提取器：单文档/多行模式与扁平树遍历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24F34-157A-4A2E-8EA5-8380226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限制读取大小（16MB）以获得内存级保护。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声明模式：若含有 properties，递归遍历解析标准定义，生成 declared claims；若有 values 则校验兼容性。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观察模式：对于动态文档，启动递归遍历 visit(val, path, index)，将嵌套路径展开为扁平结构（例如 $.a.b[].c）。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统计多级路径的空值率，不对语义进行猜测。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ED4BA-9A9A-452A-B1B2-6F0CBC93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物理属性是数据集的基础指纹，确定性提取器只抓取客观可见的字段类型与形状。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26F70-3F9F-4861-A2F1-9964B83B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4/9</a:t>
            </a:r>
          </a:p>
        </p:txBody>
      </p:sp>
    </p:spTree>
    <p:extLst>
      <p:ext uri="{BB962C8B-B14F-4D97-AF65-F5344CB8AC3E}">
        <p14:creationId xmlns:p14="http://schemas.microsoft.com/office/powerpoint/2010/main" val="434657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0F2DB-49A8-4CE6-8BE3-BBD4C8D3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F9742-5D94-4D8C-B22A-7094947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第二阶段：确定性结构提取 - Zarr &amp; 多维元数据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B3822-8158-40C9-8B3B-D49F94A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多维科学数据的目录级只读元数据（Metadata-Only）高速提取。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AC181-1F2D-466C-8DDB-A51335A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1A286-A65A-4E33-9864-273E35F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B99B9-4348-44D5-91D2-C575210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Zarr 提取器：合并元数据检索与版本检测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8A4B5-222F-4C2E-8FC2-41422FF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深度扫描存储目录，优先读取合并元数据文档 .zmetadata 提升 I/O 效率；若缺失则降级遍历 .zgroup/.zarray。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检测到 zarr_format == 3（Zarr v3）时，由于只支持 v2，抛出结构化错误并直接以 abstained 状态弃权。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仅解析元数据，不下载或读取任何分片 chunk 载荷，保持极其高效的零 I/O 损耗。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836A2-FAC4-40DD-A34C-39015F9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1A561-FE61-48A6-B24E-658E9FCF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坐标与多维关系解析 (Xarray &amp; CF 约定)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89E4B-E7AF-4E25-BBCA-F6C738EC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维度计算：解析 _ARRAY_DIMENSIONS 获取高维数组大小。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坐标系判定：基于 CF 约定，检测 axis(X/Y/Z/T)、units(degrees_north) 和 standard_name，识别为坐标系角色。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物理类型直接由 dtype (如 float64) 投影，值域范围/空值等直接置为 unknown 记录元数据只读边界。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4577E-27CB-4E6C-BBDC-D6AB6272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对于科学数据集（NetCDF/HDF5/Zarr），利用 CF 约定能极大地加速数据空间组织维度的发现。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E24A1-38E9-4A7E-AC7D-D36B250E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5/9</a:t>
            </a:r>
          </a:p>
        </p:txBody>
      </p:sp>
    </p:spTree>
    <p:extLst>
      <p:ext uri="{BB962C8B-B14F-4D97-AF65-F5344CB8AC3E}">
        <p14:creationId xmlns:p14="http://schemas.microsoft.com/office/powerpoint/2010/main" val="557608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EFE07-7C55-4801-8D34-B301C24E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24CB-221C-4650-A86C-0BF21B82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第三阶段：数据剖析与时间/单位标准化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88753-1197-4132-B23C-54F77494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通过计算方法论补充数据的外生语义，提供跨域标准化检索物料。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B29BD-600D-469C-AACE-49524732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0A991-1B5E-4317-94D6-80BC36A0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5755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11179-F0CB-4DB4-BF79-B54608AD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32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时间轴分析 (analyze_temporal_semantics)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22218-ED7F-4A77-A2D8-43841E8D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对所有 datetime 与 组合的 year-month-day 字段打分，最高分者设为数据集唯一 Time Axis，更新逻辑类型为 time_axis。若存在分差 &lt;= 0.05 的双重候选，输出 Ambiguous Time Axis 警告。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BFBD6-D03A-40A8-8948-C6136AC6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5755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D893-806E-4D83-9002-6D4836E8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时间特性计算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0E772-81F3-4523-8D6D-82E5298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时区提取：检查 Naive/Aware 混合冲突。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频率 (Frequency)：统计间隔 delta 众数（如 60s -&gt; 1 minute）。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规律性 (Regularity)：主频占比 &gt;=95% 则标记为 regular。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缺失区间：估计理论步长差得出漏检数。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77F07-5CED-4925-9984-82D20244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57550" cy="2476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A5137-3335-4437-8EF5-BD62E783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83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60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物理单位归一化 (normalize_unit)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5502-31B9-4E3C-8D8C-990C6C94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38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提取表头后缀或元数据中的单位（如 Celsius, mm）。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通过 UNIT_ALIASES 字典投影出标准的 canonical_unit 与符合国际规范的 UCUM 编码。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标记证据基础（hdf5_attr -&gt; explicit_metadata）。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D657E-3B8B-4174-A34F-5AC7EB2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此阶段在纯物理描述的基础上，建立起具备科学检索意义的“时间网格”与“归一化单位”。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0E541-C5F3-4C48-930C-A91AEE7C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6/9</a:t>
            </a:r>
          </a:p>
        </p:txBody>
      </p:sp>
    </p:spTree>
    <p:extLst>
      <p:ext uri="{BB962C8B-B14F-4D97-AF65-F5344CB8AC3E}">
        <p14:creationId xmlns:p14="http://schemas.microsoft.com/office/powerpoint/2010/main" val="11910059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66F79-EA75-4C84-B719-4CA0182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C2EED-1B5A-4DAD-ADA5-A6B7D267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第四阶段：语义增强与安全合并 (Semantic Layer)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66523-8DC6-470F-B5C4-A61BC239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如何安全引入 LLM 对无结构 README 进行解读并合入确定性 Schema。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860F2-F3EA-4553-B9FB-1B157AF1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C40E3-56DB-4742-950E-E8B068D7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2123B-40C4-409F-868F-4B29622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1. 受限任务包构建与系统规则约束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EF6E-A7FA-496B-826E-A92F771F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将物理 Schema 与外部 README 片段（GroundingSnippet）一起打包成 Context。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注入 SYSTEM_RULES：严禁编造物理字段，推断必须附带 README 原文作为 supporting_evidence，无把握必须填 unknown。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模型只能提议 semantic_type, logical_type, unit 以及 文本描述 description。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5328F-E4B3-4951-932F-93067B31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7C4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157A3-8F93-4CD8-A11D-1C2208F1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2. 强校验与安全合并规则 (Validator &amp; Merger)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69A22-2A8F-41E2-9BED-765EB47A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无证据拒绝：提议修改但 supporting_evidence 为空，触发 unsupported_annotation 冲突并抛弃。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兼容性拦截：校验逻辑与语义分类兼容性（如 latitude 不允许设为 measurement）。</a:t>
            </a:r>
          </a:p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● 确定性保护：若物理引擎已获取明确信息，直接冲突者一律予以拒绝，仅在完全兼容且 LLM 置信度 &gt;= 0.85 时，允许精细化覆写。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118B-01A2-4393-8947-AA3A0A1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安全规则核心：宁可由于缺乏证据选择 unknown，也绝不无端猜测 (Prefer unknown over unsupported guessing)。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5FBDA-D609-4AA8-96B7-895F7A5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7/9</a:t>
            </a:r>
          </a:p>
        </p:txBody>
      </p:sp>
    </p:spTree>
    <p:extLst>
      <p:ext uri="{BB962C8B-B14F-4D97-AF65-F5344CB8AC3E}">
        <p14:creationId xmlns:p14="http://schemas.microsoft.com/office/powerpoint/2010/main" val="1027382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F7E9F-FAF2-4512-AD89-9382CEA3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5C8E4-EE2B-49DC-A23A-B0C2FFEC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第五阶段：统一信封投影 - 证据与主张图谱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2C3E6-D99F-4176-9A14-C51777EC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将处理结果投影为全局唯一、主张与证据分离的 Schema Envelope。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CEB1D-A731-4E84-94FF-57ED450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FED19-B45E-464E-AA36-30888EA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AA080-E65F-4D28-ABF8-CC671DAB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全局去重证据库 (evidence)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170D4-0236-4A46-9F22-EA42811C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信封顶层包含全局 evidence 列表。每一个证据均分配有唯一的 ID（如 e0001, e0002），记录它的获取层级（tier: structural/statistical/explicit_metadata）、来源文件路径、详情细节以及记录时的置信度度量。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002D0-31FE-49F5-8321-02ED9932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53000" cy="2667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7F0EA"/>
          </a:solidFill>
          <a:ln xmlns:a="http://schemas.openxmlformats.org/drawingml/2006/main" w="9525">
            <a:solidFill>
              <a:srgbClr val="D7D0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A62F2-73A0-458D-AB34-56104FB3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53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模式主张列表 (claims)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2A788-7ACD-4B33-B16A-F42114ED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533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信封将物理、逻辑、语义和单位都抽象为原子主张。每个主张包含 claim_id，规定它的主体（field_path）、属性类别、推断值，并最关键地通过 evidence_refs 指向对应的 evidence_id（可复数），完成完整证据图谱绑定。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87E13-95AD-4164-A29B-630AB38E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投影模型使得最终输出不再是一个无解释的属性列表，而是一个“每一项推断均可向下溯源至具体事实”的证据图谱。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85654-B781-4E19-AADC-A874E4D3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8/9</a:t>
            </a:r>
          </a:p>
        </p:txBody>
      </p:sp>
    </p:spTree>
    <p:extLst>
      <p:ext uri="{BB962C8B-B14F-4D97-AF65-F5344CB8AC3E}">
        <p14:creationId xmlns:p14="http://schemas.microsoft.com/office/powerpoint/2010/main" val="1178894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0C49F3-9125-4C19-92EE-F0927BE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21502-3ACE-491F-9C44-87F30A53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全流程实例串联：Buoy Sensor Data Ingestion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33BB6-D510-4745-B5D6-4D528718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展示一份浮标 CSV 数据是如何变成规范化模式信封的。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36E1C-5859-43F9-93C1-624DCBAB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ABD00-E0E2-4593-B53F-B347ED5B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E4D89-D9D5-4698-B51B-34C31AB1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954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探测与路由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28184-2045-44A1-ADE2-2DB86041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Buoy CSV 文件被送入，魔数无，后缀匹配，Sniffer 解析判定为 csv 格式。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38011-91C9-4E97-A606-3685344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E1835-33D9-4EA7-8A66-F284A75A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确定性物理推断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7889E-8703-47AE-A26A-82056012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ts_utc 为 datetime，water_temp_c 为 float，buoy_id (带 0 开头) 强制判定为 string 防止丢失 ID 精度。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78116-8D5B-444A-8C64-28ECA8E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3DBA3-9AD0-41AE-BFD1-E33F7F4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48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概要特征分析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D2F7B-6BC8-4506-B49D-5AD2BD21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ts_utc 设为 time_axis；判定间隔为 60s/regular；表头 water_temp_c 转换并归一化为 Celsius。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EECCD-15A2-4680-AEE9-2203C69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6820D-54C4-43EF-8B96-14D82373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243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LLM 语义注入与合并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DCEE7-12DE-45C2-9466-A46F22A8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根据 README 提示，LLM 提议将 flag 字段的语义设为 quality_flag。提供证据，检查兼容性后安全合入。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346D8-D731-4EB4-ACB3-F97E0456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0831D-64A2-4AD1-B3F0-AAE19841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006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12B"/>
                </a:solidFill>
                <a:latin typeface="Microsoft YaHei"/>
                <a:ea typeface="Microsoft YaHei"/>
                <a:cs typeface="Microsoft YaHei"/>
              </a:rPr>
              <a:t>模式信封统一生成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12D92-ABB2-4C1A-8B78-589D6CBA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673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输出统一 Envelope。生成 claims，关联对应的 e0001 (表头名) 和 e0002 (README 引用)。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9D4AE-A5A8-4ED2-8656-FF11C13F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8645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7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结论：通过确定性打底与受约束的 LLM 语义充实，实现了安全、可溯源的高保真元数据检索基础。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30E85-8668-467C-80DC-BF777E7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17C"/>
                </a:solidFill>
                <a:latin typeface="Microsoft YaHei"/>
                <a:ea typeface="Microsoft YaHei"/>
                <a:cs typeface="Microsoft YaHei"/>
              </a:rPr>
              <a:t>从文件输入到模式输出 (File In -&gt; Schema Out) · 9/9</a:t>
            </a:r>
          </a:p>
        </p:txBody>
      </p:sp>
    </p:spTree>
    <p:extLst>
      <p:ext uri="{BB962C8B-B14F-4D97-AF65-F5344CB8AC3E}">
        <p14:creationId xmlns:p14="http://schemas.microsoft.com/office/powerpoint/2010/main" val="286258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2026-06-26T17:49:28.5780000Z</dcterms:created>
  <dcterms:modified xsi:type="dcterms:W3CDTF">2026-06-26T17:49:28.5780000Z</dcterms:modified>
</coreProperties>
</file>