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400" b="1">
                <a:latin typeface="Aptos"/>
              </a:rPr>
              <a:t>Observed semantic call surface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Observed calls</c:v>
                </c:pt>
              </c:strCache>
            </c:strRef>
          </c:tx>
          <c:spPr>
            <a:solidFill>
              <a:srgbClr val="238784"/>
            </a:solidFill>
            <a:ln>
              <a:solidFill>
                <a:srgbClr val="238784"/>
              </a:solidFill>
            </a:ln>
          </c:spPr>
          <c:cat>
            <c:strRef>
              <c:f>Sheet1!$A$2:$A$3</c:f>
              <c:strCache>
                <c:ptCount val="2"/>
                <c:pt idx="0">
                  <c:v>B
(two repeats)</c:v>
                </c:pt>
                <c:pt idx="1">
                  <c:v>D
(one run)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16</c:v>
                </c:pt>
                <c:pt idx="1">
                  <c:v>59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>
                <a:latin typeface="Apto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65.0"/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>
                <a:latin typeface="Aptos"/>
              </a:defRPr>
            </a:pPr>
          </a:p>
        </c:txPr>
        <c:crossAx val="-2068027336"/>
        <c:crosses val="autoZero"/>
        <c:majorUnit val="1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84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686800" y="640080"/>
            <a:ext cx="2194560" cy="658368"/>
          </a:xfrm>
          <a:prstGeom prst="roundRect">
            <a:avLst/>
          </a:prstGeom>
          <a:solidFill>
            <a:srgbClr val="238784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281160" y="1965960"/>
            <a:ext cx="2148840" cy="658368"/>
          </a:xfrm>
          <a:prstGeom prst="roundRect">
            <a:avLst/>
          </a:prstGeom>
          <a:solidFill>
            <a:srgbClr val="256391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92440" y="3337560"/>
            <a:ext cx="2331720" cy="658368"/>
          </a:xfrm>
          <a:prstGeom prst="roundRect">
            <a:avLst/>
          </a:prstGeom>
          <a:solidFill>
            <a:srgbClr val="E5883D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372600" y="4709160"/>
            <a:ext cx="1965960" cy="658368"/>
          </a:xfrm>
          <a:prstGeom prst="roundRect">
            <a:avLst/>
          </a:prstGeom>
          <a:solidFill>
            <a:srgbClr val="69539B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601200" y="1408176"/>
            <a:ext cx="64008" cy="43891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464040" y="2761488"/>
            <a:ext cx="64008" cy="43891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372600" y="4133087"/>
            <a:ext cx="64008" cy="43891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13232" y="658368"/>
            <a:ext cx="2331720" cy="320040"/>
          </a:xfrm>
          <a:prstGeom prst="roundRect">
            <a:avLst/>
          </a:prstGeom>
          <a:solidFill>
            <a:srgbClr val="238784"/>
          </a:solidFill>
          <a:ln w="6350">
            <a:solidFill>
              <a:srgbClr val="238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726947"/>
            <a:ext cx="2240279" cy="17373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PRE-BLIND TECHNICAL REPORT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1325880"/>
            <a:ext cx="7132320" cy="1417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Aptos Display"/>
              </a:rPr>
              <a:t>How Much Semantic
Architecture Is Necessary?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971800"/>
            <a:ext cx="6858000" cy="7315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CDE0EE"/>
                </a:solidFill>
                <a:latin typeface="Aptos"/>
              </a:rPr>
              <a:t>A Replay-Controlled Evaluation Protocol for
Evidence-Constrained Dataset Schema Induction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160520"/>
            <a:ext cx="694944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ptos"/>
              </a:rPr>
              <a:t>Project architecture • Methodology • NDP-50 • Current paper progress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074920"/>
            <a:ext cx="6949440" cy="5943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B1C4D5"/>
                </a:solidFill>
                <a:latin typeface="Aptos"/>
              </a:rPr>
              <a:t>Presentation snapshot: 7 August 2026
Based on the 27 July 2026 English manuscript and current evidence records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6263640"/>
            <a:ext cx="41148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1C4D5"/>
                </a:solidFill>
                <a:latin typeface="Aptos"/>
              </a:rPr>
              <a:t>High-Fidelity Schema Study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256032"/>
            <a:ext cx="1088136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42841"/>
                </a:solidFill>
                <a:latin typeface="Aptos Display"/>
              </a:rPr>
              <a:t>Research question and contribution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49808"/>
            <a:ext cx="1088136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5E6C7A"/>
                </a:solidFill>
                <a:latin typeface="Aptos"/>
              </a:rPr>
              <a:t>The project separates a durable extraction product from a controlled semantic experiment.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78992"/>
            <a:ext cx="10881360" cy="13716"/>
          </a:xfrm>
          <a:prstGeom prst="rect">
            <a:avLst/>
          </a:prstGeom>
          <a:solidFill>
            <a:srgbClr val="CFD8E0"/>
          </a:solidFill>
          <a:ln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10835640" cy="960120"/>
          </a:xfrm>
          <a:prstGeom prst="roundRect">
            <a:avLst/>
          </a:prstGeom>
          <a:solidFill>
            <a:srgbClr val="E1F4F2"/>
          </a:solidFill>
          <a:ln w="13970">
            <a:solidFill>
              <a:srgbClr val="238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64208"/>
            <a:ext cx="10287000" cy="53035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42841"/>
                </a:solidFill>
                <a:latin typeface="Aptos"/>
              </a:rPr>
              <a:t>On independently annotated blind scientific datasets, what causal contribution do one dataset-level semantic response and deterministic verification make beyond deterministic extraction?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743200"/>
            <a:ext cx="3429000" cy="2514600"/>
          </a:xfrm>
          <a:prstGeom prst="roundRect">
            <a:avLst/>
          </a:prstGeom>
          <a:solidFill>
            <a:srgbClr val="F4F7F9"/>
          </a:solidFill>
          <a:ln w="10160"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2743200"/>
            <a:ext cx="64008" cy="2514600"/>
          </a:xfrm>
          <a:prstGeom prst="rect">
            <a:avLst/>
          </a:prstGeom>
          <a:solidFill>
            <a:srgbClr val="256391"/>
          </a:solidFill>
          <a:ln>
            <a:solidFill>
              <a:srgbClr val="2563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2880360"/>
            <a:ext cx="3118104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42841"/>
                </a:solidFill>
                <a:latin typeface="Aptos"/>
              </a:rPr>
              <a:t>Deliverable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3255264"/>
            <a:ext cx="3118104" cy="1892807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222B35"/>
                </a:solidFill>
                <a:latin typeface="Aptos"/>
              </a:rPr>
              <a:t>Deterministic dataset-to-schema product
Useful even if semantic models add no reliable value. Physical structure remains parser-owned.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70832" y="2743200"/>
            <a:ext cx="3429000" cy="2514600"/>
          </a:xfrm>
          <a:prstGeom prst="roundRect">
            <a:avLst/>
          </a:prstGeom>
          <a:solidFill>
            <a:srgbClr val="F4F7F9"/>
          </a:solidFill>
          <a:ln w="10160"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70832" y="2743200"/>
            <a:ext cx="64008" cy="2514600"/>
          </a:xfrm>
          <a:prstGeom prst="rect">
            <a:avLst/>
          </a:prstGeom>
          <a:solidFill>
            <a:srgbClr val="238784"/>
          </a:solidFill>
          <a:ln>
            <a:solidFill>
              <a:srgbClr val="238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35424" y="2880360"/>
            <a:ext cx="3118104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42841"/>
                </a:solidFill>
                <a:latin typeface="Aptos"/>
              </a:rPr>
              <a:t>Deliverable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35424" y="3255264"/>
            <a:ext cx="3118104" cy="1892807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222B35"/>
                </a:solidFill>
                <a:latin typeface="Aptos"/>
              </a:rPr>
              <a:t>Semantic architecture research study
A/B/C/D replay-controlled comparison over frozen observation/task bundles.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10144" y="2743200"/>
            <a:ext cx="3429000" cy="2514600"/>
          </a:xfrm>
          <a:prstGeom prst="roundRect">
            <a:avLst/>
          </a:prstGeom>
          <a:solidFill>
            <a:srgbClr val="F4F7F9"/>
          </a:solidFill>
          <a:ln w="10160"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10144" y="2743200"/>
            <a:ext cx="64008" cy="2514600"/>
          </a:xfrm>
          <a:prstGeom prst="rect">
            <a:avLst/>
          </a:prstGeom>
          <a:solidFill>
            <a:srgbClr val="E5883D"/>
          </a:solidFill>
          <a:ln>
            <a:solidFill>
              <a:srgbClr val="E588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74736" y="2880360"/>
            <a:ext cx="3118104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42841"/>
                </a:solidFill>
                <a:latin typeface="Aptos"/>
              </a:rPr>
              <a:t>External track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74736" y="3255264"/>
            <a:ext cx="3118104" cy="1892807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222B35"/>
                </a:solidFill>
                <a:latin typeface="Aptos"/>
              </a:rPr>
              <a:t>NDP-50 validation
A bounded catalog sample with development, validation, and sealed-test splits plus human governance.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" y="5669280"/>
            <a:ext cx="1325880" cy="320040"/>
          </a:xfrm>
          <a:prstGeom prst="roundRect">
            <a:avLst/>
          </a:prstGeom>
          <a:solidFill>
            <a:srgbClr val="388E5C"/>
          </a:solidFill>
          <a:ln w="6350">
            <a:solidFill>
              <a:srgbClr val="388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5737860"/>
            <a:ext cx="1234439" cy="17373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VALID OUTCOME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77440" y="5687568"/>
            <a:ext cx="850392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22B35"/>
                </a:solidFill>
                <a:latin typeface="Aptos"/>
              </a:rPr>
              <a:t>A clean null, an underpowered comparison, or deterministic-only sufficiency is scientifically acceptable.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6537960"/>
            <a:ext cx="987552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E6C7A"/>
                </a:solidFill>
                <a:latin typeface="Aptos"/>
              </a:rPr>
              <a:t>Sources: project_convergence_2026-07-15.md; semantic_architecture_study_en.tex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18520" y="6519672"/>
            <a:ext cx="50292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E6C7A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256032"/>
            <a:ext cx="1088136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42841"/>
                </a:solidFill>
                <a:latin typeface="Aptos Display"/>
              </a:rPr>
              <a:t>Complete research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49808"/>
            <a:ext cx="1088136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5E6C7A"/>
                </a:solidFill>
                <a:latin typeface="Aptos"/>
              </a:rPr>
              <a:t>One deterministic substrate feeds a product, a controlled semantic study, and NDP-50 external validation.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78992"/>
            <a:ext cx="10881360" cy="13716"/>
          </a:xfrm>
          <a:prstGeom prst="rect">
            <a:avLst/>
          </a:prstGeom>
          <a:solidFill>
            <a:srgbClr val="CFD8E0"/>
          </a:solidFill>
          <a:ln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554480" cy="658368"/>
          </a:xfrm>
          <a:prstGeom prst="roundRect">
            <a:avLst/>
          </a:prstGeom>
          <a:solidFill>
            <a:srgbClr val="256391"/>
          </a:solidFill>
          <a:ln w="6350">
            <a:solidFill>
              <a:srgbClr val="2563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1" y="1581912"/>
            <a:ext cx="1408176" cy="30175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20" b="1">
                <a:solidFill>
                  <a:srgbClr val="FFFFFF"/>
                </a:solidFill>
                <a:latin typeface="Aptos"/>
              </a:rPr>
              <a:t>Scientific resource</a:t>
            </a:r>
          </a:p>
        </p:txBody>
      </p:sp>
      <p:sp>
        <p:nvSpPr>
          <p:cNvPr id="7" name="Chevron 6"/>
          <p:cNvSpPr/>
          <p:nvPr/>
        </p:nvSpPr>
        <p:spPr>
          <a:xfrm>
            <a:off x="2231136" y="1527048"/>
            <a:ext cx="274320" cy="438912"/>
          </a:xfrm>
          <a:prstGeom prst="chevron">
            <a:avLst/>
          </a:prstGeom>
          <a:solidFill>
            <a:srgbClr val="CFD8E0"/>
          </a:solidFill>
          <a:ln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395728" y="1417320"/>
            <a:ext cx="1554480" cy="658368"/>
          </a:xfrm>
          <a:prstGeom prst="roundRect">
            <a:avLst/>
          </a:prstGeom>
          <a:solidFill>
            <a:srgbClr val="256391"/>
          </a:solidFill>
          <a:ln w="6350">
            <a:solidFill>
              <a:srgbClr val="2563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68880" y="1581912"/>
            <a:ext cx="1408176" cy="30175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20" b="1">
                <a:solidFill>
                  <a:srgbClr val="FFFFFF"/>
                </a:solidFill>
                <a:latin typeface="Aptos"/>
              </a:rPr>
              <a:t>Format detection</a:t>
            </a:r>
          </a:p>
        </p:txBody>
      </p:sp>
      <p:sp>
        <p:nvSpPr>
          <p:cNvPr id="10" name="Chevron 9"/>
          <p:cNvSpPr/>
          <p:nvPr/>
        </p:nvSpPr>
        <p:spPr>
          <a:xfrm>
            <a:off x="3986784" y="1527048"/>
            <a:ext cx="274320" cy="438912"/>
          </a:xfrm>
          <a:prstGeom prst="chevron">
            <a:avLst/>
          </a:prstGeom>
          <a:solidFill>
            <a:srgbClr val="CFD8E0"/>
          </a:solidFill>
          <a:ln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151376" y="1417320"/>
            <a:ext cx="1554480" cy="658368"/>
          </a:xfrm>
          <a:prstGeom prst="roundRect">
            <a:avLst/>
          </a:prstGeom>
          <a:solidFill>
            <a:srgbClr val="256391"/>
          </a:solidFill>
          <a:ln w="6350">
            <a:solidFill>
              <a:srgbClr val="2563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24528" y="1581912"/>
            <a:ext cx="1408176" cy="30175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20" b="1">
                <a:solidFill>
                  <a:srgbClr val="FFFFFF"/>
                </a:solidFill>
                <a:latin typeface="Aptos"/>
              </a:rPr>
              <a:t>Registered extractor</a:t>
            </a:r>
          </a:p>
        </p:txBody>
      </p:sp>
      <p:sp>
        <p:nvSpPr>
          <p:cNvPr id="13" name="Chevron 12"/>
          <p:cNvSpPr/>
          <p:nvPr/>
        </p:nvSpPr>
        <p:spPr>
          <a:xfrm>
            <a:off x="5742432" y="1527048"/>
            <a:ext cx="274320" cy="438912"/>
          </a:xfrm>
          <a:prstGeom prst="chevron">
            <a:avLst/>
          </a:prstGeom>
          <a:solidFill>
            <a:srgbClr val="CFD8E0"/>
          </a:solidFill>
          <a:ln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907024" y="1417320"/>
            <a:ext cx="1554480" cy="658368"/>
          </a:xfrm>
          <a:prstGeom prst="roundRect">
            <a:avLst/>
          </a:prstGeom>
          <a:solidFill>
            <a:srgbClr val="238784"/>
          </a:solidFill>
          <a:ln w="6350">
            <a:solidFill>
              <a:srgbClr val="238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80176" y="1581912"/>
            <a:ext cx="1408176" cy="30175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20" b="1">
                <a:solidFill>
                  <a:srgbClr val="FFFFFF"/>
                </a:solidFill>
                <a:latin typeface="Aptos"/>
              </a:rPr>
              <a:t>Validators</a:t>
            </a:r>
          </a:p>
        </p:txBody>
      </p:sp>
      <p:sp>
        <p:nvSpPr>
          <p:cNvPr id="16" name="Chevron 15"/>
          <p:cNvSpPr/>
          <p:nvPr/>
        </p:nvSpPr>
        <p:spPr>
          <a:xfrm>
            <a:off x="7498079" y="1527048"/>
            <a:ext cx="274320" cy="438912"/>
          </a:xfrm>
          <a:prstGeom prst="chevron">
            <a:avLst/>
          </a:prstGeom>
          <a:solidFill>
            <a:srgbClr val="CFD8E0"/>
          </a:solidFill>
          <a:ln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662671" y="1417320"/>
            <a:ext cx="1554480" cy="658368"/>
          </a:xfrm>
          <a:prstGeom prst="roundRect">
            <a:avLst/>
          </a:prstGeom>
          <a:solidFill>
            <a:srgbClr val="238784"/>
          </a:solidFill>
          <a:ln w="6350">
            <a:solidFill>
              <a:srgbClr val="238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35823" y="1581912"/>
            <a:ext cx="1408176" cy="30175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20" b="1">
                <a:solidFill>
                  <a:srgbClr val="FFFFFF"/>
                </a:solidFill>
                <a:latin typeface="Aptos"/>
              </a:rPr>
              <a:t>Claims + evidence</a:t>
            </a:r>
          </a:p>
        </p:txBody>
      </p:sp>
      <p:sp>
        <p:nvSpPr>
          <p:cNvPr id="19" name="Chevron 18"/>
          <p:cNvSpPr/>
          <p:nvPr/>
        </p:nvSpPr>
        <p:spPr>
          <a:xfrm>
            <a:off x="9253728" y="1527048"/>
            <a:ext cx="274320" cy="438912"/>
          </a:xfrm>
          <a:prstGeom prst="chevron">
            <a:avLst/>
          </a:prstGeom>
          <a:solidFill>
            <a:srgbClr val="CFD8E0"/>
          </a:solidFill>
          <a:ln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418319" y="1417320"/>
            <a:ext cx="1554480" cy="658368"/>
          </a:xfrm>
          <a:prstGeom prst="roundRect">
            <a:avLst/>
          </a:prstGeom>
          <a:solidFill>
            <a:srgbClr val="1D3B58"/>
          </a:solidFill>
          <a:ln w="6350">
            <a:solidFill>
              <a:srgbClr val="1D3B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91472" y="1581912"/>
            <a:ext cx="1408176" cy="30175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20" b="1">
                <a:solidFill>
                  <a:srgbClr val="FFFFFF"/>
                </a:solidFill>
                <a:latin typeface="Aptos"/>
              </a:rPr>
              <a:t>Unified schema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2743200"/>
            <a:ext cx="3429000" cy="2331720"/>
          </a:xfrm>
          <a:prstGeom prst="roundRect">
            <a:avLst/>
          </a:prstGeom>
          <a:solidFill>
            <a:srgbClr val="F0F6FB"/>
          </a:solidFill>
          <a:ln w="10160"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85800" y="2743200"/>
            <a:ext cx="64008" cy="2331720"/>
          </a:xfrm>
          <a:prstGeom prst="rect">
            <a:avLst/>
          </a:prstGeom>
          <a:solidFill>
            <a:srgbClr val="256391"/>
          </a:solidFill>
          <a:ln>
            <a:solidFill>
              <a:srgbClr val="2563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0392" y="2880360"/>
            <a:ext cx="3118104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42841"/>
                </a:solidFill>
                <a:latin typeface="Aptos"/>
              </a:rPr>
              <a:t>Product path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0392" y="3255264"/>
            <a:ext cx="3118104" cy="1709927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222B35"/>
                </a:solidFill>
                <a:latin typeface="Aptos"/>
              </a:rPr>
              <a:t>Deterministic schema output
Success, partial, failed, abstained, unknown, and conflicted states remain explicit.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89120" y="2743200"/>
            <a:ext cx="3429000" cy="2331720"/>
          </a:xfrm>
          <a:prstGeom prst="roundRect">
            <a:avLst/>
          </a:prstGeom>
          <a:solidFill>
            <a:srgbClr val="E1F4F2"/>
          </a:solidFill>
          <a:ln w="10160"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389120" y="2743200"/>
            <a:ext cx="64008" cy="2331720"/>
          </a:xfrm>
          <a:prstGeom prst="rect">
            <a:avLst/>
          </a:prstGeom>
          <a:solidFill>
            <a:srgbClr val="238784"/>
          </a:solidFill>
          <a:ln>
            <a:solidFill>
              <a:srgbClr val="238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53712" y="2880360"/>
            <a:ext cx="3118104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42841"/>
                </a:solidFill>
                <a:latin typeface="Aptos"/>
              </a:rPr>
              <a:t>Semantic study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53712" y="3255264"/>
            <a:ext cx="3118104" cy="1709927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222B35"/>
                </a:solidFill>
                <a:latin typeface="Aptos"/>
              </a:rPr>
              <a:t>Fixed A/B/C/D variants
Independent blind gold, dataset-level paired comparisons, and fail-closed comparability.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92440" y="2743200"/>
            <a:ext cx="3429000" cy="2331720"/>
          </a:xfrm>
          <a:prstGeom prst="roundRect">
            <a:avLst/>
          </a:prstGeom>
          <a:solidFill>
            <a:srgbClr val="FCEFE2"/>
          </a:solidFill>
          <a:ln w="10160"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92440" y="2743200"/>
            <a:ext cx="64008" cy="2331720"/>
          </a:xfrm>
          <a:prstGeom prst="rect">
            <a:avLst/>
          </a:prstGeom>
          <a:solidFill>
            <a:srgbClr val="E5883D"/>
          </a:solidFill>
          <a:ln>
            <a:solidFill>
              <a:srgbClr val="E588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57031" y="2880360"/>
            <a:ext cx="3118104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42841"/>
                </a:solidFill>
                <a:latin typeface="Aptos"/>
              </a:rPr>
              <a:t>NDP-50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57031" y="3255264"/>
            <a:ext cx="3118104" cy="1709927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222B35"/>
                </a:solidFill>
                <a:latin typeface="Aptos"/>
              </a:rPr>
              <a:t>5,823-record candidate frame
15 development • 10 validation • 25 sealed test datasets.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4672" y="5532120"/>
            <a:ext cx="20574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9539B"/>
                </a:solidFill>
                <a:latin typeface="Aptos"/>
              </a:rPr>
              <a:t>HUMAN GOVERNANCE OVERLAY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834640" y="5413248"/>
            <a:ext cx="8412480" cy="502920"/>
          </a:xfrm>
          <a:prstGeom prst="roundRect">
            <a:avLst/>
          </a:prstGeom>
          <a:solidFill>
            <a:srgbClr val="EEE9F8"/>
          </a:solidFill>
          <a:ln w="10160">
            <a:solidFill>
              <a:srgbClr val="6953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971800" y="5541264"/>
            <a:ext cx="813816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69539B"/>
                </a:solidFill>
                <a:latin typeface="Aptos"/>
              </a:rPr>
              <a:t>Vocabulary • source approval • calibration • independent gold • execution/power freeze • governance • preregistration • test release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" y="6537960"/>
            <a:ext cx="987552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E6C7A"/>
                </a:solidFill>
                <a:latin typeface="Aptos"/>
              </a:rPr>
              <a:t>Sources: README.md; schema_research_project_architecture_walkthrough_EN.md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018520" y="6519672"/>
            <a:ext cx="50292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E6C7A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310896"/>
            <a:ext cx="1353312" cy="310896"/>
          </a:xfrm>
          <a:prstGeom prst="roundRect">
            <a:avLst/>
          </a:prstGeom>
          <a:solidFill>
            <a:srgbClr val="238784"/>
          </a:solidFill>
          <a:ln w="6350">
            <a:solidFill>
              <a:srgbClr val="238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94944" y="356616"/>
            <a:ext cx="1243584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ptos"/>
              </a:rPr>
              <a:t>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48840" y="256032"/>
            <a:ext cx="937260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42841"/>
                </a:solidFill>
                <a:latin typeface="Aptos Display"/>
              </a:rPr>
              <a:t>Deterministic product methodology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49808"/>
            <a:ext cx="1088136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5E6C7A"/>
                </a:solidFill>
                <a:latin typeface="Aptos"/>
              </a:rPr>
              <a:t>The system establishes physical truth before allowing semantic interpretation.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078992"/>
            <a:ext cx="10881360" cy="13716"/>
          </a:xfrm>
          <a:prstGeom prst="rect">
            <a:avLst/>
          </a:prstGeom>
          <a:solidFill>
            <a:srgbClr val="CFD8E0"/>
          </a:solidFill>
          <a:ln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79576" y="1389888"/>
            <a:ext cx="530352" cy="530352"/>
          </a:xfrm>
          <a:prstGeom prst="ellipse">
            <a:avLst/>
          </a:prstGeom>
          <a:solidFill>
            <a:srgbClr val="256391"/>
          </a:solidFill>
          <a:ln>
            <a:solidFill>
              <a:srgbClr val="2563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07592" y="1517904"/>
            <a:ext cx="27432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029968"/>
            <a:ext cx="1572768" cy="2240280"/>
          </a:xfrm>
          <a:prstGeom prst="roundRect">
            <a:avLst/>
          </a:prstGeom>
          <a:solidFill>
            <a:srgbClr val="F4F7F9"/>
          </a:solidFill>
          <a:ln w="10160"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2029968"/>
            <a:ext cx="64008" cy="2240280"/>
          </a:xfrm>
          <a:prstGeom prst="rect">
            <a:avLst/>
          </a:prstGeom>
          <a:solidFill>
            <a:srgbClr val="256391"/>
          </a:solidFill>
          <a:ln>
            <a:solidFill>
              <a:srgbClr val="2563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59" y="2167128"/>
            <a:ext cx="1261872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42841"/>
                </a:solidFill>
                <a:latin typeface="Aptos"/>
              </a:rPr>
              <a:t>Intake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" y="2542032"/>
            <a:ext cx="1261872" cy="16184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222B35"/>
                </a:solidFill>
                <a:latin typeface="Aptos"/>
              </a:rPr>
              <a:t>Validate path, type, limits, and safety boundaries</a:t>
            </a:r>
          </a:p>
        </p:txBody>
      </p:sp>
      <p:sp>
        <p:nvSpPr>
          <p:cNvPr id="13" name="Chevron 12"/>
          <p:cNvSpPr/>
          <p:nvPr/>
        </p:nvSpPr>
        <p:spPr>
          <a:xfrm>
            <a:off x="2286000" y="2852928"/>
            <a:ext cx="274320" cy="384048"/>
          </a:xfrm>
          <a:prstGeom prst="chevron">
            <a:avLst/>
          </a:prstGeom>
          <a:solidFill>
            <a:srgbClr val="CFD8E0"/>
          </a:solidFill>
          <a:ln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054095" y="1389888"/>
            <a:ext cx="530352" cy="530352"/>
          </a:xfrm>
          <a:prstGeom prst="ellipse">
            <a:avLst/>
          </a:prstGeom>
          <a:solidFill>
            <a:srgbClr val="256391"/>
          </a:solidFill>
          <a:ln>
            <a:solidFill>
              <a:srgbClr val="2563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182111" y="1517904"/>
            <a:ext cx="27432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532887" y="2029968"/>
            <a:ext cx="1572768" cy="2240280"/>
          </a:xfrm>
          <a:prstGeom prst="roundRect">
            <a:avLst/>
          </a:prstGeom>
          <a:solidFill>
            <a:srgbClr val="F4F7F9"/>
          </a:solidFill>
          <a:ln w="10160"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532887" y="2029968"/>
            <a:ext cx="64008" cy="2240280"/>
          </a:xfrm>
          <a:prstGeom prst="rect">
            <a:avLst/>
          </a:prstGeom>
          <a:solidFill>
            <a:srgbClr val="256391"/>
          </a:solidFill>
          <a:ln>
            <a:solidFill>
              <a:srgbClr val="2563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697479" y="2167128"/>
            <a:ext cx="1261872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42841"/>
                </a:solidFill>
                <a:latin typeface="Aptos"/>
              </a:rPr>
              <a:t>Detect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97479" y="2542032"/>
            <a:ext cx="1261872" cy="16184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222B35"/>
                </a:solidFill>
                <a:latin typeface="Aptos"/>
              </a:rPr>
              <a:t>Use signatures, compatible hints, suffixes, and bounded probes</a:t>
            </a:r>
          </a:p>
        </p:txBody>
      </p:sp>
      <p:sp>
        <p:nvSpPr>
          <p:cNvPr id="20" name="Chevron 19"/>
          <p:cNvSpPr/>
          <p:nvPr/>
        </p:nvSpPr>
        <p:spPr>
          <a:xfrm>
            <a:off x="4160520" y="2852928"/>
            <a:ext cx="274320" cy="384048"/>
          </a:xfrm>
          <a:prstGeom prst="chevron">
            <a:avLst/>
          </a:prstGeom>
          <a:solidFill>
            <a:srgbClr val="CFD8E0"/>
          </a:solidFill>
          <a:ln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928616" y="1389888"/>
            <a:ext cx="530352" cy="530352"/>
          </a:xfrm>
          <a:prstGeom prst="ellipse">
            <a:avLst/>
          </a:prstGeom>
          <a:solidFill>
            <a:srgbClr val="238784"/>
          </a:solidFill>
          <a:ln>
            <a:solidFill>
              <a:srgbClr val="238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56631" y="1517904"/>
            <a:ext cx="27432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407407" y="2029968"/>
            <a:ext cx="1572768" cy="2240280"/>
          </a:xfrm>
          <a:prstGeom prst="roundRect">
            <a:avLst/>
          </a:prstGeom>
          <a:solidFill>
            <a:srgbClr val="F4F7F9"/>
          </a:solidFill>
          <a:ln w="10160"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407407" y="2029968"/>
            <a:ext cx="64008" cy="2240280"/>
          </a:xfrm>
          <a:prstGeom prst="rect">
            <a:avLst/>
          </a:prstGeom>
          <a:solidFill>
            <a:srgbClr val="238784"/>
          </a:solidFill>
          <a:ln>
            <a:solidFill>
              <a:srgbClr val="238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1999" y="2167128"/>
            <a:ext cx="1261872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42841"/>
                </a:solidFill>
                <a:latin typeface="Aptos"/>
              </a:rPr>
              <a:t>Route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1999" y="2542032"/>
            <a:ext cx="1261872" cy="16184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222B35"/>
                </a:solidFill>
                <a:latin typeface="Aptos"/>
              </a:rPr>
              <a:t>Select only a registry-backed, specification-aware extractor</a:t>
            </a:r>
          </a:p>
        </p:txBody>
      </p:sp>
      <p:sp>
        <p:nvSpPr>
          <p:cNvPr id="27" name="Chevron 26"/>
          <p:cNvSpPr/>
          <p:nvPr/>
        </p:nvSpPr>
        <p:spPr>
          <a:xfrm>
            <a:off x="6035040" y="2852928"/>
            <a:ext cx="274320" cy="384048"/>
          </a:xfrm>
          <a:prstGeom prst="chevron">
            <a:avLst/>
          </a:prstGeom>
          <a:solidFill>
            <a:srgbClr val="CFD8E0"/>
          </a:solidFill>
          <a:ln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803136" y="1389888"/>
            <a:ext cx="530352" cy="530352"/>
          </a:xfrm>
          <a:prstGeom prst="ellipse">
            <a:avLst/>
          </a:prstGeom>
          <a:solidFill>
            <a:srgbClr val="238784"/>
          </a:solidFill>
          <a:ln>
            <a:solidFill>
              <a:srgbClr val="238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931151" y="1517904"/>
            <a:ext cx="27432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81927" y="2029968"/>
            <a:ext cx="1572768" cy="2240280"/>
          </a:xfrm>
          <a:prstGeom prst="roundRect">
            <a:avLst/>
          </a:prstGeom>
          <a:solidFill>
            <a:srgbClr val="F4F7F9"/>
          </a:solidFill>
          <a:ln w="10160"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81927" y="2029968"/>
            <a:ext cx="64008" cy="2240280"/>
          </a:xfrm>
          <a:prstGeom prst="rect">
            <a:avLst/>
          </a:prstGeom>
          <a:solidFill>
            <a:srgbClr val="238784"/>
          </a:solidFill>
          <a:ln>
            <a:solidFill>
              <a:srgbClr val="238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46519" y="2167128"/>
            <a:ext cx="1261872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42841"/>
                </a:solidFill>
                <a:latin typeface="Aptos"/>
              </a:rPr>
              <a:t>Extract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46519" y="2542032"/>
            <a:ext cx="1261872" cy="16184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222B35"/>
                </a:solidFill>
                <a:latin typeface="Aptos"/>
              </a:rPr>
              <a:t>Record fields, paths, dtypes, shapes, dimensions, and metadata</a:t>
            </a:r>
          </a:p>
        </p:txBody>
      </p:sp>
      <p:sp>
        <p:nvSpPr>
          <p:cNvPr id="34" name="Chevron 33"/>
          <p:cNvSpPr/>
          <p:nvPr/>
        </p:nvSpPr>
        <p:spPr>
          <a:xfrm>
            <a:off x="7909559" y="2852928"/>
            <a:ext cx="274320" cy="384048"/>
          </a:xfrm>
          <a:prstGeom prst="chevron">
            <a:avLst/>
          </a:prstGeom>
          <a:solidFill>
            <a:srgbClr val="CFD8E0"/>
          </a:solidFill>
          <a:ln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677655" y="1389888"/>
            <a:ext cx="530352" cy="530352"/>
          </a:xfrm>
          <a:prstGeom prst="ellipse">
            <a:avLst/>
          </a:prstGeom>
          <a:solidFill>
            <a:srgbClr val="E5883D"/>
          </a:solidFill>
          <a:ln>
            <a:solidFill>
              <a:srgbClr val="E588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805672" y="1517904"/>
            <a:ext cx="27432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156447" y="2029968"/>
            <a:ext cx="1572768" cy="2240280"/>
          </a:xfrm>
          <a:prstGeom prst="roundRect">
            <a:avLst/>
          </a:prstGeom>
          <a:solidFill>
            <a:srgbClr val="F4F7F9"/>
          </a:solidFill>
          <a:ln w="10160"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156447" y="2029968"/>
            <a:ext cx="64008" cy="2240280"/>
          </a:xfrm>
          <a:prstGeom prst="rect">
            <a:avLst/>
          </a:prstGeom>
          <a:solidFill>
            <a:srgbClr val="E5883D"/>
          </a:solidFill>
          <a:ln>
            <a:solidFill>
              <a:srgbClr val="E588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321039" y="2167128"/>
            <a:ext cx="1261872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42841"/>
                </a:solidFill>
                <a:latin typeface="Aptos"/>
              </a:rPr>
              <a:t>Validate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21039" y="2542032"/>
            <a:ext cx="1261872" cy="16184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222B35"/>
                </a:solidFill>
                <a:latin typeface="Aptos"/>
              </a:rPr>
              <a:t>Add auditable time, unit, profile, and conflict checks</a:t>
            </a:r>
          </a:p>
        </p:txBody>
      </p:sp>
      <p:sp>
        <p:nvSpPr>
          <p:cNvPr id="41" name="Chevron 40"/>
          <p:cNvSpPr/>
          <p:nvPr/>
        </p:nvSpPr>
        <p:spPr>
          <a:xfrm>
            <a:off x="9784079" y="2852928"/>
            <a:ext cx="274320" cy="384048"/>
          </a:xfrm>
          <a:prstGeom prst="chevron">
            <a:avLst/>
          </a:prstGeom>
          <a:solidFill>
            <a:srgbClr val="CFD8E0"/>
          </a:solidFill>
          <a:ln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0552176" y="1389888"/>
            <a:ext cx="530352" cy="530352"/>
          </a:xfrm>
          <a:prstGeom prst="ellipse">
            <a:avLst/>
          </a:prstGeom>
          <a:solidFill>
            <a:srgbClr val="1D3B58"/>
          </a:solidFill>
          <a:ln>
            <a:solidFill>
              <a:srgbClr val="1D3B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680192" y="1517904"/>
            <a:ext cx="27432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0030967" y="2029968"/>
            <a:ext cx="1572768" cy="2240280"/>
          </a:xfrm>
          <a:prstGeom prst="roundRect">
            <a:avLst/>
          </a:prstGeom>
          <a:solidFill>
            <a:srgbClr val="F4F7F9"/>
          </a:solidFill>
          <a:ln w="10160"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10030967" y="2029968"/>
            <a:ext cx="64008" cy="2240280"/>
          </a:xfrm>
          <a:prstGeom prst="rect">
            <a:avLst/>
          </a:prstGeom>
          <a:solidFill>
            <a:srgbClr val="1D3B58"/>
          </a:solidFill>
          <a:ln>
            <a:solidFill>
              <a:srgbClr val="1D3B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195559" y="2167128"/>
            <a:ext cx="1261872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42841"/>
                </a:solidFill>
                <a:latin typeface="Aptos"/>
              </a:rPr>
              <a:t>Envelope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195559" y="2542032"/>
            <a:ext cx="1261872" cy="16184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222B35"/>
                </a:solidFill>
                <a:latin typeface="Aptos"/>
              </a:rPr>
              <a:t>Project claims, evidence, provenance, issues, and uncertainty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31520" y="4736592"/>
            <a:ext cx="3401568" cy="1115568"/>
          </a:xfrm>
          <a:prstGeom prst="roundRect">
            <a:avLst/>
          </a:prstGeom>
          <a:solidFill>
            <a:srgbClr val="FAE8E6"/>
          </a:solidFill>
          <a:ln w="10160"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731520" y="4736592"/>
            <a:ext cx="64008" cy="1115568"/>
          </a:xfrm>
          <a:prstGeom prst="rect">
            <a:avLst/>
          </a:prstGeom>
          <a:solidFill>
            <a:srgbClr val="BC4641"/>
          </a:solidFill>
          <a:ln>
            <a:solidFill>
              <a:srgbClr val="BC46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96112" y="4873752"/>
            <a:ext cx="3090672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142841"/>
                </a:solidFill>
                <a:latin typeface="Aptos"/>
              </a:rPr>
              <a:t>Non-negotiable boundary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96112" y="5248656"/>
            <a:ext cx="3090672" cy="493775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80" b="0">
                <a:solidFill>
                  <a:srgbClr val="222B35"/>
                </a:solidFill>
                <a:latin typeface="Aptos"/>
              </a:rPr>
              <a:t>Semantic interpretation cannot create physical fields or overwrite stronger explicit metadata.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4389120" y="4736592"/>
            <a:ext cx="3401568" cy="1115568"/>
          </a:xfrm>
          <a:prstGeom prst="roundRect">
            <a:avLst/>
          </a:prstGeom>
          <a:solidFill>
            <a:srgbClr val="FCEFE2"/>
          </a:solidFill>
          <a:ln w="10160"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4389120" y="4736592"/>
            <a:ext cx="64008" cy="1115568"/>
          </a:xfrm>
          <a:prstGeom prst="rect">
            <a:avLst/>
          </a:prstGeom>
          <a:solidFill>
            <a:srgbClr val="E5883D"/>
          </a:solidFill>
          <a:ln>
            <a:solidFill>
              <a:srgbClr val="E588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553712" y="4873752"/>
            <a:ext cx="3090672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142841"/>
                </a:solidFill>
                <a:latin typeface="Aptos"/>
              </a:rPr>
              <a:t>Honest failure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553712" y="5248656"/>
            <a:ext cx="3090672" cy="493775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80" b="0">
                <a:solidFill>
                  <a:srgbClr val="222B35"/>
                </a:solidFill>
                <a:latin typeface="Aptos"/>
              </a:rPr>
              <a:t>Unsupported or conflicting inputs produce structured abstention, partial, failure, unknown, or conflict states.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8046720" y="4736592"/>
            <a:ext cx="3401568" cy="1115568"/>
          </a:xfrm>
          <a:prstGeom prst="roundRect">
            <a:avLst/>
          </a:prstGeom>
          <a:solidFill>
            <a:srgbClr val="E1F4F2"/>
          </a:solidFill>
          <a:ln w="10160"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8046720" y="4736592"/>
            <a:ext cx="64008" cy="1115568"/>
          </a:xfrm>
          <a:prstGeom prst="rect">
            <a:avLst/>
          </a:prstGeom>
          <a:solidFill>
            <a:srgbClr val="238784"/>
          </a:solidFill>
          <a:ln>
            <a:solidFill>
              <a:srgbClr val="238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211312" y="4873752"/>
            <a:ext cx="3090672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142841"/>
                </a:solidFill>
                <a:latin typeface="Aptos"/>
              </a:rPr>
              <a:t>Auditability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211312" y="5248656"/>
            <a:ext cx="3090672" cy="493775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80" b="0">
                <a:solidFill>
                  <a:srgbClr val="222B35"/>
                </a:solidFill>
                <a:latin typeface="Aptos"/>
              </a:rPr>
              <a:t>Accepted claims remain traceable to source evidence, extractor identity, and deterministic validators.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58368" y="6537960"/>
            <a:ext cx="987552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E6C7A"/>
                </a:solidFill>
                <a:latin typeface="Aptos"/>
              </a:rPr>
              <a:t>Sources: project_abstract.md; file_in_to_schema_out_process_details_en.md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1018520" y="6519672"/>
            <a:ext cx="50292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E6C7A"/>
                </a:solidFill>
                <a:latin typeface="Apto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310896"/>
            <a:ext cx="1353312" cy="310896"/>
          </a:xfrm>
          <a:prstGeom prst="roundRect">
            <a:avLst/>
          </a:prstGeom>
          <a:solidFill>
            <a:srgbClr val="238784"/>
          </a:solidFill>
          <a:ln w="6350">
            <a:solidFill>
              <a:srgbClr val="238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94944" y="356616"/>
            <a:ext cx="1243584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ptos"/>
              </a:rPr>
              <a:t>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48840" y="256032"/>
            <a:ext cx="937260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42841"/>
                </a:solidFill>
                <a:latin typeface="Aptos Display"/>
              </a:rPr>
              <a:t>Four fixed semantic architecture variants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49808"/>
            <a:ext cx="1088136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5E6C7A"/>
                </a:solidFill>
                <a:latin typeface="Aptos"/>
              </a:rPr>
              <a:t>No new arm may be added after outcomes are observed.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078992"/>
            <a:ext cx="10881360" cy="13716"/>
          </a:xfrm>
          <a:prstGeom prst="rect">
            <a:avLst/>
          </a:prstGeom>
          <a:solidFill>
            <a:srgbClr val="CFD8E0"/>
          </a:solidFill>
          <a:ln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2651760" cy="4069080"/>
          </a:xfrm>
          <a:prstGeom prst="roundRect">
            <a:avLst/>
          </a:prstGeom>
          <a:solidFill>
            <a:srgbClr val="EEF5FB"/>
          </a:solidFill>
          <a:ln w="13970">
            <a:solidFill>
              <a:srgbClr val="2563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527048" y="1664208"/>
            <a:ext cx="960120" cy="960120"/>
          </a:xfrm>
          <a:prstGeom prst="ellipse">
            <a:avLst/>
          </a:prstGeom>
          <a:solidFill>
            <a:srgbClr val="256391"/>
          </a:solidFill>
          <a:ln>
            <a:solidFill>
              <a:srgbClr val="2563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755648" y="1883664"/>
            <a:ext cx="50292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Aptos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2816352"/>
            <a:ext cx="2322576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42841"/>
                </a:solidFill>
                <a:latin typeface="Aptos"/>
              </a:rPr>
              <a:t>Deterministic only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3401568"/>
            <a:ext cx="2157984" cy="10789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22B35"/>
                </a:solidFill>
                <a:latin typeface="Aptos"/>
              </a:rPr>
              <a:t>Parser-owned schema and deterministic claims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399032" y="4782312"/>
            <a:ext cx="1234440" cy="320040"/>
          </a:xfrm>
          <a:prstGeom prst="roundRect">
            <a:avLst/>
          </a:prstGeom>
          <a:solidFill>
            <a:srgbClr val="256391"/>
          </a:solidFill>
          <a:ln w="6350">
            <a:solidFill>
              <a:srgbClr val="2563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44752" y="4850892"/>
            <a:ext cx="1143000" cy="17373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0 calls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38728" y="1417320"/>
            <a:ext cx="2651760" cy="4069080"/>
          </a:xfrm>
          <a:prstGeom prst="roundRect">
            <a:avLst/>
          </a:prstGeom>
          <a:solidFill>
            <a:srgbClr val="E1F4F2"/>
          </a:solidFill>
          <a:ln w="13970">
            <a:solidFill>
              <a:srgbClr val="238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379976" y="1664208"/>
            <a:ext cx="960120" cy="960120"/>
          </a:xfrm>
          <a:prstGeom prst="ellipse">
            <a:avLst/>
          </a:prstGeom>
          <a:solidFill>
            <a:srgbClr val="238784"/>
          </a:solidFill>
          <a:ln>
            <a:solidFill>
              <a:srgbClr val="238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08576" y="1883664"/>
            <a:ext cx="50292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Aptos"/>
              </a:rPr>
              <a:t>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03320" y="2816352"/>
            <a:ext cx="2322576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42841"/>
                </a:solidFill>
                <a:latin typeface="Aptos"/>
              </a:rPr>
              <a:t>Dataset reasoner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85616" y="3401568"/>
            <a:ext cx="2157984" cy="10789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22B35"/>
                </a:solidFill>
                <a:latin typeface="Aptos"/>
              </a:rPr>
              <a:t>At most one dataset-level response for unresolved targets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51960" y="4782312"/>
            <a:ext cx="1234440" cy="320040"/>
          </a:xfrm>
          <a:prstGeom prst="roundRect">
            <a:avLst/>
          </a:prstGeom>
          <a:solidFill>
            <a:srgbClr val="238784"/>
          </a:solidFill>
          <a:ln w="6350">
            <a:solidFill>
              <a:srgbClr val="238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97680" y="4850892"/>
            <a:ext cx="1143000" cy="17373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≤1 / dataset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91656" y="1417320"/>
            <a:ext cx="2651760" cy="4069080"/>
          </a:xfrm>
          <a:prstGeom prst="roundRect">
            <a:avLst/>
          </a:prstGeom>
          <a:solidFill>
            <a:srgbClr val="FCEFE2"/>
          </a:solidFill>
          <a:ln w="13970">
            <a:solidFill>
              <a:srgbClr val="E588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232904" y="1664208"/>
            <a:ext cx="960120" cy="960120"/>
          </a:xfrm>
          <a:prstGeom prst="ellipse">
            <a:avLst/>
          </a:prstGeom>
          <a:solidFill>
            <a:srgbClr val="E5883D"/>
          </a:solidFill>
          <a:ln>
            <a:solidFill>
              <a:srgbClr val="E588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61504" y="1883664"/>
            <a:ext cx="50292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Aptos"/>
              </a:rPr>
              <a:t>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56248" y="2816352"/>
            <a:ext cx="2322576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42841"/>
                </a:solidFill>
                <a:latin typeface="Aptos"/>
              </a:rPr>
              <a:t>Replay + verifier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38544" y="3401568"/>
            <a:ext cx="2157984" cy="10789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22B35"/>
                </a:solidFill>
                <a:latin typeface="Aptos"/>
              </a:rPr>
              <a:t>Exact B response; identity, relevance, contradiction, and conflict checks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104888" y="4782312"/>
            <a:ext cx="1234440" cy="320040"/>
          </a:xfrm>
          <a:prstGeom prst="roundRect">
            <a:avLst/>
          </a:prstGeom>
          <a:solidFill>
            <a:srgbClr val="E5883D"/>
          </a:solidFill>
          <a:ln w="6350">
            <a:solidFill>
              <a:srgbClr val="E588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150608" y="4850892"/>
            <a:ext cx="1143000" cy="17373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0 new calls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244584" y="1417320"/>
            <a:ext cx="2651760" cy="4069080"/>
          </a:xfrm>
          <a:prstGeom prst="roundRect">
            <a:avLst/>
          </a:prstGeom>
          <a:solidFill>
            <a:srgbClr val="EEE9F8"/>
          </a:solidFill>
          <a:ln w="13970">
            <a:solidFill>
              <a:srgbClr val="6953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085832" y="1664208"/>
            <a:ext cx="960120" cy="960120"/>
          </a:xfrm>
          <a:prstGeom prst="ellipse">
            <a:avLst/>
          </a:prstGeom>
          <a:solidFill>
            <a:srgbClr val="69539B"/>
          </a:solidFill>
          <a:ln>
            <a:solidFill>
              <a:srgbClr val="6953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14432" y="1883664"/>
            <a:ext cx="50292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Aptos"/>
              </a:rPr>
              <a:t>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09176" y="2816352"/>
            <a:ext cx="2322576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42841"/>
                </a:solidFill>
                <a:latin typeface="Aptos"/>
              </a:rPr>
              <a:t>Legacy pipeline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491472" y="3401568"/>
            <a:ext cx="2157984" cy="10789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22B35"/>
                </a:solidFill>
                <a:latin typeface="Aptos"/>
              </a:rPr>
              <a:t>Per-field/manual-group scheduling and historical fallback/merge behavior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957815" y="4782312"/>
            <a:ext cx="1234440" cy="320040"/>
          </a:xfrm>
          <a:prstGeom prst="roundRect">
            <a:avLst/>
          </a:prstGeom>
          <a:solidFill>
            <a:srgbClr val="69539B"/>
          </a:solidFill>
          <a:ln w="6350">
            <a:solidFill>
              <a:srgbClr val="6953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03536" y="4850892"/>
            <a:ext cx="1143000" cy="17373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Variable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4672" y="5742432"/>
            <a:ext cx="1508760" cy="2103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E5883D"/>
                </a:solidFill>
                <a:latin typeface="Aptos"/>
              </a:rPr>
              <a:t>Cleanest intervention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31720" y="5687568"/>
            <a:ext cx="864108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222B35"/>
                </a:solidFill>
                <a:latin typeface="Aptos"/>
              </a:rPr>
              <a:t>B → C isolates deterministic verification because C must consume the byte-identical B response and make zero generation calls.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" y="6537960"/>
            <a:ext cx="987552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E6C7A"/>
                </a:solidFill>
                <a:latin typeface="Aptos"/>
              </a:rPr>
              <a:t>Source: semantic_architecture_study_en.tex, The Four Fixed Architecture Variants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018520" y="6519672"/>
            <a:ext cx="50292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E6C7A"/>
                </a:solidFill>
                <a:latin typeface="Apto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310896"/>
            <a:ext cx="1353312" cy="310896"/>
          </a:xfrm>
          <a:prstGeom prst="roundRect">
            <a:avLst/>
          </a:prstGeom>
          <a:solidFill>
            <a:srgbClr val="238784"/>
          </a:solidFill>
          <a:ln w="6350">
            <a:solidFill>
              <a:srgbClr val="238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94944" y="356616"/>
            <a:ext cx="1243584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ptos"/>
              </a:rPr>
              <a:t>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48840" y="256032"/>
            <a:ext cx="937260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42841"/>
                </a:solidFill>
                <a:latin typeface="Aptos Display"/>
              </a:rPr>
              <a:t>Claim, evidence, and applicability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49808"/>
            <a:ext cx="1088136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5E6C7A"/>
                </a:solidFill>
                <a:latin typeface="Aptos"/>
              </a:rPr>
              <a:t>Correctness, confidence, evidence, and decision state are deliberately separate.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078992"/>
            <a:ext cx="10881360" cy="13716"/>
          </a:xfrm>
          <a:prstGeom prst="rect">
            <a:avLst/>
          </a:prstGeom>
          <a:solidFill>
            <a:srgbClr val="CFD8E0"/>
          </a:solidFill>
          <a:ln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13232" y="1417320"/>
            <a:ext cx="3886200" cy="960120"/>
          </a:xfrm>
          <a:prstGeom prst="roundRect">
            <a:avLst/>
          </a:prstGeom>
          <a:solidFill>
            <a:srgbClr val="142841"/>
          </a:solidFill>
          <a:ln>
            <a:solidFill>
              <a:srgbClr val="1428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728216"/>
            <a:ext cx="3456432" cy="3017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50" b="1">
                <a:solidFill>
                  <a:srgbClr val="FFFFFF"/>
                </a:solidFill>
                <a:latin typeface="Aptos"/>
              </a:rPr>
              <a:t>c = (field, property, value, evidence, confidence, decision)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679192"/>
            <a:ext cx="3977639" cy="2514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450">
                <a:solidFill>
                  <a:srgbClr val="238784"/>
                </a:solidFill>
                <a:latin typeface="Aptos"/>
              </a:rPr>
              <a:t>• </a:t>
            </a:r>
            <a:r>
              <a:rPr sz="1450" b="1">
                <a:solidFill>
                  <a:srgbClr val="222B35"/>
                </a:solidFill>
                <a:latin typeface="Aptos"/>
              </a:rPr>
              <a:t>Evidence</a:t>
            </a:r>
            <a:r>
              <a:rPr sz="1450">
                <a:solidFill>
                  <a:srgbClr val="222B35"/>
                </a:solidFill>
                <a:latin typeface="Aptos"/>
              </a:rPr>
              <a:t> — identifies the source span or artifact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450">
                <a:solidFill>
                  <a:srgbClr val="238784"/>
                </a:solidFill>
                <a:latin typeface="Aptos"/>
              </a:rPr>
              <a:t>• </a:t>
            </a:r>
            <a:r>
              <a:rPr sz="1450" b="1">
                <a:solidFill>
                  <a:srgbClr val="222B35"/>
                </a:solidFill>
                <a:latin typeface="Aptos"/>
              </a:rPr>
              <a:t>Confidence</a:t>
            </a:r>
            <a:r>
              <a:rPr sz="1450">
                <a:solidFill>
                  <a:srgbClr val="222B35"/>
                </a:solidFill>
                <a:latin typeface="Aptos"/>
              </a:rPr>
              <a:t> — orders selective predictions; it is never evidence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450">
                <a:solidFill>
                  <a:srgbClr val="238784"/>
                </a:solidFill>
                <a:latin typeface="Aptos"/>
              </a:rPr>
              <a:t>• </a:t>
            </a:r>
            <a:r>
              <a:rPr sz="1450" b="1">
                <a:solidFill>
                  <a:srgbClr val="222B35"/>
                </a:solidFill>
                <a:latin typeface="Aptos"/>
              </a:rPr>
              <a:t>Decision</a:t>
            </a:r>
            <a:r>
              <a:rPr sz="1450">
                <a:solidFill>
                  <a:srgbClr val="222B35"/>
                </a:solidFill>
                <a:latin typeface="Aptos"/>
              </a:rPr>
              <a:t> — accepted, rejected, or abstained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450">
                <a:solidFill>
                  <a:srgbClr val="238784"/>
                </a:solidFill>
                <a:latin typeface="Aptos"/>
              </a:rPr>
              <a:t>• </a:t>
            </a:r>
            <a:r>
              <a:rPr sz="1450" b="1">
                <a:solidFill>
                  <a:srgbClr val="222B35"/>
                </a:solidFill>
                <a:latin typeface="Aptos"/>
              </a:rPr>
              <a:t>Verification</a:t>
            </a:r>
            <a:r>
              <a:rPr sz="1450">
                <a:solidFill>
                  <a:srgbClr val="222B35"/>
                </a:solidFill>
                <a:latin typeface="Aptos"/>
              </a:rPr>
              <a:t> — support, contradiction, conflict, or unsupported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74920" y="1389888"/>
            <a:ext cx="2377440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42841"/>
                </a:solidFill>
                <a:latin typeface="Aptos"/>
              </a:rPr>
              <a:t>Gold applicability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74920" y="1920240"/>
            <a:ext cx="6217920" cy="822960"/>
          </a:xfrm>
          <a:prstGeom prst="roundRect">
            <a:avLst/>
          </a:prstGeom>
          <a:solidFill>
            <a:srgbClr val="E6F4EB"/>
          </a:solidFill>
          <a:ln w="10160"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74920" y="1920240"/>
            <a:ext cx="64008" cy="822960"/>
          </a:xfrm>
          <a:prstGeom prst="rect">
            <a:avLst/>
          </a:prstGeom>
          <a:solidFill>
            <a:srgbClr val="388E5C"/>
          </a:solidFill>
          <a:ln>
            <a:solidFill>
              <a:srgbClr val="388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39512" y="2057400"/>
            <a:ext cx="5907024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142841"/>
                </a:solidFill>
                <a:latin typeface="Aptos"/>
              </a:rPr>
              <a:t>Applicable + value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39512" y="2432304"/>
            <a:ext cx="5907024" cy="201167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222B35"/>
                </a:solidFill>
                <a:latin typeface="Aptos"/>
              </a:rPr>
              <a:t>A canonical value exists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74920" y="2852928"/>
            <a:ext cx="6217920" cy="822960"/>
          </a:xfrm>
          <a:prstGeom prst="roundRect">
            <a:avLst/>
          </a:prstGeom>
          <a:solidFill>
            <a:srgbClr val="FCEFE2"/>
          </a:solidFill>
          <a:ln w="10160"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74920" y="2852928"/>
            <a:ext cx="64008" cy="822960"/>
          </a:xfrm>
          <a:prstGeom prst="rect">
            <a:avLst/>
          </a:prstGeom>
          <a:solidFill>
            <a:srgbClr val="E5883D"/>
          </a:solidFill>
          <a:ln>
            <a:solidFill>
              <a:srgbClr val="E588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39512" y="2990088"/>
            <a:ext cx="5907024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142841"/>
                </a:solidFill>
                <a:latin typeface="Aptos"/>
              </a:rPr>
              <a:t>Applicable + unknown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39512" y="3364992"/>
            <a:ext cx="5907024" cy="201167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222B35"/>
                </a:solidFill>
                <a:latin typeface="Aptos"/>
              </a:rPr>
              <a:t>The property applies, but the value is legitimately unknown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74920" y="3785616"/>
            <a:ext cx="6217920" cy="822960"/>
          </a:xfrm>
          <a:prstGeom prst="roundRect">
            <a:avLst/>
          </a:prstGeom>
          <a:solidFill>
            <a:srgbClr val="EEF5FB"/>
          </a:solidFill>
          <a:ln w="10160"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74920" y="3785616"/>
            <a:ext cx="64008" cy="822960"/>
          </a:xfrm>
          <a:prstGeom prst="rect">
            <a:avLst/>
          </a:prstGeom>
          <a:solidFill>
            <a:srgbClr val="256391"/>
          </a:solidFill>
          <a:ln>
            <a:solidFill>
              <a:srgbClr val="2563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39512" y="3922776"/>
            <a:ext cx="5907024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142841"/>
                </a:solidFill>
                <a:latin typeface="Aptos"/>
              </a:rPr>
              <a:t>Not applicable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39512" y="4297680"/>
            <a:ext cx="5907024" cy="201167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222B35"/>
                </a:solidFill>
                <a:latin typeface="Aptos"/>
              </a:rPr>
              <a:t>The property does not apply to the field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74920" y="4718304"/>
            <a:ext cx="6217920" cy="822960"/>
          </a:xfrm>
          <a:prstGeom prst="roundRect">
            <a:avLst/>
          </a:prstGeom>
          <a:solidFill>
            <a:srgbClr val="EEE9F8"/>
          </a:solidFill>
          <a:ln w="10160"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074920" y="4718304"/>
            <a:ext cx="64008" cy="822960"/>
          </a:xfrm>
          <a:prstGeom prst="rect">
            <a:avLst/>
          </a:prstGeom>
          <a:solidFill>
            <a:srgbClr val="69539B"/>
          </a:solidFill>
          <a:ln>
            <a:solidFill>
              <a:srgbClr val="6953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239512" y="4855464"/>
            <a:ext cx="5907024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142841"/>
                </a:solidFill>
                <a:latin typeface="Aptos"/>
              </a:rPr>
              <a:t>Outside gold scope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39512" y="5230368"/>
            <a:ext cx="5907024" cy="201167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222B35"/>
                </a:solidFill>
                <a:latin typeface="Aptos"/>
              </a:rPr>
              <a:t>The open-world target is not scored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120640" y="5742432"/>
            <a:ext cx="1280160" cy="320040"/>
          </a:xfrm>
          <a:prstGeom prst="roundRect">
            <a:avLst/>
          </a:prstGeom>
          <a:solidFill>
            <a:srgbClr val="BC4641"/>
          </a:solidFill>
          <a:ln w="6350">
            <a:solidFill>
              <a:srgbClr val="BC46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166359" y="5811012"/>
            <a:ext cx="1188719" cy="17373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FAIL CLOSED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0" y="5733288"/>
            <a:ext cx="466344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222B35"/>
                </a:solidFill>
                <a:latin typeface="Aptos"/>
              </a:rPr>
              <a:t>Missing gold, partial execution, or replay failure suppresses the architecture comparison.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" y="6537960"/>
            <a:ext cx="987552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E6C7A"/>
                </a:solidFill>
                <a:latin typeface="Aptos"/>
              </a:rPr>
              <a:t>Source: semantic_architecture_study_en.tex, Problem Formulation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018520" y="6519672"/>
            <a:ext cx="50292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E6C7A"/>
                </a:solidFill>
                <a:latin typeface="Apto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310896"/>
            <a:ext cx="1353312" cy="310896"/>
          </a:xfrm>
          <a:prstGeom prst="roundRect">
            <a:avLst/>
          </a:prstGeom>
          <a:solidFill>
            <a:srgbClr val="238784"/>
          </a:solidFill>
          <a:ln w="6350">
            <a:solidFill>
              <a:srgbClr val="238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94944" y="356616"/>
            <a:ext cx="1243584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ptos"/>
              </a:rPr>
              <a:t>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48840" y="256032"/>
            <a:ext cx="937260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42841"/>
                </a:solidFill>
                <a:latin typeface="Aptos Display"/>
              </a:rPr>
              <a:t>Evaluation methodology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49808"/>
            <a:ext cx="1088136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5E6C7A"/>
                </a:solidFill>
                <a:latin typeface="Aptos"/>
              </a:rPr>
              <a:t>Primary quality, selective behavior, unsupported claims, and resource cost remain separate.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078992"/>
            <a:ext cx="10881360" cy="13716"/>
          </a:xfrm>
          <a:prstGeom prst="rect">
            <a:avLst/>
          </a:prstGeom>
          <a:solidFill>
            <a:srgbClr val="CFD8E0"/>
          </a:solidFill>
          <a:ln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85800" y="1481328"/>
            <a:ext cx="2697480" cy="1828800"/>
          </a:xfrm>
          <a:prstGeom prst="roundRect">
            <a:avLst/>
          </a:prstGeom>
          <a:solidFill>
            <a:srgbClr val="F4F7F9"/>
          </a:solidFill>
          <a:ln w="10160"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481328"/>
            <a:ext cx="64008" cy="1828800"/>
          </a:xfrm>
          <a:prstGeom prst="rect">
            <a:avLst/>
          </a:prstGeom>
          <a:solidFill>
            <a:srgbClr val="256391"/>
          </a:solidFill>
          <a:ln>
            <a:solidFill>
              <a:srgbClr val="2563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1618488"/>
            <a:ext cx="2386584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20" b="1">
                <a:solidFill>
                  <a:srgbClr val="142841"/>
                </a:solidFill>
                <a:latin typeface="Aptos"/>
              </a:rPr>
              <a:t>End-to-end accuracy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1993392"/>
            <a:ext cx="2386584" cy="1207007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22B35"/>
                </a:solidFill>
                <a:latin typeface="Aptos"/>
              </a:rPr>
              <a:t>|correct accepted| / |applicable-value slots|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38728" y="1481328"/>
            <a:ext cx="2697480" cy="1828800"/>
          </a:xfrm>
          <a:prstGeom prst="roundRect">
            <a:avLst/>
          </a:prstGeom>
          <a:solidFill>
            <a:srgbClr val="F4F7F9"/>
          </a:solidFill>
          <a:ln w="10160"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538728" y="1481328"/>
            <a:ext cx="64008" cy="1828800"/>
          </a:xfrm>
          <a:prstGeom prst="rect">
            <a:avLst/>
          </a:prstGeom>
          <a:solidFill>
            <a:srgbClr val="238784"/>
          </a:solidFill>
          <a:ln>
            <a:solidFill>
              <a:srgbClr val="238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03320" y="1618488"/>
            <a:ext cx="2386584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20" b="1">
                <a:solidFill>
                  <a:srgbClr val="142841"/>
                </a:solidFill>
                <a:latin typeface="Aptos"/>
              </a:rPr>
              <a:t>Coverage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1993392"/>
            <a:ext cx="2386584" cy="1207007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22B35"/>
                </a:solidFill>
                <a:latin typeface="Aptos"/>
              </a:rPr>
              <a:t>|accepted predictions| / |applicable-value slots|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91656" y="1481328"/>
            <a:ext cx="2697480" cy="1828800"/>
          </a:xfrm>
          <a:prstGeom prst="roundRect">
            <a:avLst/>
          </a:prstGeom>
          <a:solidFill>
            <a:srgbClr val="F4F7F9"/>
          </a:solidFill>
          <a:ln w="10160"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91656" y="1481328"/>
            <a:ext cx="64008" cy="1828800"/>
          </a:xfrm>
          <a:prstGeom prst="rect">
            <a:avLst/>
          </a:prstGeom>
          <a:solidFill>
            <a:srgbClr val="E5883D"/>
          </a:solidFill>
          <a:ln>
            <a:solidFill>
              <a:srgbClr val="E588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56248" y="1618488"/>
            <a:ext cx="2386584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20" b="1">
                <a:solidFill>
                  <a:srgbClr val="142841"/>
                </a:solidFill>
                <a:latin typeface="Aptos"/>
              </a:rPr>
              <a:t>Selective risk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56248" y="1993392"/>
            <a:ext cx="2386584" cy="1207007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22B35"/>
                </a:solidFill>
                <a:latin typeface="Aptos"/>
              </a:rPr>
              <a:t>1 − |correct accepted| / |accepted predictions|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244584" y="1481328"/>
            <a:ext cx="2697480" cy="1828800"/>
          </a:xfrm>
          <a:prstGeom prst="roundRect">
            <a:avLst/>
          </a:prstGeom>
          <a:solidFill>
            <a:srgbClr val="F4F7F9"/>
          </a:solidFill>
          <a:ln w="10160"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244584" y="1481328"/>
            <a:ext cx="64008" cy="1828800"/>
          </a:xfrm>
          <a:prstGeom prst="rect">
            <a:avLst/>
          </a:prstGeom>
          <a:solidFill>
            <a:srgbClr val="BC4641"/>
          </a:solidFill>
          <a:ln>
            <a:solidFill>
              <a:srgbClr val="BC46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09176" y="1618488"/>
            <a:ext cx="2386584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20" b="1">
                <a:solidFill>
                  <a:srgbClr val="142841"/>
                </a:solidFill>
                <a:latin typeface="Aptos"/>
              </a:rPr>
              <a:t>Unsupported-claim rate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09176" y="1993392"/>
            <a:ext cx="2386584" cy="1207007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22B35"/>
                </a:solidFill>
                <a:latin typeface="Aptos"/>
              </a:rPr>
              <a:t>Computed only over model-proposed or model-accepted claims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3685032"/>
            <a:ext cx="3401568" cy="1664208"/>
          </a:xfrm>
          <a:prstGeom prst="roundRect">
            <a:avLst/>
          </a:prstGeom>
          <a:solidFill>
            <a:srgbClr val="EEE9F8"/>
          </a:solidFill>
          <a:ln w="10160"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31520" y="3685032"/>
            <a:ext cx="64008" cy="1664208"/>
          </a:xfrm>
          <a:prstGeom prst="rect">
            <a:avLst/>
          </a:prstGeom>
          <a:solidFill>
            <a:srgbClr val="69539B"/>
          </a:solidFill>
          <a:ln>
            <a:solidFill>
              <a:srgbClr val="6953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96112" y="3822192"/>
            <a:ext cx="3090672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42841"/>
                </a:solidFill>
                <a:latin typeface="Aptos"/>
              </a:rPr>
              <a:t>Risk–coverage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6112" y="4197096"/>
            <a:ext cx="3090672" cy="104241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40" b="0">
                <a:solidFill>
                  <a:srgbClr val="222B35"/>
                </a:solidFill>
                <a:latin typeface="Aptos"/>
              </a:rPr>
              <a:t>Confidence orders whole tie groups. AURC is integrated only over achieved coverage; it is secondary.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89120" y="3685032"/>
            <a:ext cx="3401568" cy="1664208"/>
          </a:xfrm>
          <a:prstGeom prst="roundRect">
            <a:avLst/>
          </a:prstGeom>
          <a:solidFill>
            <a:srgbClr val="E1F4F2"/>
          </a:solidFill>
          <a:ln w="10160"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389120" y="3685032"/>
            <a:ext cx="64008" cy="1664208"/>
          </a:xfrm>
          <a:prstGeom prst="rect">
            <a:avLst/>
          </a:prstGeom>
          <a:solidFill>
            <a:srgbClr val="238784"/>
          </a:solidFill>
          <a:ln>
            <a:solidFill>
              <a:srgbClr val="238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53712" y="3822192"/>
            <a:ext cx="3090672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42841"/>
                </a:solidFill>
                <a:latin typeface="Aptos"/>
              </a:rPr>
              <a:t>Calibration rule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53712" y="4197096"/>
            <a:ext cx="3090672" cy="104241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40" b="0">
                <a:solidFill>
                  <a:srgbClr val="222B35"/>
                </a:solidFill>
                <a:latin typeface="Aptos"/>
              </a:rPr>
              <a:t>Brier score, fixed-bin ECE, and calibration language require ≥30 accepted observations per arm and property.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046720" y="3685032"/>
            <a:ext cx="3401568" cy="1664208"/>
          </a:xfrm>
          <a:prstGeom prst="roundRect">
            <a:avLst/>
          </a:prstGeom>
          <a:solidFill>
            <a:srgbClr val="FCEFE2"/>
          </a:solidFill>
          <a:ln w="10160"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046720" y="3685032"/>
            <a:ext cx="64008" cy="1664208"/>
          </a:xfrm>
          <a:prstGeom prst="rect">
            <a:avLst/>
          </a:prstGeom>
          <a:solidFill>
            <a:srgbClr val="E5883D"/>
          </a:solidFill>
          <a:ln>
            <a:solidFill>
              <a:srgbClr val="E588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11312" y="3822192"/>
            <a:ext cx="3090672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42841"/>
                </a:solidFill>
                <a:latin typeface="Aptos"/>
              </a:rPr>
              <a:t>Cost accounting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11312" y="4197096"/>
            <a:ext cx="3090672" cy="104241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40" b="0">
                <a:solidFill>
                  <a:srgbClr val="222B35"/>
                </a:solidFill>
                <a:latin typeface="Aptos"/>
              </a:rPr>
              <a:t>Generated calls, reused calls, failures, retries, tokens, model latency, end-to-end latency, and hardware stay visible.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4672" y="5788152"/>
            <a:ext cx="1508760" cy="2103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BC4641"/>
                </a:solidFill>
                <a:latin typeface="Aptos"/>
              </a:rPr>
              <a:t>Undefined is not zero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31720" y="5733288"/>
            <a:ext cx="832104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222B35"/>
                </a:solidFill>
                <a:latin typeface="Aptos"/>
              </a:rPr>
              <a:t>When no prediction is accepted, selective accuracy and selective risk remain undefined.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" y="6537960"/>
            <a:ext cx="987552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E6C7A"/>
                </a:solidFill>
                <a:latin typeface="Aptos"/>
              </a:rPr>
              <a:t>Sources: semantic_architecture_study_en.tex; ndp50_statistical_analysis_plan_v1.md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018520" y="6519672"/>
            <a:ext cx="50292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E6C7A"/>
                </a:solidFill>
                <a:latin typeface="Apto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310896"/>
            <a:ext cx="1353312" cy="310896"/>
          </a:xfrm>
          <a:prstGeom prst="roundRect">
            <a:avLst/>
          </a:prstGeom>
          <a:solidFill>
            <a:srgbClr val="238784"/>
          </a:solidFill>
          <a:ln w="6350">
            <a:solidFill>
              <a:srgbClr val="238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94944" y="356616"/>
            <a:ext cx="1243584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ptos"/>
              </a:rPr>
              <a:t>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48840" y="256032"/>
            <a:ext cx="937260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42841"/>
                </a:solidFill>
                <a:latin typeface="Aptos Display"/>
              </a:rPr>
              <a:t>Blind gold and information-separation methodology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49808"/>
            <a:ext cx="1088136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5E6C7A"/>
                </a:solidFill>
                <a:latin typeface="Aptos"/>
              </a:rPr>
              <a:t>The reference standard is created independently and remains prediction-blind.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078992"/>
            <a:ext cx="10881360" cy="13716"/>
          </a:xfrm>
          <a:prstGeom prst="rect">
            <a:avLst/>
          </a:prstGeom>
          <a:solidFill>
            <a:srgbClr val="CFD8E0"/>
          </a:solidFill>
          <a:ln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6928" y="1600200"/>
            <a:ext cx="2057400" cy="2788920"/>
          </a:xfrm>
          <a:prstGeom prst="roundRect">
            <a:avLst/>
          </a:prstGeom>
          <a:solidFill>
            <a:srgbClr val="F4F7F9"/>
          </a:solidFill>
          <a:ln w="10160"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600200"/>
            <a:ext cx="64008" cy="2788920"/>
          </a:xfrm>
          <a:prstGeom prst="rect">
            <a:avLst/>
          </a:prstGeom>
          <a:solidFill>
            <a:srgbClr val="256391"/>
          </a:solidFill>
          <a:ln>
            <a:solidFill>
              <a:srgbClr val="2563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737360"/>
            <a:ext cx="1746504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142841"/>
                </a:solidFill>
                <a:latin typeface="Aptos"/>
              </a:rPr>
              <a:t>Calibrate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112264"/>
            <a:ext cx="1746504" cy="2167127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80" b="0">
                <a:solidFill>
                  <a:srgbClr val="222B35"/>
                </a:solidFill>
                <a:latin typeface="Aptos"/>
              </a:rPr>
              <a:t>The exact annotator pair passes a preregistered non-NDP round</a:t>
            </a:r>
          </a:p>
        </p:txBody>
      </p:sp>
      <p:sp>
        <p:nvSpPr>
          <p:cNvPr id="11" name="Chevron 10"/>
          <p:cNvSpPr/>
          <p:nvPr/>
        </p:nvSpPr>
        <p:spPr>
          <a:xfrm>
            <a:off x="2651760" y="2697480"/>
            <a:ext cx="256032" cy="438912"/>
          </a:xfrm>
          <a:prstGeom prst="chevron">
            <a:avLst/>
          </a:prstGeom>
          <a:solidFill>
            <a:srgbClr val="CFD8E0"/>
          </a:solidFill>
          <a:ln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898648" y="1600200"/>
            <a:ext cx="2057400" cy="2788920"/>
          </a:xfrm>
          <a:prstGeom prst="roundRect">
            <a:avLst/>
          </a:prstGeom>
          <a:solidFill>
            <a:srgbClr val="F4F7F9"/>
          </a:solidFill>
          <a:ln w="10160"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898648" y="1600200"/>
            <a:ext cx="64008" cy="2788920"/>
          </a:xfrm>
          <a:prstGeom prst="rect">
            <a:avLst/>
          </a:prstGeom>
          <a:solidFill>
            <a:srgbClr val="238784"/>
          </a:solidFill>
          <a:ln>
            <a:solidFill>
              <a:srgbClr val="238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63240" y="1737360"/>
            <a:ext cx="1746504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142841"/>
                </a:solidFill>
                <a:latin typeface="Aptos"/>
              </a:rPr>
              <a:t>Annotate independently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63240" y="2112264"/>
            <a:ext cx="1746504" cy="2167127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80" b="0">
                <a:solidFill>
                  <a:srgbClr val="222B35"/>
                </a:solidFill>
                <a:latin typeface="Aptos"/>
              </a:rPr>
              <a:t>Two non-developers label the same corpus without architecture outputs</a:t>
            </a:r>
          </a:p>
        </p:txBody>
      </p:sp>
      <p:sp>
        <p:nvSpPr>
          <p:cNvPr id="16" name="Chevron 15"/>
          <p:cNvSpPr/>
          <p:nvPr/>
        </p:nvSpPr>
        <p:spPr>
          <a:xfrm>
            <a:off x="4983479" y="2697480"/>
            <a:ext cx="256032" cy="438912"/>
          </a:xfrm>
          <a:prstGeom prst="chevron">
            <a:avLst/>
          </a:prstGeom>
          <a:solidFill>
            <a:srgbClr val="CFD8E0"/>
          </a:solidFill>
          <a:ln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230368" y="1600200"/>
            <a:ext cx="2057400" cy="2788920"/>
          </a:xfrm>
          <a:prstGeom prst="roundRect">
            <a:avLst/>
          </a:prstGeom>
          <a:solidFill>
            <a:srgbClr val="F4F7F9"/>
          </a:solidFill>
          <a:ln w="10160"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230368" y="1600200"/>
            <a:ext cx="64008" cy="2788920"/>
          </a:xfrm>
          <a:prstGeom prst="rect">
            <a:avLst/>
          </a:prstGeom>
          <a:solidFill>
            <a:srgbClr val="E5883D"/>
          </a:solidFill>
          <a:ln>
            <a:solidFill>
              <a:srgbClr val="E588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94959" y="1737360"/>
            <a:ext cx="1746504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142841"/>
                </a:solidFill>
                <a:latin typeface="Aptos"/>
              </a:rPr>
              <a:t>Freeze hashes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94959" y="2112264"/>
            <a:ext cx="1746504" cy="2167127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80" b="0">
                <a:solidFill>
                  <a:srgbClr val="222B35"/>
                </a:solidFill>
                <a:latin typeface="Aptos"/>
              </a:rPr>
              <a:t>Both submissions are content-hashed before any disagreement is revealed</a:t>
            </a:r>
          </a:p>
        </p:txBody>
      </p:sp>
      <p:sp>
        <p:nvSpPr>
          <p:cNvPr id="21" name="Chevron 20"/>
          <p:cNvSpPr/>
          <p:nvPr/>
        </p:nvSpPr>
        <p:spPr>
          <a:xfrm>
            <a:off x="7315200" y="2697480"/>
            <a:ext cx="256032" cy="438912"/>
          </a:xfrm>
          <a:prstGeom prst="chevron">
            <a:avLst/>
          </a:prstGeom>
          <a:solidFill>
            <a:srgbClr val="CFD8E0"/>
          </a:solidFill>
          <a:ln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562088" y="1600200"/>
            <a:ext cx="2057400" cy="2788920"/>
          </a:xfrm>
          <a:prstGeom prst="roundRect">
            <a:avLst/>
          </a:prstGeom>
          <a:solidFill>
            <a:srgbClr val="F4F7F9"/>
          </a:solidFill>
          <a:ln w="10160"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562088" y="1600200"/>
            <a:ext cx="64008" cy="2788920"/>
          </a:xfrm>
          <a:prstGeom prst="rect">
            <a:avLst/>
          </a:prstGeom>
          <a:solidFill>
            <a:srgbClr val="69539B"/>
          </a:solidFill>
          <a:ln>
            <a:solidFill>
              <a:srgbClr val="6953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26679" y="1737360"/>
            <a:ext cx="1746504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142841"/>
                </a:solidFill>
                <a:latin typeface="Aptos"/>
              </a:rPr>
              <a:t>Reconcile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26679" y="2112264"/>
            <a:ext cx="1746504" cy="2167127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80" b="0">
                <a:solidFill>
                  <a:srgbClr val="222B35"/>
                </a:solidFill>
                <a:latin typeface="Aptos"/>
              </a:rPr>
              <a:t>Human consensus resolves disagreements with evidence; no automatic judge</a:t>
            </a:r>
          </a:p>
        </p:txBody>
      </p:sp>
      <p:sp>
        <p:nvSpPr>
          <p:cNvPr id="26" name="Chevron 25"/>
          <p:cNvSpPr/>
          <p:nvPr/>
        </p:nvSpPr>
        <p:spPr>
          <a:xfrm>
            <a:off x="9646919" y="2697480"/>
            <a:ext cx="256032" cy="438912"/>
          </a:xfrm>
          <a:prstGeom prst="chevron">
            <a:avLst/>
          </a:prstGeom>
          <a:solidFill>
            <a:srgbClr val="CFD8E0"/>
          </a:solidFill>
          <a:ln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893808" y="1600200"/>
            <a:ext cx="2057400" cy="2788920"/>
          </a:xfrm>
          <a:prstGeom prst="roundRect">
            <a:avLst/>
          </a:prstGeom>
          <a:solidFill>
            <a:srgbClr val="F4F7F9"/>
          </a:solidFill>
          <a:ln w="10160"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893808" y="1600200"/>
            <a:ext cx="64008" cy="2788920"/>
          </a:xfrm>
          <a:prstGeom prst="rect">
            <a:avLst/>
          </a:prstGeom>
          <a:solidFill>
            <a:srgbClr val="388E5C"/>
          </a:solidFill>
          <a:ln>
            <a:solidFill>
              <a:srgbClr val="388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058400" y="1737360"/>
            <a:ext cx="1746504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142841"/>
                </a:solidFill>
                <a:latin typeface="Aptos"/>
              </a:rPr>
              <a:t>Approve gold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58400" y="2112264"/>
            <a:ext cx="1746504" cy="2167127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80" b="0">
                <a:solidFill>
                  <a:srgbClr val="222B35"/>
                </a:solidFill>
                <a:latin typeface="Aptos"/>
              </a:rPr>
              <a:t>Zero unresolved required slots before the blind reference is released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31520" y="4828032"/>
            <a:ext cx="5257800" cy="1051560"/>
          </a:xfrm>
          <a:prstGeom prst="roundRect">
            <a:avLst/>
          </a:prstGeom>
          <a:solidFill>
            <a:srgbClr val="FAE8E6"/>
          </a:solidFill>
          <a:ln w="10160"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31520" y="4828032"/>
            <a:ext cx="64008" cy="1051560"/>
          </a:xfrm>
          <a:prstGeom prst="rect">
            <a:avLst/>
          </a:prstGeom>
          <a:solidFill>
            <a:srgbClr val="BC4641"/>
          </a:solidFill>
          <a:ln>
            <a:solidFill>
              <a:srgbClr val="BC46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96112" y="4965192"/>
            <a:ext cx="4946904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142841"/>
                </a:solidFill>
                <a:latin typeface="Aptos"/>
              </a:rPr>
              <a:t>Hidden from annotators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96112" y="5340096"/>
            <a:ext cx="4946904" cy="429767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20" b="0">
                <a:solidFill>
                  <a:srgbClr val="222B35"/>
                </a:solidFill>
                <a:latin typeface="Aptos"/>
              </a:rPr>
              <a:t>A/B/C/D outputs • backend performance • final statistical results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199632" y="4828032"/>
            <a:ext cx="5257800" cy="1051560"/>
          </a:xfrm>
          <a:prstGeom prst="roundRect">
            <a:avLst/>
          </a:prstGeom>
          <a:solidFill>
            <a:srgbClr val="FAE8E6"/>
          </a:solidFill>
          <a:ln w="10160"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199632" y="4828032"/>
            <a:ext cx="64008" cy="1051560"/>
          </a:xfrm>
          <a:prstGeom prst="rect">
            <a:avLst/>
          </a:prstGeom>
          <a:solidFill>
            <a:srgbClr val="BC4641"/>
          </a:solidFill>
          <a:ln>
            <a:solidFill>
              <a:srgbClr val="BC46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64224" y="4965192"/>
            <a:ext cx="4946904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142841"/>
                </a:solidFill>
                <a:latin typeface="Aptos"/>
              </a:rPr>
              <a:t>Hidden from models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64224" y="5340096"/>
            <a:ext cx="4946904" cy="429767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20" b="0">
                <a:solidFill>
                  <a:srgbClr val="222B35"/>
                </a:solidFill>
                <a:latin typeface="Aptos"/>
              </a:rPr>
              <a:t>Gold labels • gold-only evidence • sealed test outcomes • another reviewer’s submission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" y="6537960"/>
            <a:ext cx="987552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E6C7A"/>
                </a:solidFill>
                <a:latin typeface="Aptos"/>
              </a:rPr>
              <a:t>Sources: semantic_gold_workflow_protocol_v1.md; semantic_annotator_calibration_protocol_v1.md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018520" y="6519672"/>
            <a:ext cx="50292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E6C7A"/>
                </a:solidFill>
                <a:latin typeface="Apto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310896"/>
            <a:ext cx="1353312" cy="310896"/>
          </a:xfrm>
          <a:prstGeom prst="roundRect">
            <a:avLst/>
          </a:prstGeom>
          <a:solidFill>
            <a:srgbClr val="238784"/>
          </a:solidFill>
          <a:ln w="6350">
            <a:solidFill>
              <a:srgbClr val="238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94944" y="356616"/>
            <a:ext cx="1243584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ptos"/>
              </a:rPr>
              <a:t>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48840" y="256032"/>
            <a:ext cx="937260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42841"/>
                </a:solidFill>
                <a:latin typeface="Aptos Display"/>
              </a:rPr>
              <a:t>NDP-50 corpus construction and execution policy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49808"/>
            <a:ext cx="1088136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5E6C7A"/>
                </a:solidFill>
                <a:latin typeface="Aptos"/>
              </a:rPr>
              <a:t>A bounded external-validation design—not a claim about all NDP or all scientific repositories.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078992"/>
            <a:ext cx="10881360" cy="13716"/>
          </a:xfrm>
          <a:prstGeom prst="rect">
            <a:avLst/>
          </a:prstGeom>
          <a:solidFill>
            <a:srgbClr val="CFD8E0"/>
          </a:solidFill>
          <a:ln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1417320"/>
            <a:ext cx="182880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142841"/>
                </a:solidFill>
                <a:latin typeface="Aptos"/>
              </a:rPr>
              <a:t>5,823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947672"/>
            <a:ext cx="18288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5E6C7A"/>
                </a:solidFill>
                <a:latin typeface="Aptos"/>
              </a:rPr>
              <a:t>catalog records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61488" y="1417320"/>
            <a:ext cx="114300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142841"/>
                </a:solidFill>
                <a:latin typeface="Aptos"/>
              </a:rPr>
              <a:t>75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88920" y="1947672"/>
            <a:ext cx="146304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5E6C7A"/>
                </a:solidFill>
                <a:latin typeface="Aptos"/>
              </a:rPr>
              <a:t>organizations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53128" y="1417320"/>
            <a:ext cx="109728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142841"/>
                </a:solidFill>
                <a:latin typeface="Aptos"/>
              </a:rPr>
              <a:t>50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1947672"/>
            <a:ext cx="17373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5E6C7A"/>
                </a:solidFill>
                <a:latin typeface="Aptos"/>
              </a:rPr>
              <a:t>selected datasets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9808" y="2468880"/>
            <a:ext cx="1632204" cy="566928"/>
          </a:xfrm>
          <a:prstGeom prst="rect">
            <a:avLst/>
          </a:prstGeom>
          <a:solidFill>
            <a:srgbClr val="256391"/>
          </a:solidFill>
          <a:ln w="762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2551176"/>
            <a:ext cx="1577339" cy="35661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ptos"/>
              </a:rPr>
              <a:t>Development
15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382012" y="2468880"/>
            <a:ext cx="1088136" cy="566928"/>
          </a:xfrm>
          <a:prstGeom prst="rect">
            <a:avLst/>
          </a:prstGeom>
          <a:solidFill>
            <a:srgbClr val="238784"/>
          </a:solidFill>
          <a:ln w="762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409444" y="2551176"/>
            <a:ext cx="1033271" cy="35661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ptos"/>
              </a:rPr>
              <a:t>Validation
10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70148" y="2468880"/>
            <a:ext cx="2720340" cy="566928"/>
          </a:xfrm>
          <a:prstGeom prst="rect">
            <a:avLst/>
          </a:prstGeom>
          <a:solidFill>
            <a:srgbClr val="E5883D"/>
          </a:solidFill>
          <a:ln w="762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97579" y="2551176"/>
            <a:ext cx="2665476" cy="35661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ptos"/>
              </a:rPr>
              <a:t>Sealed test
25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3364992"/>
            <a:ext cx="5486400" cy="21031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350">
                <a:solidFill>
                  <a:srgbClr val="238784"/>
                </a:solidFill>
                <a:latin typeface="Aptos"/>
              </a:rPr>
              <a:t>• </a:t>
            </a:r>
            <a:r>
              <a:rPr sz="1350" b="1">
                <a:solidFill>
                  <a:srgbClr val="222B35"/>
                </a:solidFill>
                <a:latin typeface="Aptos"/>
              </a:rPr>
              <a:t>Selection</a:t>
            </a:r>
            <a:r>
              <a:rPr sz="1350">
                <a:solidFill>
                  <a:srgbClr val="222B35"/>
                </a:solidFill>
                <a:latin typeface="Aptos"/>
              </a:rPr>
              <a:t> — format strata, organization cap, registered seed, and SHA-256 priority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350">
                <a:solidFill>
                  <a:srgbClr val="238784"/>
                </a:solidFill>
                <a:latin typeface="Aptos"/>
              </a:rPr>
              <a:t>• </a:t>
            </a:r>
            <a:r>
              <a:rPr sz="1350" b="1">
                <a:solidFill>
                  <a:srgbClr val="222B35"/>
                </a:solidFill>
                <a:latin typeface="Aptos"/>
              </a:rPr>
              <a:t>Statistical unit</a:t>
            </a:r>
            <a:r>
              <a:rPr sz="1350">
                <a:solidFill>
                  <a:srgbClr val="222B35"/>
                </a:solidFill>
                <a:latin typeface="Aptos"/>
              </a:rPr>
              <a:t> — dataset; resources remain clustered within their source dataset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350">
                <a:solidFill>
                  <a:srgbClr val="238784"/>
                </a:solidFill>
                <a:latin typeface="Aptos"/>
              </a:rPr>
              <a:t>• </a:t>
            </a:r>
            <a:r>
              <a:rPr sz="1350" b="1">
                <a:solidFill>
                  <a:srgbClr val="222B35"/>
                </a:solidFill>
                <a:latin typeface="Aptos"/>
              </a:rPr>
              <a:t>Development rule</a:t>
            </a:r>
            <a:r>
              <a:rPr sz="1350">
                <a:solidFill>
                  <a:srgbClr val="222B35"/>
                </a:solidFill>
                <a:latin typeface="Aptos"/>
              </a:rPr>
              <a:t> — only development cases may motivate general implementation changes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350">
                <a:solidFill>
                  <a:srgbClr val="238784"/>
                </a:solidFill>
                <a:latin typeface="Aptos"/>
              </a:rPr>
              <a:t>• </a:t>
            </a:r>
            <a:r>
              <a:rPr sz="1350" b="1">
                <a:solidFill>
                  <a:srgbClr val="222B35"/>
                </a:solidFill>
                <a:latin typeface="Aptos"/>
              </a:rPr>
              <a:t>Test rule</a:t>
            </a:r>
            <a:r>
              <a:rPr sz="1350">
                <a:solidFill>
                  <a:srgbClr val="222B35"/>
                </a:solidFill>
                <a:latin typeface="Aptos"/>
              </a:rPr>
              <a:t> — 25 test identities/details remain sealed until all release gates pass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37960" y="1417320"/>
            <a:ext cx="4892040" cy="1170432"/>
          </a:xfrm>
          <a:prstGeom prst="roundRect">
            <a:avLst/>
          </a:prstGeom>
          <a:solidFill>
            <a:srgbClr val="EEF5FB"/>
          </a:solidFill>
          <a:ln w="10160"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537960" y="1417320"/>
            <a:ext cx="64008" cy="1170432"/>
          </a:xfrm>
          <a:prstGeom prst="rect">
            <a:avLst/>
          </a:prstGeom>
          <a:solidFill>
            <a:srgbClr val="256391"/>
          </a:solidFill>
          <a:ln>
            <a:solidFill>
              <a:srgbClr val="2563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02552" y="1554480"/>
            <a:ext cx="4581144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42841"/>
                </a:solidFill>
                <a:latin typeface="Aptos"/>
              </a:rPr>
              <a:t>Deterministic resource policy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02552" y="1929384"/>
            <a:ext cx="4581144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22B35"/>
                </a:solidFill>
                <a:latin typeface="Aptos"/>
              </a:rPr>
              <a:t>At most 3 extractor-eligible resources per dataset • 25 MiB per resource • 50 MiB transferred per dataset • bounded retries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37960" y="2743200"/>
            <a:ext cx="4892040" cy="1170432"/>
          </a:xfrm>
          <a:prstGeom prst="roundRect">
            <a:avLst/>
          </a:prstGeom>
          <a:solidFill>
            <a:srgbClr val="E1F4F2"/>
          </a:solidFill>
          <a:ln w="10160"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537960" y="2743200"/>
            <a:ext cx="64008" cy="1170432"/>
          </a:xfrm>
          <a:prstGeom prst="rect">
            <a:avLst/>
          </a:prstGeom>
          <a:solidFill>
            <a:srgbClr val="238784"/>
          </a:solidFill>
          <a:ln>
            <a:solidFill>
              <a:srgbClr val="238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02552" y="2880360"/>
            <a:ext cx="4581144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42841"/>
                </a:solidFill>
                <a:latin typeface="Aptos"/>
              </a:rPr>
              <a:t>Declared vs. observed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02552" y="3255264"/>
            <a:ext cx="4581144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22B35"/>
                </a:solidFill>
                <a:latin typeface="Aptos"/>
              </a:rPr>
              <a:t>Catalog metadata is evidence, not gold. Agreement, conflict, missing declaration, and untestable remain distinct.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37960" y="4069080"/>
            <a:ext cx="4892040" cy="1170432"/>
          </a:xfrm>
          <a:prstGeom prst="roundRect">
            <a:avLst/>
          </a:prstGeom>
          <a:solidFill>
            <a:srgbClr val="FCEFE2"/>
          </a:solidFill>
          <a:ln w="10160"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37960" y="4069080"/>
            <a:ext cx="64008" cy="1170432"/>
          </a:xfrm>
          <a:prstGeom prst="rect">
            <a:avLst/>
          </a:prstGeom>
          <a:solidFill>
            <a:srgbClr val="E5883D"/>
          </a:solidFill>
          <a:ln>
            <a:solidFill>
              <a:srgbClr val="E588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702552" y="4206240"/>
            <a:ext cx="4581144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42841"/>
                </a:solidFill>
                <a:latin typeface="Aptos"/>
              </a:rPr>
              <a:t>Capability-debt loop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02552" y="4581144"/>
            <a:ext cx="4581144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22B35"/>
                </a:solidFill>
                <a:latin typeface="Aptos"/>
              </a:rPr>
              <a:t>Every accepted fix requires a general rule, minimized regression fixture, validation evidence, and a change record—never a dataset-name mapping.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" y="6537960"/>
            <a:ext cx="987552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E6C7A"/>
                </a:solidFill>
                <a:latin typeface="Aptos"/>
              </a:rPr>
              <a:t>Source: ndp50_protocol_v1.md; NDP-50 section of the current manuscript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018520" y="6519672"/>
            <a:ext cx="50292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E6C7A"/>
                </a:solidFill>
                <a:latin typeface="Aptos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310896"/>
            <a:ext cx="1353312" cy="310896"/>
          </a:xfrm>
          <a:prstGeom prst="roundRect">
            <a:avLst/>
          </a:prstGeom>
          <a:solidFill>
            <a:srgbClr val="238784"/>
          </a:solidFill>
          <a:ln w="6350">
            <a:solidFill>
              <a:srgbClr val="238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94944" y="356616"/>
            <a:ext cx="1243584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ptos"/>
              </a:rPr>
              <a:t>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48840" y="256032"/>
            <a:ext cx="937260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42841"/>
                </a:solidFill>
                <a:latin typeface="Aptos Display"/>
              </a:rPr>
              <a:t>Statistical methodology for the blind study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49808"/>
            <a:ext cx="1088136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5E6C7A"/>
                </a:solidFill>
                <a:latin typeface="Aptos"/>
              </a:rPr>
              <a:t>Predeclared dataset-level effects, multiplicity control, and explicit noncomparability.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078992"/>
            <a:ext cx="10881360" cy="13716"/>
          </a:xfrm>
          <a:prstGeom prst="rect">
            <a:avLst/>
          </a:prstGeom>
          <a:solidFill>
            <a:srgbClr val="CFD8E0"/>
          </a:solidFill>
          <a:ln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444752"/>
            <a:ext cx="3383280" cy="1325880"/>
          </a:xfrm>
          <a:prstGeom prst="roundRect">
            <a:avLst/>
          </a:prstGeom>
          <a:solidFill>
            <a:srgbClr val="EEF5FB"/>
          </a:solidFill>
          <a:ln w="10160"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444752"/>
            <a:ext cx="64008" cy="1325880"/>
          </a:xfrm>
          <a:prstGeom prst="rect">
            <a:avLst/>
          </a:prstGeom>
          <a:solidFill>
            <a:srgbClr val="256391"/>
          </a:solidFill>
          <a:ln>
            <a:solidFill>
              <a:srgbClr val="2563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581912"/>
            <a:ext cx="3072384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142841"/>
                </a:solidFill>
                <a:latin typeface="Aptos"/>
              </a:rPr>
              <a:t>Co-primary contrasts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1956816"/>
            <a:ext cx="3072384" cy="704087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30" b="0">
                <a:solidFill>
                  <a:srgbClr val="222B35"/>
                </a:solidFill>
                <a:latin typeface="Aptos"/>
              </a:rPr>
              <a:t>A − B: contribution of one dataset-level semantic response
B − C: contribution of deterministic verification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07408" y="1444752"/>
            <a:ext cx="3383280" cy="1325880"/>
          </a:xfrm>
          <a:prstGeom prst="roundRect">
            <a:avLst/>
          </a:prstGeom>
          <a:solidFill>
            <a:srgbClr val="E1F4F2"/>
          </a:solidFill>
          <a:ln w="10160"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07408" y="1444752"/>
            <a:ext cx="64008" cy="1325880"/>
          </a:xfrm>
          <a:prstGeom prst="rect">
            <a:avLst/>
          </a:prstGeom>
          <a:solidFill>
            <a:srgbClr val="238784"/>
          </a:solidFill>
          <a:ln>
            <a:solidFill>
              <a:srgbClr val="238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1581912"/>
            <a:ext cx="3072384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142841"/>
                </a:solidFill>
                <a:latin typeface="Aptos"/>
              </a:rPr>
              <a:t>Primary test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1956816"/>
            <a:ext cx="3072384" cy="704087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30" b="0">
                <a:solidFill>
                  <a:srgbClr val="222B35"/>
                </a:solidFill>
                <a:latin typeface="Aptos"/>
              </a:rPr>
              <a:t>Paired two-sided sign-flip tests on dataset-level differences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83296" y="1444752"/>
            <a:ext cx="3383280" cy="1325880"/>
          </a:xfrm>
          <a:prstGeom prst="roundRect">
            <a:avLst/>
          </a:prstGeom>
          <a:solidFill>
            <a:srgbClr val="FCEFE2"/>
          </a:solidFill>
          <a:ln w="10160"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83296" y="1444752"/>
            <a:ext cx="64008" cy="1325880"/>
          </a:xfrm>
          <a:prstGeom prst="rect">
            <a:avLst/>
          </a:prstGeom>
          <a:solidFill>
            <a:srgbClr val="E5883D"/>
          </a:solidFill>
          <a:ln>
            <a:solidFill>
              <a:srgbClr val="E588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47888" y="1581912"/>
            <a:ext cx="3072384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142841"/>
                </a:solidFill>
                <a:latin typeface="Aptos"/>
              </a:rPr>
              <a:t>Multiplicity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7888" y="1956816"/>
            <a:ext cx="3072384" cy="704087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30" b="0">
                <a:solidFill>
                  <a:srgbClr val="222B35"/>
                </a:solidFill>
                <a:latin typeface="Aptos"/>
              </a:rPr>
              <a:t>Holm control across the two registered co-primary contrasts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3063240"/>
            <a:ext cx="3383280" cy="1325880"/>
          </a:xfrm>
          <a:prstGeom prst="roundRect">
            <a:avLst/>
          </a:prstGeom>
          <a:solidFill>
            <a:srgbClr val="EEE9F8"/>
          </a:solidFill>
          <a:ln w="10160"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1520" y="3063240"/>
            <a:ext cx="64008" cy="1325880"/>
          </a:xfrm>
          <a:prstGeom prst="rect">
            <a:avLst/>
          </a:prstGeom>
          <a:solidFill>
            <a:srgbClr val="69539B"/>
          </a:solidFill>
          <a:ln>
            <a:solidFill>
              <a:srgbClr val="6953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6112" y="3200400"/>
            <a:ext cx="3072384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142841"/>
                </a:solidFill>
                <a:latin typeface="Aptos"/>
              </a:rPr>
              <a:t>Uncertainty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6112" y="3575304"/>
            <a:ext cx="3072384" cy="704087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30" b="0">
                <a:solidFill>
                  <a:srgbClr val="222B35"/>
                </a:solidFill>
                <a:latin typeface="Aptos"/>
              </a:rPr>
              <a:t>Mean paired effect, fixed-seed dataset bootstrap interval, ties, and full effect distribution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407408" y="3063240"/>
            <a:ext cx="3383280" cy="1325880"/>
          </a:xfrm>
          <a:prstGeom prst="roundRect">
            <a:avLst/>
          </a:prstGeom>
          <a:solidFill>
            <a:srgbClr val="FAE8E6"/>
          </a:solidFill>
          <a:ln w="10160"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407408" y="3063240"/>
            <a:ext cx="64008" cy="1325880"/>
          </a:xfrm>
          <a:prstGeom prst="rect">
            <a:avLst/>
          </a:prstGeom>
          <a:solidFill>
            <a:srgbClr val="BC4641"/>
          </a:solidFill>
          <a:ln>
            <a:solidFill>
              <a:srgbClr val="BC46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0" y="3200400"/>
            <a:ext cx="3072384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142841"/>
                </a:solidFill>
                <a:latin typeface="Aptos"/>
              </a:rPr>
              <a:t>Assumption boundary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3575304"/>
            <a:ext cx="3072384" cy="704087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22B35"/>
                </a:solidFill>
                <a:latin typeface="Aptos"/>
              </a:rPr>
              <a:t>Sign exchangeability about zero is required; the test is not distribution-free for an arbitrary mean-null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83296" y="3063240"/>
            <a:ext cx="3383280" cy="1325880"/>
          </a:xfrm>
          <a:prstGeom prst="roundRect">
            <a:avLst/>
          </a:prstGeom>
          <a:solidFill>
            <a:srgbClr val="E6F4EB"/>
          </a:solidFill>
          <a:ln w="10160"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083296" y="3063240"/>
            <a:ext cx="64008" cy="1325880"/>
          </a:xfrm>
          <a:prstGeom prst="rect">
            <a:avLst/>
          </a:prstGeom>
          <a:solidFill>
            <a:srgbClr val="388E5C"/>
          </a:solidFill>
          <a:ln>
            <a:solidFill>
              <a:srgbClr val="388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47888" y="3200400"/>
            <a:ext cx="3072384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142841"/>
                </a:solidFill>
                <a:latin typeface="Aptos"/>
              </a:rPr>
              <a:t>Estimand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47888" y="3575304"/>
            <a:ext cx="3072384" cy="704087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22B35"/>
                </a:solidFill>
                <a:latin typeface="Aptos"/>
              </a:rPr>
              <a:t>Equal-weight mean over the quota-weighted NDP-50 design—not prevalence in the complete NDP catalog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31520" y="4892040"/>
            <a:ext cx="10735056" cy="822960"/>
          </a:xfrm>
          <a:prstGeom prst="roundRect">
            <a:avLst/>
          </a:prstGeom>
          <a:solidFill>
            <a:srgbClr val="142841"/>
          </a:solidFill>
          <a:ln>
            <a:solidFill>
              <a:srgbClr val="1428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60120" y="5138928"/>
            <a:ext cx="10287000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ptos"/>
              </a:rPr>
              <a:t>A failure to reject is not described as evidence of no effect. Partial execution, missing gold, or replay failure blocks the affected comparison.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6537960"/>
            <a:ext cx="987552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E6C7A"/>
                </a:solidFill>
                <a:latin typeface="Aptos"/>
              </a:rPr>
              <a:t>Sources: ndp50_statistical_analysis_plan_v1.md; semantic_blind_inference_protocol_v1.md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018520" y="6519672"/>
            <a:ext cx="50292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E6C7A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256032"/>
            <a:ext cx="1088136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42841"/>
                </a:solidFill>
                <a:latin typeface="Aptos Display"/>
              </a:rPr>
              <a:t>Synthetic development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49808"/>
            <a:ext cx="1088136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5E6C7A"/>
                </a:solidFill>
                <a:latin typeface="Aptos"/>
              </a:rPr>
              <a:t>Useful for harness validation; not suitable for ranking architectures.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78992"/>
            <a:ext cx="10881360" cy="13716"/>
          </a:xfrm>
          <a:prstGeom prst="rect">
            <a:avLst/>
          </a:prstGeom>
          <a:solidFill>
            <a:srgbClr val="CFD8E0"/>
          </a:solidFill>
          <a:ln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646920" y="713232"/>
            <a:ext cx="1600200" cy="320040"/>
          </a:xfrm>
          <a:prstGeom prst="roundRect">
            <a:avLst/>
          </a:prstGeom>
          <a:solidFill>
            <a:srgbClr val="BC4641"/>
          </a:solidFill>
          <a:ln w="6350">
            <a:solidFill>
              <a:srgbClr val="BC46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92640" y="781812"/>
            <a:ext cx="1508760" cy="17373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NON-COMPARABLE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" y="1417320"/>
            <a:ext cx="914400" cy="5303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142841"/>
                </a:solidFill>
                <a:latin typeface="Aptos"/>
              </a:rPr>
              <a:t>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1920240"/>
            <a:ext cx="12801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5E6C7A"/>
                </a:solidFill>
                <a:latin typeface="Aptos"/>
              </a:rPr>
              <a:t>synthetic cases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31720" y="1417320"/>
            <a:ext cx="731520" cy="5303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142841"/>
                </a:solidFill>
                <a:latin typeface="Aptos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50008" y="1920240"/>
            <a:ext cx="201168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5E6C7A"/>
                </a:solidFill>
                <a:latin typeface="Aptos"/>
              </a:rPr>
              <a:t>semantic-opportunity cases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00600" y="1417320"/>
            <a:ext cx="731520" cy="5303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BC4641"/>
                </a:solidFill>
                <a:latin typeface="Apto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18888" y="1920240"/>
            <a:ext cx="21945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5E6C7A"/>
                </a:solidFill>
                <a:latin typeface="Aptos"/>
              </a:rPr>
              <a:t>opportunity missing from gold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777240" y="2487168"/>
          <a:ext cx="571500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800"/>
                <a:gridCol w="1463040"/>
                <a:gridCol w="1188720"/>
                <a:gridCol w="1325880"/>
                <a:gridCol w="1051560"/>
              </a:tblGrid>
              <a:tr h="493776">
                <a:tc>
                  <a:txBody>
                    <a:bodyPr/>
                    <a:lstStyle/>
                    <a:p>
                      <a:pPr algn="ctr"/>
                      <a:r>
                        <a:rPr sz="1080" b="1">
                          <a:solidFill>
                            <a:srgbClr val="FFFFFF"/>
                          </a:solidFill>
                          <a:latin typeface="Aptos"/>
                        </a:rPr>
                        <a:t>Arm</a:t>
                      </a:r>
                    </a:p>
                  </a:txBody>
                  <a:tcPr marL="45720" marR="45720" anchor="ctr">
                    <a:solidFill>
                      <a:srgbClr val="14284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0" b="1">
                          <a:solidFill>
                            <a:srgbClr val="FFFFFF"/>
                          </a:solidFill>
                          <a:latin typeface="Aptos"/>
                        </a:rPr>
                        <a:t>End-to-end acc.</a:t>
                      </a:r>
                    </a:p>
                  </a:txBody>
                  <a:tcPr marL="45720" marR="45720" anchor="ctr">
                    <a:solidFill>
                      <a:srgbClr val="14284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0" b="1">
                          <a:solidFill>
                            <a:srgbClr val="FFFFFF"/>
                          </a:solidFill>
                          <a:latin typeface="Aptos"/>
                        </a:rPr>
                        <a:t>Coverage</a:t>
                      </a:r>
                    </a:p>
                  </a:txBody>
                  <a:tcPr marL="45720" marR="45720" anchor="ctr">
                    <a:solidFill>
                      <a:srgbClr val="14284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0" b="1">
                          <a:solidFill>
                            <a:srgbClr val="FFFFFF"/>
                          </a:solidFill>
                          <a:latin typeface="Aptos"/>
                        </a:rPr>
                        <a:t>Selective risk</a:t>
                      </a:r>
                    </a:p>
                  </a:txBody>
                  <a:tcPr marL="45720" marR="45720" anchor="ctr">
                    <a:solidFill>
                      <a:srgbClr val="14284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0" b="1">
                          <a:solidFill>
                            <a:srgbClr val="FFFFFF"/>
                          </a:solidFill>
                          <a:latin typeface="Aptos"/>
                        </a:rPr>
                        <a:t>Calls</a:t>
                      </a:r>
                    </a:p>
                  </a:txBody>
                  <a:tcPr marL="45720" marR="45720" anchor="ctr">
                    <a:solidFill>
                      <a:srgbClr val="142841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ctr"/>
                      <a:r>
                        <a:rPr sz="1080" b="0">
                          <a:solidFill>
                            <a:srgbClr val="222B35"/>
                          </a:solidFill>
                          <a:latin typeface="Aptos"/>
                        </a:rPr>
                        <a:t>A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0" b="0">
                          <a:solidFill>
                            <a:srgbClr val="222B35"/>
                          </a:solidFill>
                          <a:latin typeface="Aptos"/>
                        </a:rPr>
                        <a:t>0.9766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0" b="0">
                          <a:solidFill>
                            <a:srgbClr val="222B35"/>
                          </a:solidFill>
                          <a:latin typeface="Aptos"/>
                        </a:rPr>
                        <a:t>0.9883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0" b="0">
                          <a:solidFill>
                            <a:srgbClr val="222B35"/>
                          </a:solidFill>
                          <a:latin typeface="Aptos"/>
                        </a:rPr>
                        <a:t>0.0118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0" b="0">
                          <a:solidFill>
                            <a:srgbClr val="222B35"/>
                          </a:solidFill>
                          <a:latin typeface="Aptos"/>
                        </a:rPr>
                        <a:t>0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ctr"/>
                      <a:r>
                        <a:rPr sz="1080" b="0">
                          <a:solidFill>
                            <a:srgbClr val="222B35"/>
                          </a:solidFill>
                          <a:latin typeface="Aptos"/>
                        </a:rPr>
                        <a:t>B</a:t>
                      </a:r>
                    </a:p>
                  </a:txBody>
                  <a:tcPr marL="45720" marR="45720" anchor="ctr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0" b="0">
                          <a:solidFill>
                            <a:srgbClr val="222B35"/>
                          </a:solidFill>
                          <a:latin typeface="Aptos"/>
                        </a:rPr>
                        <a:t>0.9766</a:t>
                      </a:r>
                    </a:p>
                  </a:txBody>
                  <a:tcPr marL="45720" marR="45720" anchor="ctr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0" b="0">
                          <a:solidFill>
                            <a:srgbClr val="222B35"/>
                          </a:solidFill>
                          <a:latin typeface="Aptos"/>
                        </a:rPr>
                        <a:t>0.9883</a:t>
                      </a:r>
                    </a:p>
                  </a:txBody>
                  <a:tcPr marL="45720" marR="45720" anchor="ctr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0" b="0">
                          <a:solidFill>
                            <a:srgbClr val="222B35"/>
                          </a:solidFill>
                          <a:latin typeface="Aptos"/>
                        </a:rPr>
                        <a:t>0.0118</a:t>
                      </a:r>
                    </a:p>
                  </a:txBody>
                  <a:tcPr marL="45720" marR="45720" anchor="ctr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0" b="0">
                          <a:solidFill>
                            <a:srgbClr val="222B35"/>
                          </a:solidFill>
                          <a:latin typeface="Aptos"/>
                        </a:rPr>
                        <a:t>2</a:t>
                      </a:r>
                    </a:p>
                  </a:txBody>
                  <a:tcPr marL="45720" marR="45720" anchor="ctr">
                    <a:solidFill>
                      <a:srgbClr val="F4F7F9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ctr"/>
                      <a:r>
                        <a:rPr sz="1080" b="0">
                          <a:solidFill>
                            <a:srgbClr val="222B35"/>
                          </a:solidFill>
                          <a:latin typeface="Aptos"/>
                        </a:rPr>
                        <a:t>C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0" b="0">
                          <a:solidFill>
                            <a:srgbClr val="222B35"/>
                          </a:solidFill>
                          <a:latin typeface="Aptos"/>
                        </a:rPr>
                        <a:t>0.9766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0" b="0">
                          <a:solidFill>
                            <a:srgbClr val="222B35"/>
                          </a:solidFill>
                          <a:latin typeface="Aptos"/>
                        </a:rPr>
                        <a:t>0.9883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0" b="0">
                          <a:solidFill>
                            <a:srgbClr val="222B35"/>
                          </a:solidFill>
                          <a:latin typeface="Aptos"/>
                        </a:rPr>
                        <a:t>0.0118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0" b="0">
                          <a:solidFill>
                            <a:srgbClr val="222B35"/>
                          </a:solidFill>
                          <a:latin typeface="Aptos"/>
                        </a:rPr>
                        <a:t>0 new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ctr"/>
                      <a:r>
                        <a:rPr sz="1080" b="0">
                          <a:solidFill>
                            <a:srgbClr val="222B35"/>
                          </a:solidFill>
                          <a:latin typeface="Aptos"/>
                        </a:rPr>
                        <a:t>D</a:t>
                      </a:r>
                    </a:p>
                  </a:txBody>
                  <a:tcPr marL="45720" marR="45720" anchor="ctr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0" b="0">
                          <a:solidFill>
                            <a:srgbClr val="222B35"/>
                          </a:solidFill>
                          <a:latin typeface="Aptos"/>
                        </a:rPr>
                        <a:t>0.9883</a:t>
                      </a:r>
                    </a:p>
                  </a:txBody>
                  <a:tcPr marL="45720" marR="45720" anchor="ctr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0" b="0">
                          <a:solidFill>
                            <a:srgbClr val="222B35"/>
                          </a:solidFill>
                          <a:latin typeface="Aptos"/>
                        </a:rPr>
                        <a:t>1.0000</a:t>
                      </a:r>
                    </a:p>
                  </a:txBody>
                  <a:tcPr marL="45720" marR="45720" anchor="ctr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0" b="0">
                          <a:solidFill>
                            <a:srgbClr val="222B35"/>
                          </a:solidFill>
                          <a:latin typeface="Aptos"/>
                        </a:rPr>
                        <a:t>0.0117</a:t>
                      </a:r>
                    </a:p>
                  </a:txBody>
                  <a:tcPr marL="45720" marR="45720" anchor="ctr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0" b="0">
                          <a:solidFill>
                            <a:srgbClr val="222B35"/>
                          </a:solidFill>
                          <a:latin typeface="Aptos"/>
                        </a:rPr>
                        <a:t>6</a:t>
                      </a:r>
                    </a:p>
                  </a:txBody>
                  <a:tcPr marL="45720" marR="45720" anchor="ctr">
                    <a:solidFill>
                      <a:srgbClr val="F4F7F9"/>
                    </a:solidFill>
                  </a:tcPr>
                </a:tc>
              </a:tr>
            </a:tbl>
          </a:graphicData>
        </a:graphic>
      </p:graphicFrame>
      <p:sp>
        <p:nvSpPr>
          <p:cNvPr id="14" name="Rounded Rectangle 13"/>
          <p:cNvSpPr/>
          <p:nvPr/>
        </p:nvSpPr>
        <p:spPr>
          <a:xfrm>
            <a:off x="7114032" y="1417320"/>
            <a:ext cx="4315968" cy="1325880"/>
          </a:xfrm>
          <a:prstGeom prst="roundRect">
            <a:avLst/>
          </a:prstGeom>
          <a:solidFill>
            <a:srgbClr val="FAE8E6"/>
          </a:solidFill>
          <a:ln w="10160"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114032" y="1417320"/>
            <a:ext cx="64008" cy="1325880"/>
          </a:xfrm>
          <a:prstGeom prst="rect">
            <a:avLst/>
          </a:prstGeom>
          <a:solidFill>
            <a:srgbClr val="BC4641"/>
          </a:solidFill>
          <a:ln>
            <a:solidFill>
              <a:srgbClr val="BC46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78624" y="1554480"/>
            <a:ext cx="4005072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42841"/>
                </a:solidFill>
                <a:latin typeface="Aptos"/>
              </a:rPr>
              <a:t>Why no conclusion?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78624" y="1929384"/>
            <a:ext cx="4005072" cy="704087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22B35"/>
                </a:solidFill>
                <a:latin typeface="Aptos"/>
              </a:rPr>
              <a:t>One semantic target was outside gold, so every formal A–B, B–C, and C–D comparison failed the comparability gate.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14032" y="2944368"/>
            <a:ext cx="4315968" cy="1325880"/>
          </a:xfrm>
          <a:prstGeom prst="roundRect">
            <a:avLst/>
          </a:prstGeom>
          <a:solidFill>
            <a:srgbClr val="FCEFE2"/>
          </a:solidFill>
          <a:ln w="10160"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114032" y="2944368"/>
            <a:ext cx="64008" cy="1325880"/>
          </a:xfrm>
          <a:prstGeom prst="rect">
            <a:avLst/>
          </a:prstGeom>
          <a:solidFill>
            <a:srgbClr val="E5883D"/>
          </a:solidFill>
          <a:ln>
            <a:solidFill>
              <a:srgbClr val="E588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78624" y="3081528"/>
            <a:ext cx="4005072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42841"/>
                </a:solidFill>
                <a:latin typeface="Aptos"/>
              </a:rPr>
              <a:t>Observed behavior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78624" y="3456432"/>
            <a:ext cx="4005072" cy="704087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22B35"/>
                </a:solidFill>
                <a:latin typeface="Aptos"/>
              </a:rPr>
              <a:t>B accepted no scorable model claim. D recovered two gold-covered values in one case, but the study design cannot attribute superiority.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14032" y="4471416"/>
            <a:ext cx="4315968" cy="1143000"/>
          </a:xfrm>
          <a:prstGeom prst="roundRect">
            <a:avLst/>
          </a:prstGeom>
          <a:solidFill>
            <a:srgbClr val="E1F4F2"/>
          </a:solidFill>
          <a:ln w="10160"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114032" y="4471416"/>
            <a:ext cx="64008" cy="1143000"/>
          </a:xfrm>
          <a:prstGeom prst="rect">
            <a:avLst/>
          </a:prstGeom>
          <a:solidFill>
            <a:srgbClr val="238784"/>
          </a:solidFill>
          <a:ln>
            <a:solidFill>
              <a:srgbClr val="238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78624" y="4608576"/>
            <a:ext cx="4005072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42841"/>
                </a:solidFill>
                <a:latin typeface="Aptos"/>
              </a:rPr>
              <a:t>Correct interpretation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78624" y="4983479"/>
            <a:ext cx="4005072" cy="521207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22B35"/>
                </a:solidFill>
                <a:latin typeface="Aptos"/>
              </a:rPr>
              <a:t>The all-zero B–C delta is uninformative—not evidence that verification has no effect.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6537960"/>
            <a:ext cx="987552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E6C7A"/>
                </a:solidFill>
                <a:latin typeface="Aptos"/>
              </a:rPr>
              <a:t>Source: semantic_architecture_study_en.tex, Synthetic Development Experiment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18520" y="6519672"/>
            <a:ext cx="50292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E6C7A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256032"/>
            <a:ext cx="1088136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42841"/>
                </a:solidFill>
                <a:latin typeface="Aptos Display"/>
              </a:rPr>
              <a:t>Backend qualification: operational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49808"/>
            <a:ext cx="1088136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5E6C7A"/>
                </a:solidFill>
                <a:latin typeface="Aptos"/>
              </a:rPr>
              <a:t>Qualification establishes contract compatibility—not architecture accuracy.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78992"/>
            <a:ext cx="10881360" cy="13716"/>
          </a:xfrm>
          <a:prstGeom prst="rect">
            <a:avLst/>
          </a:prstGeom>
          <a:solidFill>
            <a:srgbClr val="CFD8E0"/>
          </a:solidFill>
          <a:ln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3127248" cy="1280160"/>
          </a:xfrm>
          <a:prstGeom prst="roundRect">
            <a:avLst/>
          </a:prstGeom>
          <a:solidFill>
            <a:srgbClr val="FAE8E6"/>
          </a:solidFill>
          <a:ln w="10160"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64008" cy="1280160"/>
          </a:xfrm>
          <a:prstGeom prst="rect">
            <a:avLst/>
          </a:prstGeom>
          <a:solidFill>
            <a:srgbClr val="BC4641"/>
          </a:solidFill>
          <a:ln>
            <a:solidFill>
              <a:srgbClr val="BC46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508760"/>
            <a:ext cx="2816352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142841"/>
                </a:solidFill>
                <a:latin typeface="Aptos"/>
              </a:rPr>
              <a:t>Invalidated run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1883664"/>
            <a:ext cx="2816352" cy="658367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80" b="0">
                <a:solidFill>
                  <a:srgbClr val="222B35"/>
                </a:solidFill>
                <a:latin typeface="Aptos"/>
              </a:rPr>
              <a:t>8K context + thinking effectively enabled
2/16 valid B attempts • measurement defects exposed</a:t>
            </a:r>
          </a:p>
        </p:txBody>
      </p:sp>
      <p:sp>
        <p:nvSpPr>
          <p:cNvPr id="9" name="Chevron 8"/>
          <p:cNvSpPr/>
          <p:nvPr/>
        </p:nvSpPr>
        <p:spPr>
          <a:xfrm>
            <a:off x="3977639" y="1764792"/>
            <a:ext cx="384048" cy="457200"/>
          </a:xfrm>
          <a:prstGeom prst="chevron">
            <a:avLst/>
          </a:prstGeom>
          <a:solidFill>
            <a:srgbClr val="CFD8E0"/>
          </a:solidFill>
          <a:ln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462272" y="1371600"/>
            <a:ext cx="3127248" cy="1280160"/>
          </a:xfrm>
          <a:prstGeom prst="roundRect">
            <a:avLst/>
          </a:prstGeom>
          <a:solidFill>
            <a:srgbClr val="FCEFE2"/>
          </a:solidFill>
          <a:ln w="10160"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62272" y="1371600"/>
            <a:ext cx="64008" cy="1280160"/>
          </a:xfrm>
          <a:prstGeom prst="rect">
            <a:avLst/>
          </a:prstGeom>
          <a:solidFill>
            <a:srgbClr val="E5883D"/>
          </a:solidFill>
          <a:ln>
            <a:solidFill>
              <a:srgbClr val="E588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26864" y="1508760"/>
            <a:ext cx="2816352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142841"/>
                </a:solidFill>
                <a:latin typeface="Aptos"/>
              </a:rPr>
              <a:t>Repair boundary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26864" y="1883664"/>
            <a:ext cx="2816352" cy="658367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80" b="0">
                <a:solidFill>
                  <a:srgbClr val="222B35"/>
                </a:solidFill>
                <a:latin typeface="Aptos"/>
              </a:rPr>
              <a:t>Fixed replay/telemetry provenance only
No prompt, target, architecture, or call-budget rescue</a:t>
            </a:r>
          </a:p>
        </p:txBody>
      </p:sp>
      <p:sp>
        <p:nvSpPr>
          <p:cNvPr id="14" name="Chevron 13"/>
          <p:cNvSpPr/>
          <p:nvPr/>
        </p:nvSpPr>
        <p:spPr>
          <a:xfrm>
            <a:off x="7708392" y="1764792"/>
            <a:ext cx="384048" cy="457200"/>
          </a:xfrm>
          <a:prstGeom prst="chevron">
            <a:avLst/>
          </a:prstGeom>
          <a:solidFill>
            <a:srgbClr val="CFD8E0"/>
          </a:solidFill>
          <a:ln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183879" y="1371600"/>
            <a:ext cx="3127248" cy="1280160"/>
          </a:xfrm>
          <a:prstGeom prst="roundRect">
            <a:avLst/>
          </a:prstGeom>
          <a:solidFill>
            <a:srgbClr val="E6F4EB"/>
          </a:solidFill>
          <a:ln w="10160"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83879" y="1371600"/>
            <a:ext cx="64008" cy="1280160"/>
          </a:xfrm>
          <a:prstGeom prst="rect">
            <a:avLst/>
          </a:prstGeom>
          <a:solidFill>
            <a:srgbClr val="388E5C"/>
          </a:solidFill>
          <a:ln>
            <a:solidFill>
              <a:srgbClr val="388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48471" y="1508760"/>
            <a:ext cx="2816352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142841"/>
                </a:solidFill>
                <a:latin typeface="Aptos"/>
              </a:rPr>
              <a:t>Corrected run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48471" y="1883664"/>
            <a:ext cx="2816352" cy="658367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80" b="0">
                <a:solidFill>
                  <a:srgbClr val="222B35"/>
                </a:solidFill>
                <a:latin typeface="Aptos"/>
              </a:rPr>
              <a:t>16K context + thinking off
Qwen3.6-27B Q4_K_M passed every criterion</a:t>
            </a:r>
          </a:p>
        </p:txBody>
      </p:sp>
      <p:graphicFrame>
        <p:nvGraphicFramePr>
          <p:cNvPr id="19" name="Chart 18"/>
          <p:cNvGraphicFramePr>
            <a:graphicFrameLocks noGrp="1"/>
          </p:cNvGraphicFramePr>
          <p:nvPr/>
        </p:nvGraphicFramePr>
        <p:xfrm>
          <a:off x="777240" y="3063240"/>
          <a:ext cx="4754880" cy="24231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0" name="Rounded Rectangle 19"/>
          <p:cNvSpPr/>
          <p:nvPr/>
        </p:nvSpPr>
        <p:spPr>
          <a:xfrm>
            <a:off x="5897880" y="3063240"/>
            <a:ext cx="2670048" cy="1097280"/>
          </a:xfrm>
          <a:prstGeom prst="roundRect">
            <a:avLst/>
          </a:prstGeom>
          <a:solidFill>
            <a:srgbClr val="EEF5FB"/>
          </a:solidFill>
          <a:ln w="10160"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897880" y="3063240"/>
            <a:ext cx="64008" cy="1097280"/>
          </a:xfrm>
          <a:prstGeom prst="rect">
            <a:avLst/>
          </a:prstGeom>
          <a:solidFill>
            <a:srgbClr val="256391"/>
          </a:solidFill>
          <a:ln>
            <a:solidFill>
              <a:srgbClr val="2563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62472" y="3200400"/>
            <a:ext cx="2359152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42841"/>
                </a:solidFill>
                <a:latin typeface="Aptos"/>
              </a:rPr>
              <a:t>8 cases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62472" y="3575304"/>
            <a:ext cx="2359152" cy="475487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22B35"/>
                </a:solidFill>
                <a:latin typeface="Aptos"/>
              </a:rPr>
              <a:t>74 semantic targets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778240" y="3063240"/>
            <a:ext cx="2670048" cy="1097280"/>
          </a:xfrm>
          <a:prstGeom prst="roundRect">
            <a:avLst/>
          </a:prstGeom>
          <a:solidFill>
            <a:srgbClr val="E1F4F2"/>
          </a:solidFill>
          <a:ln w="10160"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778240" y="3063240"/>
            <a:ext cx="64008" cy="1097280"/>
          </a:xfrm>
          <a:prstGeom prst="rect">
            <a:avLst/>
          </a:prstGeom>
          <a:solidFill>
            <a:srgbClr val="238784"/>
          </a:solidFill>
          <a:ln>
            <a:solidFill>
              <a:srgbClr val="238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42832" y="3200400"/>
            <a:ext cx="2359152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42841"/>
                </a:solidFill>
                <a:latin typeface="Aptos"/>
              </a:rPr>
              <a:t>B replay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42832" y="3575304"/>
            <a:ext cx="2359152" cy="475487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22B35"/>
                </a:solidFill>
                <a:latin typeface="Aptos"/>
              </a:rPr>
              <a:t>100% exact B/C identity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897880" y="4389120"/>
            <a:ext cx="2670048" cy="1097280"/>
          </a:xfrm>
          <a:prstGeom prst="roundRect">
            <a:avLst/>
          </a:prstGeom>
          <a:solidFill>
            <a:srgbClr val="E6F4EB"/>
          </a:solidFill>
          <a:ln w="10160"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897880" y="4389120"/>
            <a:ext cx="64008" cy="1097280"/>
          </a:xfrm>
          <a:prstGeom prst="rect">
            <a:avLst/>
          </a:prstGeom>
          <a:solidFill>
            <a:srgbClr val="388E5C"/>
          </a:solidFill>
          <a:ln>
            <a:solidFill>
              <a:srgbClr val="388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062472" y="4526280"/>
            <a:ext cx="2359152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42841"/>
                </a:solidFill>
                <a:latin typeface="Aptos"/>
              </a:rPr>
              <a:t>B validity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62472" y="4901183"/>
            <a:ext cx="2359152" cy="475487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22B35"/>
                </a:solidFill>
                <a:latin typeface="Aptos"/>
              </a:rPr>
              <a:t>100% contract + target scope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778240" y="4389120"/>
            <a:ext cx="2670048" cy="1097280"/>
          </a:xfrm>
          <a:prstGeom prst="roundRect">
            <a:avLst/>
          </a:prstGeom>
          <a:solidFill>
            <a:srgbClr val="EEE9F8"/>
          </a:solidFill>
          <a:ln w="10160"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778240" y="4389120"/>
            <a:ext cx="64008" cy="1097280"/>
          </a:xfrm>
          <a:prstGeom prst="rect">
            <a:avLst/>
          </a:prstGeom>
          <a:solidFill>
            <a:srgbClr val="69539B"/>
          </a:solidFill>
          <a:ln>
            <a:solidFill>
              <a:srgbClr val="6953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942832" y="4526280"/>
            <a:ext cx="2359152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42841"/>
                </a:solidFill>
                <a:latin typeface="Aptos"/>
              </a:rPr>
              <a:t>D validity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942832" y="4901183"/>
            <a:ext cx="2359152" cy="475487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22B35"/>
                </a:solidFill>
                <a:latin typeface="Aptos"/>
              </a:rPr>
              <a:t>100% contract; larger call surface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43600" y="5742432"/>
            <a:ext cx="539496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142841"/>
                </a:solidFill>
                <a:latin typeface="Aptos"/>
              </a:rPr>
              <a:t>The cost gap is real; the accuracy–cost trade-off is not yet estimated.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" y="6537960"/>
            <a:ext cx="987552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E6C7A"/>
                </a:solidFill>
                <a:latin typeface="Aptos"/>
              </a:rPr>
              <a:t>Source: semantic_architecture_study_en.tex, Backend Qualification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018520" y="6519672"/>
            <a:ext cx="50292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E6C7A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256032"/>
            <a:ext cx="1088136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42841"/>
                </a:solidFill>
                <a:latin typeface="Aptos Display"/>
              </a:rPr>
              <a:t>Human governance and release gates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49808"/>
            <a:ext cx="1088136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5E6C7A"/>
                </a:solidFill>
                <a:latin typeface="Aptos"/>
              </a:rPr>
              <a:t>Structural workflow readiness is not completed human evidence.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78992"/>
            <a:ext cx="10881360" cy="13716"/>
          </a:xfrm>
          <a:prstGeom prst="rect">
            <a:avLst/>
          </a:prstGeom>
          <a:solidFill>
            <a:srgbClr val="CFD8E0"/>
          </a:solidFill>
          <a:ln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353312"/>
            <a:ext cx="2331720" cy="320040"/>
          </a:xfrm>
          <a:prstGeom prst="roundRect">
            <a:avLst/>
          </a:prstGeom>
          <a:solidFill>
            <a:srgbClr val="388E5C"/>
          </a:solidFill>
          <a:ln w="6350">
            <a:solidFill>
              <a:srgbClr val="388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21892"/>
            <a:ext cx="2240279" cy="17373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19 STRUCTURAL CHECKS PASSED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46120" y="1353312"/>
            <a:ext cx="1783080" cy="320040"/>
          </a:xfrm>
          <a:prstGeom prst="roundRect">
            <a:avLst/>
          </a:prstGeom>
          <a:solidFill>
            <a:srgbClr val="BC4641"/>
          </a:solidFill>
          <a:ln w="6350">
            <a:solidFill>
              <a:srgbClr val="BC46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91839" y="1421892"/>
            <a:ext cx="1691639" cy="17373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10 BLOCKERS REMAIN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212080" y="1353312"/>
            <a:ext cx="1737360" cy="320040"/>
          </a:xfrm>
          <a:prstGeom prst="roundRect">
            <a:avLst/>
          </a:prstGeom>
          <a:solidFill>
            <a:srgbClr val="1D3B58"/>
          </a:solidFill>
          <a:ln w="6350">
            <a:solidFill>
              <a:srgbClr val="1D3B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57800" y="1421892"/>
            <a:ext cx="1645919" cy="17373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TEST_READY = FALSE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2011680"/>
            <a:ext cx="2359152" cy="3063240"/>
          </a:xfrm>
          <a:prstGeom prst="roundRect">
            <a:avLst/>
          </a:prstGeom>
          <a:solidFill>
            <a:srgbClr val="EEF5FB"/>
          </a:solidFill>
          <a:ln w="11430">
            <a:solidFill>
              <a:srgbClr val="2563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" y="2194560"/>
            <a:ext cx="210312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42841"/>
                </a:solidFill>
                <a:latin typeface="Aptos"/>
              </a:rPr>
              <a:t>Research definitions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" y="2852928"/>
            <a:ext cx="2011680" cy="1783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250">
                <a:solidFill>
                  <a:srgbClr val="238784"/>
                </a:solidFill>
                <a:latin typeface="Aptos"/>
              </a:rPr>
              <a:t>• </a:t>
            </a:r>
            <a:r>
              <a:rPr sz="1250">
                <a:solidFill>
                  <a:srgbClr val="222B35"/>
                </a:solidFill>
                <a:latin typeface="Aptos"/>
              </a:rPr>
              <a:t>Vocabulary freeze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250">
                <a:solidFill>
                  <a:srgbClr val="238784"/>
                </a:solidFill>
                <a:latin typeface="Aptos"/>
              </a:rPr>
              <a:t>• </a:t>
            </a:r>
            <a:r>
              <a:rPr sz="1250">
                <a:solidFill>
                  <a:srgbClr val="222B35"/>
                </a:solidFill>
                <a:latin typeface="Aptos"/>
              </a:rPr>
              <a:t>Source relevance approval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250">
                <a:solidFill>
                  <a:srgbClr val="238784"/>
                </a:solidFill>
                <a:latin typeface="Aptos"/>
              </a:rPr>
              <a:t>• </a:t>
            </a:r>
            <a:r>
              <a:rPr sz="1250">
                <a:solidFill>
                  <a:srgbClr val="222B35"/>
                </a:solidFill>
                <a:latin typeface="Aptos"/>
              </a:rPr>
              <a:t>CPA applicability consensus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20440" y="2011680"/>
            <a:ext cx="2359152" cy="3063240"/>
          </a:xfrm>
          <a:prstGeom prst="roundRect">
            <a:avLst/>
          </a:prstGeom>
          <a:solidFill>
            <a:srgbClr val="E1F4F2"/>
          </a:solidFill>
          <a:ln w="11430">
            <a:solidFill>
              <a:srgbClr val="238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48456" y="2194560"/>
            <a:ext cx="210312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42841"/>
                </a:solidFill>
                <a:latin typeface="Aptos"/>
              </a:rPr>
              <a:t>Human reference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85032" y="2852928"/>
            <a:ext cx="2011680" cy="1783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250">
                <a:solidFill>
                  <a:srgbClr val="238784"/>
                </a:solidFill>
                <a:latin typeface="Aptos"/>
              </a:rPr>
              <a:t>• </a:t>
            </a:r>
            <a:r>
              <a:rPr sz="1250">
                <a:solidFill>
                  <a:srgbClr val="222B35"/>
                </a:solidFill>
                <a:latin typeface="Aptos"/>
              </a:rPr>
              <a:t>Annotator calibration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250">
                <a:solidFill>
                  <a:srgbClr val="238784"/>
                </a:solidFill>
                <a:latin typeface="Aptos"/>
              </a:rPr>
              <a:t>• </a:t>
            </a:r>
            <a:r>
              <a:rPr sz="1250">
                <a:solidFill>
                  <a:srgbClr val="222B35"/>
                </a:solidFill>
                <a:latin typeface="Aptos"/>
              </a:rPr>
              <a:t>Independent gold + consensus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27648" y="2011680"/>
            <a:ext cx="2359152" cy="3063240"/>
          </a:xfrm>
          <a:prstGeom prst="roundRect">
            <a:avLst/>
          </a:prstGeom>
          <a:solidFill>
            <a:srgbClr val="FCEFE2"/>
          </a:solidFill>
          <a:ln w="11430">
            <a:solidFill>
              <a:srgbClr val="E588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55664" y="2194560"/>
            <a:ext cx="210312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42841"/>
                </a:solidFill>
                <a:latin typeface="Aptos"/>
              </a:rPr>
              <a:t>Execution control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2852928"/>
            <a:ext cx="2011680" cy="1783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250">
                <a:solidFill>
                  <a:srgbClr val="238784"/>
                </a:solidFill>
                <a:latin typeface="Aptos"/>
              </a:rPr>
              <a:t>• </a:t>
            </a:r>
            <a:r>
              <a:rPr sz="1250">
                <a:solidFill>
                  <a:srgbClr val="222B35"/>
                </a:solidFill>
                <a:latin typeface="Aptos"/>
              </a:rPr>
              <a:t>Prompt/backend/execution freeze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250">
                <a:solidFill>
                  <a:srgbClr val="238784"/>
                </a:solidFill>
                <a:latin typeface="Aptos"/>
              </a:rPr>
              <a:t>• </a:t>
            </a:r>
            <a:r>
              <a:rPr sz="1250">
                <a:solidFill>
                  <a:srgbClr val="222B35"/>
                </a:solidFill>
                <a:latin typeface="Aptos"/>
              </a:rPr>
              <a:t>Power-policy freeze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34856" y="2011680"/>
            <a:ext cx="2359152" cy="3063240"/>
          </a:xfrm>
          <a:prstGeom prst="roundRect">
            <a:avLst/>
          </a:prstGeom>
          <a:solidFill>
            <a:srgbClr val="EEE9F8"/>
          </a:solidFill>
          <a:ln w="11430">
            <a:solidFill>
              <a:srgbClr val="6953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62872" y="2194560"/>
            <a:ext cx="210312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42841"/>
                </a:solidFill>
                <a:latin typeface="Aptos"/>
              </a:rPr>
              <a:t>Governance &amp; publication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99448" y="2852928"/>
            <a:ext cx="2011680" cy="1783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250">
                <a:solidFill>
                  <a:srgbClr val="238784"/>
                </a:solidFill>
                <a:latin typeface="Aptos"/>
              </a:rPr>
              <a:t>• </a:t>
            </a:r>
            <a:r>
              <a:rPr sz="1250">
                <a:solidFill>
                  <a:srgbClr val="222B35"/>
                </a:solidFill>
                <a:latin typeface="Aptos"/>
              </a:rPr>
              <a:t>License/transfer/release governance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250">
                <a:solidFill>
                  <a:srgbClr val="238784"/>
                </a:solidFill>
                <a:latin typeface="Aptos"/>
              </a:rPr>
              <a:t>• </a:t>
            </a:r>
            <a:r>
              <a:rPr sz="1250">
                <a:solidFill>
                  <a:srgbClr val="222B35"/>
                </a:solidFill>
                <a:latin typeface="Aptos"/>
              </a:rPr>
              <a:t>F01–F16 collaborator sign-off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250">
                <a:solidFill>
                  <a:srgbClr val="238784"/>
                </a:solidFill>
                <a:latin typeface="Aptos"/>
              </a:rPr>
              <a:t>• </a:t>
            </a:r>
            <a:r>
              <a:rPr sz="1250">
                <a:solidFill>
                  <a:srgbClr val="222B35"/>
                </a:solidFill>
                <a:latin typeface="Aptos"/>
              </a:rPr>
              <a:t>Verified OSF/Zenodo receipt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5413248"/>
            <a:ext cx="10744200" cy="566928"/>
          </a:xfrm>
          <a:prstGeom prst="roundRect">
            <a:avLst/>
          </a:prstGeom>
          <a:solidFill>
            <a:srgbClr val="FAE8E6"/>
          </a:solidFill>
          <a:ln w="11430">
            <a:solidFill>
              <a:srgbClr val="BC46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0120" y="5577840"/>
            <a:ext cx="1024128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BC4641"/>
                </a:solidFill>
                <a:latin typeface="Aptos"/>
              </a:rPr>
              <a:t>No sealed test identity, gold, model output, or outcome may be opened until independent release authorization passes.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6537960"/>
            <a:ext cx="987552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E6C7A"/>
                </a:solidFill>
                <a:latin typeface="Aptos"/>
              </a:rPr>
              <a:t>Sources: readiness_report_v1.json; ndp50_human_external_gate_ledger_v1.md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18520" y="6519672"/>
            <a:ext cx="50292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E6C7A"/>
                </a:solidFill>
                <a:latin typeface="Aptos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256032"/>
            <a:ext cx="1088136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42841"/>
                </a:solidFill>
                <a:latin typeface="Aptos Display"/>
              </a:rPr>
              <a:t>Phase 1 feedback integration: F01–F16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49808"/>
            <a:ext cx="1088136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5E6C7A"/>
                </a:solidFill>
                <a:latin typeface="Aptos"/>
              </a:rPr>
              <a:t>Feedback is incorporated through explicit accept, boundary, defer, or reject decisions—not by silently changing the experiment.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78992"/>
            <a:ext cx="10881360" cy="13716"/>
          </a:xfrm>
          <a:prstGeom prst="rect">
            <a:avLst/>
          </a:prstGeom>
          <a:solidFill>
            <a:srgbClr val="CFD8E0"/>
          </a:solidFill>
          <a:ln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2542032" cy="1965960"/>
          </a:xfrm>
          <a:prstGeom prst="roundRect">
            <a:avLst/>
          </a:prstGeom>
          <a:solidFill>
            <a:srgbClr val="EEF5FB"/>
          </a:solidFill>
          <a:ln w="10160"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64008" cy="1965960"/>
          </a:xfrm>
          <a:prstGeom prst="rect">
            <a:avLst/>
          </a:prstGeom>
          <a:solidFill>
            <a:srgbClr val="256391"/>
          </a:solidFill>
          <a:ln>
            <a:solidFill>
              <a:srgbClr val="2563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554480"/>
            <a:ext cx="2231136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42841"/>
                </a:solidFill>
                <a:latin typeface="Aptos"/>
              </a:rPr>
              <a:t>Positioning &amp; literature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1929384"/>
            <a:ext cx="2231136" cy="1344167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80" b="0">
                <a:solidFill>
                  <a:srgbClr val="222B35"/>
                </a:solidFill>
                <a:latin typeface="Aptos"/>
              </a:rPr>
              <a:t>F01–F05
Selective prediction, attributed generation, adjacent CTA/CPA work, careful causal language, stronger baselines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56432" y="1417320"/>
            <a:ext cx="2542032" cy="1965960"/>
          </a:xfrm>
          <a:prstGeom prst="roundRect">
            <a:avLst/>
          </a:prstGeom>
          <a:solidFill>
            <a:srgbClr val="FCEFE2"/>
          </a:solidFill>
          <a:ln w="10160"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456432" y="1417320"/>
            <a:ext cx="64008" cy="1965960"/>
          </a:xfrm>
          <a:prstGeom prst="rect">
            <a:avLst/>
          </a:prstGeom>
          <a:solidFill>
            <a:srgbClr val="E5883D"/>
          </a:solidFill>
          <a:ln>
            <a:solidFill>
              <a:srgbClr val="E588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21024" y="1554480"/>
            <a:ext cx="2231136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42841"/>
                </a:solidFill>
                <a:latin typeface="Aptos"/>
              </a:rPr>
              <a:t>Optional design changes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21024" y="1929384"/>
            <a:ext cx="2231136" cy="1344167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80" b="0">
                <a:solidFill>
                  <a:srgbClr val="222B35"/>
                </a:solidFill>
                <a:latin typeface="Aptos"/>
              </a:rPr>
              <a:t>F06–F07, F11
Evidence-free calls, heuristic comparators, and second models remain pre-freeze or separate extensions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81344" y="1417320"/>
            <a:ext cx="2542032" cy="1965960"/>
          </a:xfrm>
          <a:prstGeom prst="roundRect">
            <a:avLst/>
          </a:prstGeom>
          <a:solidFill>
            <a:srgbClr val="E1F4F2"/>
          </a:solidFill>
          <a:ln w="10160"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81344" y="1417320"/>
            <a:ext cx="64008" cy="1965960"/>
          </a:xfrm>
          <a:prstGeom prst="rect">
            <a:avLst/>
          </a:prstGeom>
          <a:solidFill>
            <a:srgbClr val="238784"/>
          </a:solidFill>
          <a:ln>
            <a:solidFill>
              <a:srgbClr val="238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45936" y="1554480"/>
            <a:ext cx="2231136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42841"/>
                </a:solidFill>
                <a:latin typeface="Aptos"/>
              </a:rPr>
              <a:t>Metrics &amp; power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45936" y="1929384"/>
            <a:ext cx="2231136" cy="1344167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80" b="0">
                <a:solidFill>
                  <a:srgbClr val="222B35"/>
                </a:solidFill>
                <a:latin typeface="Aptos"/>
              </a:rPr>
              <a:t>F08–F10, F13
Cost, agreement, calibration, AURC, and formal power boundaries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06256" y="1417320"/>
            <a:ext cx="2542032" cy="1965960"/>
          </a:xfrm>
          <a:prstGeom prst="roundRect">
            <a:avLst/>
          </a:prstGeom>
          <a:solidFill>
            <a:srgbClr val="EEE9F8"/>
          </a:solidFill>
          <a:ln w="10160"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906256" y="1417320"/>
            <a:ext cx="64008" cy="1965960"/>
          </a:xfrm>
          <a:prstGeom prst="rect">
            <a:avLst/>
          </a:prstGeom>
          <a:solidFill>
            <a:srgbClr val="69539B"/>
          </a:solidFill>
          <a:ln>
            <a:solidFill>
              <a:srgbClr val="6953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70848" y="1554480"/>
            <a:ext cx="2231136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42841"/>
                </a:solidFill>
                <a:latin typeface="Aptos"/>
              </a:rPr>
              <a:t>Governance &amp; validity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70848" y="1929384"/>
            <a:ext cx="2231136" cy="1344167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80" b="0">
                <a:solidFill>
                  <a:srgbClr val="222B35"/>
                </a:solidFill>
                <a:latin typeface="Aptos"/>
              </a:rPr>
              <a:t>F12, F14–F16
External preregistration, contamination, anchoring controls, and collaborator-role boundaries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8" y="3794760"/>
            <a:ext cx="365760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42841"/>
                </a:solidFill>
                <a:latin typeface="Aptos"/>
              </a:rPr>
              <a:t>Current collaborator-review status</a:t>
            </a:r>
          </a:p>
        </p:txBody>
      </p:sp>
      <p:sp>
        <p:nvSpPr>
          <p:cNvPr id="22" name="Oval 21"/>
          <p:cNvSpPr/>
          <p:nvPr/>
        </p:nvSpPr>
        <p:spPr>
          <a:xfrm>
            <a:off x="804672" y="4297679"/>
            <a:ext cx="201168" cy="201168"/>
          </a:xfrm>
          <a:prstGeom prst="ellipse">
            <a:avLst/>
          </a:prstGeom>
          <a:solidFill>
            <a:srgbClr val="388E5C"/>
          </a:solidFill>
          <a:ln>
            <a:solidFill>
              <a:srgbClr val="388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" y="4279392"/>
            <a:ext cx="406908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222B35"/>
                </a:solidFill>
                <a:latin typeface="Aptos"/>
              </a:rPr>
              <a:t>Response matrix + 14-material bundle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12080" y="4279392"/>
            <a:ext cx="214884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388E5C"/>
                </a:solidFill>
                <a:latin typeface="Aptos"/>
              </a:rPr>
              <a:t>Prepared and hash-bound</a:t>
            </a:r>
          </a:p>
        </p:txBody>
      </p:sp>
      <p:sp>
        <p:nvSpPr>
          <p:cNvPr id="25" name="Oval 24"/>
          <p:cNvSpPr/>
          <p:nvPr/>
        </p:nvSpPr>
        <p:spPr>
          <a:xfrm>
            <a:off x="804672" y="4626864"/>
            <a:ext cx="201168" cy="201168"/>
          </a:xfrm>
          <a:prstGeom prst="ellipse">
            <a:avLst/>
          </a:prstGeom>
          <a:solidFill>
            <a:srgbClr val="388E5C"/>
          </a:solidFill>
          <a:ln>
            <a:solidFill>
              <a:srgbClr val="388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97280" y="4608576"/>
            <a:ext cx="406908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222B35"/>
                </a:solidFill>
                <a:latin typeface="Aptos"/>
              </a:rPr>
              <a:t>Exact assignment packet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12080" y="4608576"/>
            <a:ext cx="214884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388E5C"/>
                </a:solidFill>
                <a:latin typeface="Aptos"/>
              </a:rPr>
              <a:t>Delivered</a:t>
            </a:r>
          </a:p>
        </p:txBody>
      </p:sp>
      <p:sp>
        <p:nvSpPr>
          <p:cNvPr id="28" name="Oval 27"/>
          <p:cNvSpPr/>
          <p:nvPr/>
        </p:nvSpPr>
        <p:spPr>
          <a:xfrm>
            <a:off x="804672" y="4956048"/>
            <a:ext cx="201168" cy="201168"/>
          </a:xfrm>
          <a:prstGeom prst="ellipse">
            <a:avLst/>
          </a:prstGeom>
          <a:solidFill>
            <a:srgbClr val="388E5C"/>
          </a:solidFill>
          <a:ln>
            <a:solidFill>
              <a:srgbClr val="388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97280" y="4937760"/>
            <a:ext cx="406908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222B35"/>
                </a:solidFill>
                <a:latin typeface="Aptos"/>
              </a:rPr>
              <a:t>Role/access confirmations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212080" y="4937760"/>
            <a:ext cx="214884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388E5C"/>
                </a:solidFill>
                <a:latin typeface="Aptos"/>
              </a:rPr>
              <a:t>Accepted; no test access or model outputs</a:t>
            </a:r>
          </a:p>
        </p:txBody>
      </p:sp>
      <p:sp>
        <p:nvSpPr>
          <p:cNvPr id="31" name="Oval 30"/>
          <p:cNvSpPr/>
          <p:nvPr/>
        </p:nvSpPr>
        <p:spPr>
          <a:xfrm>
            <a:off x="804672" y="5285232"/>
            <a:ext cx="201168" cy="201168"/>
          </a:xfrm>
          <a:prstGeom prst="ellipse">
            <a:avLst/>
          </a:prstGeom>
          <a:solidFill>
            <a:srgbClr val="E5883D"/>
          </a:solidFill>
          <a:ln>
            <a:solidFill>
              <a:srgbClr val="E588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97280" y="5266944"/>
            <a:ext cx="406908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222B35"/>
                </a:solidFill>
                <a:latin typeface="Aptos"/>
              </a:rPr>
              <a:t>Completed F01–F16 payload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212080" y="5266944"/>
            <a:ext cx="214884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E5883D"/>
                </a:solidFill>
                <a:latin typeface="Aptos"/>
              </a:rPr>
              <a:t>Pending</a:t>
            </a:r>
          </a:p>
        </p:txBody>
      </p:sp>
      <p:sp>
        <p:nvSpPr>
          <p:cNvPr id="34" name="Oval 33"/>
          <p:cNvSpPr/>
          <p:nvPr/>
        </p:nvSpPr>
        <p:spPr>
          <a:xfrm>
            <a:off x="804672" y="5614416"/>
            <a:ext cx="201168" cy="201168"/>
          </a:xfrm>
          <a:prstGeom prst="ellipse">
            <a:avLst/>
          </a:prstGeom>
          <a:solidFill>
            <a:srgbClr val="E5883D"/>
          </a:solidFill>
          <a:ln>
            <a:solidFill>
              <a:srgbClr val="E588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97280" y="5596128"/>
            <a:ext cx="406908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222B35"/>
                </a:solidFill>
                <a:latin typeface="Aptos"/>
              </a:rPr>
              <a:t>Validator-generated receipt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212080" y="5596128"/>
            <a:ext cx="214884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E5883D"/>
                </a:solidFill>
                <a:latin typeface="Aptos"/>
              </a:rPr>
              <a:t>Pending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726679" y="3977639"/>
            <a:ext cx="3703320" cy="1627632"/>
          </a:xfrm>
          <a:prstGeom prst="roundRect">
            <a:avLst/>
          </a:prstGeom>
          <a:solidFill>
            <a:srgbClr val="FAE8E6"/>
          </a:solidFill>
          <a:ln w="10160"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26679" y="3977639"/>
            <a:ext cx="64008" cy="1627632"/>
          </a:xfrm>
          <a:prstGeom prst="rect">
            <a:avLst/>
          </a:prstGeom>
          <a:solidFill>
            <a:srgbClr val="BC4641"/>
          </a:solidFill>
          <a:ln>
            <a:solidFill>
              <a:srgbClr val="BC46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891271" y="4114800"/>
            <a:ext cx="3392424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42841"/>
                </a:solidFill>
                <a:latin typeface="Aptos"/>
              </a:rPr>
              <a:t>What sign-off does not do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891271" y="4489704"/>
            <a:ext cx="3392424" cy="10058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20" b="0">
                <a:solidFill>
                  <a:srgbClr val="222B35"/>
                </a:solidFill>
                <a:latin typeface="Aptos"/>
              </a:rPr>
              <a:t>It does not validate empirical results, qualify annotators, verify external preregistration, authorize test access, or replace independent governance.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8368" y="6537960"/>
            <a:ext cx="987552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E6C7A"/>
                </a:solidFill>
                <a:latin typeface="Aptos"/>
              </a:rPr>
              <a:t>Sources: swathi_feedback_response_matrix_v1.md; feedback_response_signoff assignment records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018520" y="6519672"/>
            <a:ext cx="50292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E6C7A"/>
                </a:solidFill>
                <a:latin typeface="Aptos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256032"/>
            <a:ext cx="1088136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42841"/>
                </a:solidFill>
                <a:latin typeface="Aptos Display"/>
              </a:rPr>
              <a:t>Current paper and artifact progress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49808"/>
            <a:ext cx="1088136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5E6C7A"/>
                </a:solidFill>
                <a:latin typeface="Aptos"/>
              </a:rPr>
              <a:t>The manuscript is a 13-page English pre-blind technical report dated 27 July 2026.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78992"/>
            <a:ext cx="10881360" cy="13716"/>
          </a:xfrm>
          <a:prstGeom prst="rect">
            <a:avLst/>
          </a:prstGeom>
          <a:solidFill>
            <a:srgbClr val="CFD8E0"/>
          </a:solidFill>
          <a:ln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1417320"/>
            <a:ext cx="5669280" cy="33375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420">
                <a:solidFill>
                  <a:srgbClr val="238784"/>
                </a:solidFill>
                <a:latin typeface="Aptos"/>
              </a:rPr>
              <a:t>• </a:t>
            </a:r>
            <a:r>
              <a:rPr sz="1420" b="1">
                <a:solidFill>
                  <a:srgbClr val="222B35"/>
                </a:solidFill>
                <a:latin typeface="Aptos"/>
              </a:rPr>
              <a:t>Manuscript structure</a:t>
            </a:r>
            <a:r>
              <a:rPr sz="1420">
                <a:solidFill>
                  <a:srgbClr val="222B35"/>
                </a:solidFill>
                <a:latin typeface="Aptos"/>
              </a:rPr>
              <a:t> — Abstract, related work, product boundary, fixed variants, methodology, development diagnostics, qualification, blind protocol, threats, and appendices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420">
                <a:solidFill>
                  <a:srgbClr val="238784"/>
                </a:solidFill>
                <a:latin typeface="Aptos"/>
              </a:rPr>
              <a:t>• </a:t>
            </a:r>
            <a:r>
              <a:rPr sz="1420" b="1">
                <a:solidFill>
                  <a:srgbClr val="222B35"/>
                </a:solidFill>
                <a:latin typeface="Aptos"/>
              </a:rPr>
              <a:t>Measurement harness</a:t>
            </a:r>
            <a:r>
              <a:rPr sz="1420">
                <a:solidFill>
                  <a:srgbClr val="222B35"/>
                </a:solidFill>
                <a:latin typeface="Aptos"/>
              </a:rPr>
              <a:t> — Four fixed architectures, exact B/C replay, explicit applicability, resource telemetry, and fail-closed comparability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420">
                <a:solidFill>
                  <a:srgbClr val="238784"/>
                </a:solidFill>
                <a:latin typeface="Aptos"/>
              </a:rPr>
              <a:t>• </a:t>
            </a:r>
            <a:r>
              <a:rPr sz="1420" b="1">
                <a:solidFill>
                  <a:srgbClr val="222B35"/>
                </a:solidFill>
                <a:latin typeface="Aptos"/>
              </a:rPr>
              <a:t>Operational evidence</a:t>
            </a:r>
            <a:r>
              <a:rPr sz="1420">
                <a:solidFill>
                  <a:srgbClr val="222B35"/>
                </a:solidFill>
                <a:latin typeface="Aptos"/>
              </a:rPr>
              <a:t> — Corrected Qwen3.6-27B backend qualification passed over 8 datasets and 74 semantic targets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784848" y="1417320"/>
            <a:ext cx="2103120" cy="1234440"/>
          </a:xfrm>
          <a:prstGeom prst="roundRect">
            <a:avLst/>
          </a:prstGeom>
          <a:solidFill>
            <a:srgbClr val="E6F4EB"/>
          </a:solidFill>
          <a:ln w="10160"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784848" y="1417320"/>
            <a:ext cx="64008" cy="1234440"/>
          </a:xfrm>
          <a:prstGeom prst="rect">
            <a:avLst/>
          </a:prstGeom>
          <a:solidFill>
            <a:srgbClr val="388E5C"/>
          </a:solidFill>
          <a:ln>
            <a:solidFill>
              <a:srgbClr val="388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49440" y="1554480"/>
            <a:ext cx="1792223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42841"/>
                </a:solidFill>
                <a:latin typeface="Aptos"/>
              </a:rPr>
              <a:t>527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0" y="1929384"/>
            <a:ext cx="1792223" cy="6126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22B35"/>
                </a:solidFill>
                <a:latin typeface="Aptos"/>
              </a:rPr>
              <a:t>project tests passed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098280" y="1417320"/>
            <a:ext cx="2103120" cy="1234440"/>
          </a:xfrm>
          <a:prstGeom prst="roundRect">
            <a:avLst/>
          </a:prstGeom>
          <a:solidFill>
            <a:srgbClr val="EEF5FB"/>
          </a:solidFill>
          <a:ln w="10160"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098280" y="1417320"/>
            <a:ext cx="64008" cy="1234440"/>
          </a:xfrm>
          <a:prstGeom prst="rect">
            <a:avLst/>
          </a:prstGeom>
          <a:solidFill>
            <a:srgbClr val="256391"/>
          </a:solidFill>
          <a:ln>
            <a:solidFill>
              <a:srgbClr val="2563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62872" y="1554480"/>
            <a:ext cx="1792223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42841"/>
                </a:solidFill>
                <a:latin typeface="Aptos"/>
              </a:rPr>
              <a:t>316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62872" y="1929384"/>
            <a:ext cx="1792223" cy="6126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22B35"/>
                </a:solidFill>
                <a:latin typeface="Aptos"/>
              </a:rPr>
              <a:t>JSON artifacts parsed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784848" y="2880360"/>
            <a:ext cx="4416552" cy="1280160"/>
          </a:xfrm>
          <a:prstGeom prst="roundRect">
            <a:avLst/>
          </a:prstGeom>
          <a:solidFill>
            <a:srgbClr val="E1F4F2"/>
          </a:solidFill>
          <a:ln w="10160"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784848" y="2880360"/>
            <a:ext cx="64008" cy="1280160"/>
          </a:xfrm>
          <a:prstGeom prst="rect">
            <a:avLst/>
          </a:prstGeom>
          <a:solidFill>
            <a:srgbClr val="238784"/>
          </a:solidFill>
          <a:ln>
            <a:solidFill>
              <a:srgbClr val="238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49440" y="3017520"/>
            <a:ext cx="4105656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42841"/>
                </a:solidFill>
                <a:latin typeface="Aptos"/>
              </a:rPr>
              <a:t>Current defensible result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49440" y="3392424"/>
            <a:ext cx="4105656" cy="658367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22B35"/>
                </a:solidFill>
                <a:latin typeface="Aptos"/>
              </a:rPr>
              <a:t>Validated protocol + operationally eligible backend + no architecture winner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784848" y="4370832"/>
            <a:ext cx="4416552" cy="1280160"/>
          </a:xfrm>
          <a:prstGeom prst="roundRect">
            <a:avLst/>
          </a:prstGeom>
          <a:solidFill>
            <a:srgbClr val="FAE8E6"/>
          </a:solidFill>
          <a:ln w="10160"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784848" y="4370832"/>
            <a:ext cx="64008" cy="1280160"/>
          </a:xfrm>
          <a:prstGeom prst="rect">
            <a:avLst/>
          </a:prstGeom>
          <a:solidFill>
            <a:srgbClr val="BC4641"/>
          </a:solidFill>
          <a:ln>
            <a:solidFill>
              <a:srgbClr val="BC46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49440" y="4507992"/>
            <a:ext cx="4105656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42841"/>
                </a:solidFill>
                <a:latin typeface="Aptos"/>
              </a:rPr>
              <a:t>Still unavailable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9440" y="4882896"/>
            <a:ext cx="4105656" cy="658367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22B35"/>
                </a:solidFill>
                <a:latin typeface="Aptos"/>
              </a:rPr>
              <a:t>Blind effect estimate • independent NDP gold • test execution • final generalization claim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9808" y="5321808"/>
            <a:ext cx="5623560" cy="621792"/>
          </a:xfrm>
          <a:prstGeom prst="roundRect">
            <a:avLst/>
          </a:prstGeom>
          <a:solidFill>
            <a:srgbClr val="142841"/>
          </a:solidFill>
          <a:ln>
            <a:solidFill>
              <a:srgbClr val="1428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5522976"/>
            <a:ext cx="5193792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ptos"/>
              </a:rPr>
              <a:t>Passing software tests validates implementation consistency—not the scientific hypothesis.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6537960"/>
            <a:ext cx="987552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E6C7A"/>
                </a:solidFill>
                <a:latin typeface="Aptos"/>
              </a:rPr>
              <a:t>Sources: paper/semantic_architecture_study_en.tex; paper/results_macros.tex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18520" y="6519672"/>
            <a:ext cx="50292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E6C7A"/>
                </a:solidFill>
                <a:latin typeface="Aptos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256032"/>
            <a:ext cx="1088136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42841"/>
                </a:solidFill>
                <a:latin typeface="Aptos Display"/>
              </a:rPr>
              <a:t>Threats to validity and claim boundaries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49808"/>
            <a:ext cx="1088136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5E6C7A"/>
                </a:solidFill>
                <a:latin typeface="Aptos"/>
              </a:rPr>
              <a:t>The paper explicitly preserves what the current evidence cannot establish.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78992"/>
            <a:ext cx="10881360" cy="13716"/>
          </a:xfrm>
          <a:prstGeom prst="rect">
            <a:avLst/>
          </a:prstGeom>
          <a:solidFill>
            <a:srgbClr val="CFD8E0"/>
          </a:solidFill>
          <a:ln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389888"/>
            <a:ext cx="3063240" cy="1737360"/>
          </a:xfrm>
          <a:prstGeom prst="roundRect">
            <a:avLst/>
          </a:prstGeom>
          <a:solidFill>
            <a:srgbClr val="EEF5FB"/>
          </a:solidFill>
          <a:ln w="10160"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389888"/>
            <a:ext cx="64008" cy="1737360"/>
          </a:xfrm>
          <a:prstGeom prst="rect">
            <a:avLst/>
          </a:prstGeom>
          <a:solidFill>
            <a:srgbClr val="256391"/>
          </a:solidFill>
          <a:ln>
            <a:solidFill>
              <a:srgbClr val="2563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527048"/>
            <a:ext cx="2752344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42841"/>
                </a:solidFill>
                <a:latin typeface="Aptos"/>
              </a:rPr>
              <a:t>Construct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1901952"/>
            <a:ext cx="2752344" cy="1115567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22B35"/>
                </a:solidFill>
                <a:latin typeface="Aptos"/>
              </a:rPr>
              <a:t>Evidence identity and field relevance do not prove semantic entailment; confidence is not verification.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069080" y="1389888"/>
            <a:ext cx="3063240" cy="1737360"/>
          </a:xfrm>
          <a:prstGeom prst="roundRect">
            <a:avLst/>
          </a:prstGeom>
          <a:solidFill>
            <a:srgbClr val="E1F4F2"/>
          </a:solidFill>
          <a:ln w="10160"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069080" y="1389888"/>
            <a:ext cx="64008" cy="1737360"/>
          </a:xfrm>
          <a:prstGeom prst="rect">
            <a:avLst/>
          </a:prstGeom>
          <a:solidFill>
            <a:srgbClr val="238784"/>
          </a:solidFill>
          <a:ln>
            <a:solidFill>
              <a:srgbClr val="238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33672" y="1527048"/>
            <a:ext cx="2752344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42841"/>
                </a:solidFill>
                <a:latin typeface="Aptos"/>
              </a:rPr>
              <a:t>Internal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33672" y="1901952"/>
            <a:ext cx="2752344" cy="1115567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22B35"/>
                </a:solidFill>
                <a:latin typeface="Aptos"/>
              </a:rPr>
              <a:t>B/C replay is controlled, but D preserves historical temperature and fallback behavior.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06640" y="1389888"/>
            <a:ext cx="3063240" cy="1737360"/>
          </a:xfrm>
          <a:prstGeom prst="roundRect">
            <a:avLst/>
          </a:prstGeom>
          <a:solidFill>
            <a:srgbClr val="FCEFE2"/>
          </a:solidFill>
          <a:ln w="10160"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06640" y="1389888"/>
            <a:ext cx="64008" cy="1737360"/>
          </a:xfrm>
          <a:prstGeom prst="rect">
            <a:avLst/>
          </a:prstGeom>
          <a:solidFill>
            <a:srgbClr val="E5883D"/>
          </a:solidFill>
          <a:ln>
            <a:solidFill>
              <a:srgbClr val="E588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71231" y="1527048"/>
            <a:ext cx="2752344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42841"/>
                </a:solidFill>
                <a:latin typeface="Aptos"/>
              </a:rPr>
              <a:t>External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71231" y="1901952"/>
            <a:ext cx="2752344" cy="1115567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22B35"/>
                </a:solidFill>
                <a:latin typeface="Aptos"/>
              </a:rPr>
              <a:t>Synthetic development and fixed qualification data cannot support broad generalization.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493008"/>
            <a:ext cx="3063240" cy="1737360"/>
          </a:xfrm>
          <a:prstGeom prst="roundRect">
            <a:avLst/>
          </a:prstGeom>
          <a:solidFill>
            <a:srgbClr val="EEE9F8"/>
          </a:solidFill>
          <a:ln w="10160"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" y="3493008"/>
            <a:ext cx="64008" cy="1737360"/>
          </a:xfrm>
          <a:prstGeom prst="rect">
            <a:avLst/>
          </a:prstGeom>
          <a:solidFill>
            <a:srgbClr val="69539B"/>
          </a:solidFill>
          <a:ln>
            <a:solidFill>
              <a:srgbClr val="6953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" y="3630168"/>
            <a:ext cx="2752344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42841"/>
                </a:solidFill>
                <a:latin typeface="Aptos"/>
              </a:rPr>
              <a:t>Annotation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6112" y="4005072"/>
            <a:ext cx="2752344" cy="1115567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22B35"/>
                </a:solidFill>
                <a:latin typeface="Aptos"/>
              </a:rPr>
              <a:t>Independent, prediction-blind submissions reduce bias but do not guarantee correct labels.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069080" y="3493008"/>
            <a:ext cx="3063240" cy="1737360"/>
          </a:xfrm>
          <a:prstGeom prst="roundRect">
            <a:avLst/>
          </a:prstGeom>
          <a:solidFill>
            <a:srgbClr val="FAE8E6"/>
          </a:solidFill>
          <a:ln w="10160"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069080" y="3493008"/>
            <a:ext cx="64008" cy="1737360"/>
          </a:xfrm>
          <a:prstGeom prst="rect">
            <a:avLst/>
          </a:prstGeom>
          <a:solidFill>
            <a:srgbClr val="BC4641"/>
          </a:solidFill>
          <a:ln>
            <a:solidFill>
              <a:srgbClr val="BC46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233672" y="3630168"/>
            <a:ext cx="2752344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42841"/>
                </a:solidFill>
                <a:latin typeface="Aptos"/>
              </a:rPr>
              <a:t>Statistical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33672" y="4005072"/>
            <a:ext cx="2752344" cy="1115567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22B35"/>
                </a:solidFill>
                <a:latin typeface="Aptos"/>
              </a:rPr>
              <a:t>Paired dataset-level inference and uncertainty are required; a clean null is acceptable.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406640" y="3493008"/>
            <a:ext cx="3063240" cy="1737360"/>
          </a:xfrm>
          <a:prstGeom prst="roundRect">
            <a:avLst/>
          </a:prstGeom>
          <a:solidFill>
            <a:srgbClr val="E6F4EB"/>
          </a:solidFill>
          <a:ln w="10160"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406640" y="3493008"/>
            <a:ext cx="64008" cy="1737360"/>
          </a:xfrm>
          <a:prstGeom prst="rect">
            <a:avLst/>
          </a:prstGeom>
          <a:solidFill>
            <a:srgbClr val="388E5C"/>
          </a:solidFill>
          <a:ln>
            <a:solidFill>
              <a:srgbClr val="388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571231" y="3630168"/>
            <a:ext cx="2752344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42841"/>
                </a:solidFill>
                <a:latin typeface="Aptos"/>
              </a:rPr>
              <a:t>Reproducibility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71231" y="4005072"/>
            <a:ext cx="2752344" cy="1115567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22B35"/>
                </a:solidFill>
                <a:latin typeface="Aptos"/>
              </a:rPr>
              <a:t>Exact checkpoint-file hash and machine-observed runtime version remain freeze blockers.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" y="6537960"/>
            <a:ext cx="987552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E6C7A"/>
                </a:solidFill>
                <a:latin typeface="Aptos"/>
              </a:rPr>
              <a:t>Source: semantic_architecture_study_en.tex, Threats to Validity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018520" y="6519672"/>
            <a:ext cx="50292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E6C7A"/>
                </a:solidFill>
                <a:latin typeface="Aptos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256032"/>
            <a:ext cx="1088136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42841"/>
                </a:solidFill>
                <a:latin typeface="Aptos Display"/>
              </a:rPr>
              <a:t>Roadmap to the blind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49808"/>
            <a:ext cx="1088136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5E6C7A"/>
                </a:solidFill>
                <a:latin typeface="Aptos"/>
              </a:rPr>
              <a:t>Each milestone produces content-addressed evidence before the next stage unlocks.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78992"/>
            <a:ext cx="10881360" cy="13716"/>
          </a:xfrm>
          <a:prstGeom prst="rect">
            <a:avLst/>
          </a:prstGeom>
          <a:solidFill>
            <a:srgbClr val="CFD8E0"/>
          </a:solidFill>
          <a:ln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43000" y="1417320"/>
            <a:ext cx="530352" cy="530352"/>
          </a:xfrm>
          <a:prstGeom prst="ellipse">
            <a:avLst/>
          </a:prstGeom>
          <a:solidFill>
            <a:srgbClr val="256391"/>
          </a:solidFill>
          <a:ln>
            <a:solidFill>
              <a:srgbClr val="2563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0" y="1554480"/>
            <a:ext cx="256032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76072" y="2103120"/>
            <a:ext cx="1664208" cy="2880360"/>
          </a:xfrm>
          <a:prstGeom prst="roundRect">
            <a:avLst/>
          </a:prstGeom>
          <a:solidFill>
            <a:srgbClr val="F4F7F9"/>
          </a:solidFill>
          <a:ln w="10160"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76072" y="2103120"/>
            <a:ext cx="64008" cy="2880360"/>
          </a:xfrm>
          <a:prstGeom prst="rect">
            <a:avLst/>
          </a:prstGeom>
          <a:solidFill>
            <a:srgbClr val="256391"/>
          </a:solidFill>
          <a:ln>
            <a:solidFill>
              <a:srgbClr val="2563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0664" y="2240279"/>
            <a:ext cx="1353312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42841"/>
                </a:solidFill>
                <a:latin typeface="Aptos"/>
              </a:rPr>
              <a:t>Human governance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664" y="2615184"/>
            <a:ext cx="1353312" cy="22585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>
                <a:solidFill>
                  <a:srgbClr val="222B35"/>
                </a:solidFill>
                <a:latin typeface="Aptos"/>
              </a:rPr>
              <a:t>Complete vocabulary, source, license, feedback, and role-specific reviews</a:t>
            </a:r>
          </a:p>
        </p:txBody>
      </p:sp>
      <p:sp>
        <p:nvSpPr>
          <p:cNvPr id="11" name="Chevron 10"/>
          <p:cNvSpPr/>
          <p:nvPr/>
        </p:nvSpPr>
        <p:spPr>
          <a:xfrm>
            <a:off x="2276856" y="3246120"/>
            <a:ext cx="237744" cy="411480"/>
          </a:xfrm>
          <a:prstGeom prst="chevron">
            <a:avLst/>
          </a:prstGeom>
          <a:solidFill>
            <a:srgbClr val="CFD8E0"/>
          </a:solidFill>
          <a:ln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063240" y="1417320"/>
            <a:ext cx="530352" cy="530352"/>
          </a:xfrm>
          <a:prstGeom prst="ellipse">
            <a:avLst/>
          </a:prstGeom>
          <a:solidFill>
            <a:srgbClr val="238784"/>
          </a:solidFill>
          <a:ln>
            <a:solidFill>
              <a:srgbClr val="238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0" y="1554480"/>
            <a:ext cx="256032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496312" y="2103120"/>
            <a:ext cx="1664208" cy="2880360"/>
          </a:xfrm>
          <a:prstGeom prst="roundRect">
            <a:avLst/>
          </a:prstGeom>
          <a:solidFill>
            <a:srgbClr val="F4F7F9"/>
          </a:solidFill>
          <a:ln w="10160"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496312" y="2103120"/>
            <a:ext cx="64008" cy="2880360"/>
          </a:xfrm>
          <a:prstGeom prst="rect">
            <a:avLst/>
          </a:prstGeom>
          <a:solidFill>
            <a:srgbClr val="238784"/>
          </a:solidFill>
          <a:ln>
            <a:solidFill>
              <a:srgbClr val="238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660904" y="2240279"/>
            <a:ext cx="1353312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42841"/>
                </a:solidFill>
                <a:latin typeface="Aptos"/>
              </a:rPr>
              <a:t>Annotator readiness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60904" y="2615184"/>
            <a:ext cx="1353312" cy="22585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>
                <a:solidFill>
                  <a:srgbClr val="222B35"/>
                </a:solidFill>
                <a:latin typeface="Aptos"/>
              </a:rPr>
              <a:t>Pass preregistered calibration with the exact final pair</a:t>
            </a:r>
          </a:p>
        </p:txBody>
      </p:sp>
      <p:sp>
        <p:nvSpPr>
          <p:cNvPr id="18" name="Chevron 17"/>
          <p:cNvSpPr/>
          <p:nvPr/>
        </p:nvSpPr>
        <p:spPr>
          <a:xfrm>
            <a:off x="4197096" y="3246120"/>
            <a:ext cx="237744" cy="411480"/>
          </a:xfrm>
          <a:prstGeom prst="chevron">
            <a:avLst/>
          </a:prstGeom>
          <a:solidFill>
            <a:srgbClr val="CFD8E0"/>
          </a:solidFill>
          <a:ln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983480" y="1417320"/>
            <a:ext cx="530352" cy="530352"/>
          </a:xfrm>
          <a:prstGeom prst="ellipse">
            <a:avLst/>
          </a:prstGeom>
          <a:solidFill>
            <a:srgbClr val="E5883D"/>
          </a:solidFill>
          <a:ln>
            <a:solidFill>
              <a:srgbClr val="E588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20640" y="1554480"/>
            <a:ext cx="256032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16552" y="2103120"/>
            <a:ext cx="1664208" cy="2880360"/>
          </a:xfrm>
          <a:prstGeom prst="roundRect">
            <a:avLst/>
          </a:prstGeom>
          <a:solidFill>
            <a:srgbClr val="F4F7F9"/>
          </a:solidFill>
          <a:ln w="10160"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416552" y="2103120"/>
            <a:ext cx="64008" cy="2880360"/>
          </a:xfrm>
          <a:prstGeom prst="rect">
            <a:avLst/>
          </a:prstGeom>
          <a:solidFill>
            <a:srgbClr val="E5883D"/>
          </a:solidFill>
          <a:ln>
            <a:solidFill>
              <a:srgbClr val="E588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81144" y="2240279"/>
            <a:ext cx="1353312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42841"/>
                </a:solidFill>
                <a:latin typeface="Aptos"/>
              </a:rPr>
              <a:t>Independent gold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81144" y="2615184"/>
            <a:ext cx="1353312" cy="22585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>
                <a:solidFill>
                  <a:srgbClr val="222B35"/>
                </a:solidFill>
                <a:latin typeface="Aptos"/>
              </a:rPr>
              <a:t>Freeze submissions, disagreement, consensus, and approval</a:t>
            </a:r>
          </a:p>
        </p:txBody>
      </p:sp>
      <p:sp>
        <p:nvSpPr>
          <p:cNvPr id="25" name="Chevron 24"/>
          <p:cNvSpPr/>
          <p:nvPr/>
        </p:nvSpPr>
        <p:spPr>
          <a:xfrm>
            <a:off x="6117336" y="3246120"/>
            <a:ext cx="237744" cy="411480"/>
          </a:xfrm>
          <a:prstGeom prst="chevron">
            <a:avLst/>
          </a:prstGeom>
          <a:solidFill>
            <a:srgbClr val="CFD8E0"/>
          </a:solidFill>
          <a:ln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903720" y="1417320"/>
            <a:ext cx="530352" cy="530352"/>
          </a:xfrm>
          <a:prstGeom prst="ellipse">
            <a:avLst/>
          </a:prstGeom>
          <a:solidFill>
            <a:srgbClr val="69539B"/>
          </a:solidFill>
          <a:ln>
            <a:solidFill>
              <a:srgbClr val="6953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040879" y="1554480"/>
            <a:ext cx="256032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336792" y="2103120"/>
            <a:ext cx="1664208" cy="2880360"/>
          </a:xfrm>
          <a:prstGeom prst="roundRect">
            <a:avLst/>
          </a:prstGeom>
          <a:solidFill>
            <a:srgbClr val="F4F7F9"/>
          </a:solidFill>
          <a:ln w="10160"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336792" y="2103120"/>
            <a:ext cx="64008" cy="2880360"/>
          </a:xfrm>
          <a:prstGeom prst="rect">
            <a:avLst/>
          </a:prstGeom>
          <a:solidFill>
            <a:srgbClr val="69539B"/>
          </a:solidFill>
          <a:ln>
            <a:solidFill>
              <a:srgbClr val="6953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01383" y="2240279"/>
            <a:ext cx="1353312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42841"/>
                </a:solidFill>
                <a:latin typeface="Aptos"/>
              </a:rPr>
              <a:t>Execution + power freeze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01383" y="2615184"/>
            <a:ext cx="1353312" cy="22585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>
                <a:solidFill>
                  <a:srgbClr val="222B35"/>
                </a:solidFill>
                <a:latin typeface="Aptos"/>
              </a:rPr>
              <a:t>Bind prompt, response schema, demonstrations, backend, runner, and analysis policy</a:t>
            </a:r>
          </a:p>
        </p:txBody>
      </p:sp>
      <p:sp>
        <p:nvSpPr>
          <p:cNvPr id="32" name="Chevron 31"/>
          <p:cNvSpPr/>
          <p:nvPr/>
        </p:nvSpPr>
        <p:spPr>
          <a:xfrm>
            <a:off x="8037575" y="3246120"/>
            <a:ext cx="237744" cy="411480"/>
          </a:xfrm>
          <a:prstGeom prst="chevron">
            <a:avLst/>
          </a:prstGeom>
          <a:solidFill>
            <a:srgbClr val="CFD8E0"/>
          </a:solidFill>
          <a:ln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823959" y="1417320"/>
            <a:ext cx="530352" cy="530352"/>
          </a:xfrm>
          <a:prstGeom prst="ellipse">
            <a:avLst/>
          </a:prstGeom>
          <a:solidFill>
            <a:srgbClr val="388E5C"/>
          </a:solidFill>
          <a:ln>
            <a:solidFill>
              <a:srgbClr val="388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961119" y="1554480"/>
            <a:ext cx="256032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257031" y="2103120"/>
            <a:ext cx="1664208" cy="2880360"/>
          </a:xfrm>
          <a:prstGeom prst="roundRect">
            <a:avLst/>
          </a:prstGeom>
          <a:solidFill>
            <a:srgbClr val="F4F7F9"/>
          </a:solidFill>
          <a:ln w="10160"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257031" y="2103120"/>
            <a:ext cx="64008" cy="2880360"/>
          </a:xfrm>
          <a:prstGeom prst="rect">
            <a:avLst/>
          </a:prstGeom>
          <a:solidFill>
            <a:srgbClr val="388E5C"/>
          </a:solidFill>
          <a:ln>
            <a:solidFill>
              <a:srgbClr val="388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421624" y="2240279"/>
            <a:ext cx="1353312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42841"/>
                </a:solidFill>
                <a:latin typeface="Aptos"/>
              </a:rPr>
              <a:t>External preregistration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21624" y="2615184"/>
            <a:ext cx="1353312" cy="22585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>
                <a:solidFill>
                  <a:srgbClr val="222B35"/>
                </a:solidFill>
                <a:latin typeface="Aptos"/>
              </a:rPr>
              <a:t>Publish and independently verify the exact public package digest</a:t>
            </a:r>
          </a:p>
        </p:txBody>
      </p:sp>
      <p:sp>
        <p:nvSpPr>
          <p:cNvPr id="39" name="Chevron 38"/>
          <p:cNvSpPr/>
          <p:nvPr/>
        </p:nvSpPr>
        <p:spPr>
          <a:xfrm>
            <a:off x="9957815" y="3246120"/>
            <a:ext cx="237744" cy="411480"/>
          </a:xfrm>
          <a:prstGeom prst="chevron">
            <a:avLst/>
          </a:prstGeom>
          <a:solidFill>
            <a:srgbClr val="CFD8E0"/>
          </a:solidFill>
          <a:ln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0744199" y="1417320"/>
            <a:ext cx="530352" cy="530352"/>
          </a:xfrm>
          <a:prstGeom prst="ellipse">
            <a:avLst/>
          </a:prstGeom>
          <a:solidFill>
            <a:srgbClr val="BC4641"/>
          </a:solidFill>
          <a:ln>
            <a:solidFill>
              <a:srgbClr val="BC46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881359" y="1554480"/>
            <a:ext cx="256032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0177272" y="2103120"/>
            <a:ext cx="1664208" cy="2880360"/>
          </a:xfrm>
          <a:prstGeom prst="roundRect">
            <a:avLst/>
          </a:prstGeom>
          <a:solidFill>
            <a:srgbClr val="F4F7F9"/>
          </a:solidFill>
          <a:ln w="10160"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0177272" y="2103120"/>
            <a:ext cx="64008" cy="2880360"/>
          </a:xfrm>
          <a:prstGeom prst="rect">
            <a:avLst/>
          </a:prstGeom>
          <a:solidFill>
            <a:srgbClr val="BC4641"/>
          </a:solidFill>
          <a:ln>
            <a:solidFill>
              <a:srgbClr val="BC46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341863" y="2240279"/>
            <a:ext cx="1353312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42841"/>
                </a:solidFill>
                <a:latin typeface="Aptos"/>
              </a:rPr>
              <a:t>Test release + execution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341863" y="2615184"/>
            <a:ext cx="1353312" cy="22585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>
                <a:solidFill>
                  <a:srgbClr val="222B35"/>
                </a:solidFill>
                <a:latin typeface="Aptos"/>
              </a:rPr>
              <a:t>Independent witnessed opening, one frozen run, complete reporting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68096" y="5532120"/>
            <a:ext cx="1600200" cy="320040"/>
          </a:xfrm>
          <a:prstGeom prst="roundRect">
            <a:avLst/>
          </a:prstGeom>
          <a:solidFill>
            <a:srgbClr val="1D3B58"/>
          </a:solidFill>
          <a:ln w="6350">
            <a:solidFill>
              <a:srgbClr val="1D3B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13816" y="5600700"/>
            <a:ext cx="1508760" cy="17373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REPORT EVERYTHING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560320" y="5532120"/>
            <a:ext cx="8549640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222B35"/>
                </a:solidFill>
                <a:latin typeface="Aptos"/>
              </a:rPr>
              <a:t>Null, negative, underpowered, failed, and non-analysable outcomes remain part of the registered result.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58368" y="6537960"/>
            <a:ext cx="987552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E6C7A"/>
                </a:solidFill>
                <a:latin typeface="Aptos"/>
              </a:rPr>
              <a:t>Sources: ndp50_human_external_gate_ledger_v1.md; semantic_blind_inference_protocol_v1.md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018520" y="6519672"/>
            <a:ext cx="50292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E6C7A"/>
                </a:solidFill>
                <a:latin typeface="Aptos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84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658368"/>
            <a:ext cx="1600200" cy="320040"/>
          </a:xfrm>
          <a:prstGeom prst="roundRect">
            <a:avLst/>
          </a:prstGeom>
          <a:solidFill>
            <a:srgbClr val="238784"/>
          </a:solidFill>
          <a:ln w="6350">
            <a:solidFill>
              <a:srgbClr val="238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726947"/>
            <a:ext cx="1508760" cy="17373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KEY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640080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Aptos Display"/>
              </a:rPr>
              <a:t>What the project can say today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011680"/>
            <a:ext cx="7498079" cy="35204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650">
                <a:solidFill>
                  <a:srgbClr val="238784"/>
                </a:solidFill>
                <a:latin typeface="Aptos"/>
              </a:rPr>
              <a:t>• </a:t>
            </a:r>
            <a:r>
              <a:rPr sz="1650" b="1">
                <a:solidFill>
                  <a:srgbClr val="FFFFFF"/>
                </a:solidFill>
                <a:latin typeface="Aptos"/>
              </a:rPr>
              <a:t>The product boundary is durable</a:t>
            </a:r>
            <a:r>
              <a:rPr sz="1650">
                <a:solidFill>
                  <a:srgbClr val="FFFFFF"/>
                </a:solidFill>
                <a:latin typeface="Aptos"/>
              </a:rPr>
              <a:t> — deterministic schema extraction remains independently useful.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650">
                <a:solidFill>
                  <a:srgbClr val="238784"/>
                </a:solidFill>
                <a:latin typeface="Aptos"/>
              </a:rPr>
              <a:t>• </a:t>
            </a:r>
            <a:r>
              <a:rPr sz="1650" b="1">
                <a:solidFill>
                  <a:srgbClr val="FFFFFF"/>
                </a:solidFill>
                <a:latin typeface="Aptos"/>
              </a:rPr>
              <a:t>The methodology is auditable</a:t>
            </a:r>
            <a:r>
              <a:rPr sz="1650">
                <a:solidFill>
                  <a:srgbClr val="FFFFFF"/>
                </a:solidFill>
                <a:latin typeface="Aptos"/>
              </a:rPr>
              <a:t> — four fixed arms, exact replay, explicit gold applicability, and fail-closed comparisons.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650">
                <a:solidFill>
                  <a:srgbClr val="238784"/>
                </a:solidFill>
                <a:latin typeface="Aptos"/>
              </a:rPr>
              <a:t>• </a:t>
            </a:r>
            <a:r>
              <a:rPr sz="1650" b="1">
                <a:solidFill>
                  <a:srgbClr val="FFFFFF"/>
                </a:solidFill>
                <a:latin typeface="Aptos"/>
              </a:rPr>
              <a:t>Operational readiness is demonstrated</a:t>
            </a:r>
            <a:r>
              <a:rPr sz="1650">
                <a:solidFill>
                  <a:srgbClr val="FFFFFF"/>
                </a:solidFill>
                <a:latin typeface="Aptos"/>
              </a:rPr>
              <a:t> — one corrected Qwen3.6-27B condition satisfies the frozen execution contract.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650">
                <a:solidFill>
                  <a:srgbClr val="238784"/>
                </a:solidFill>
                <a:latin typeface="Aptos"/>
              </a:rPr>
              <a:t>• </a:t>
            </a:r>
            <a:r>
              <a:rPr sz="1650" b="1">
                <a:solidFill>
                  <a:srgbClr val="FFFFFF"/>
                </a:solidFill>
                <a:latin typeface="Aptos"/>
              </a:rPr>
              <a:t>The research answer is deferred</a:t>
            </a:r>
            <a:r>
              <a:rPr sz="1650">
                <a:solidFill>
                  <a:srgbClr val="FFFFFF"/>
                </a:solidFill>
                <a:latin typeface="Aptos"/>
              </a:rPr>
              <a:t> — development data cannot rank architectures; the blind gold and test remain sealed.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650">
                <a:solidFill>
                  <a:srgbClr val="238784"/>
                </a:solidFill>
                <a:latin typeface="Aptos"/>
              </a:rPr>
              <a:t>• </a:t>
            </a:r>
            <a:r>
              <a:rPr sz="1650" b="1">
                <a:solidFill>
                  <a:srgbClr val="FFFFFF"/>
                </a:solidFill>
                <a:latin typeface="Aptos"/>
              </a:rPr>
              <a:t>Rigor is a feature</a:t>
            </a:r>
            <a:r>
              <a:rPr sz="1650">
                <a:solidFill>
                  <a:srgbClr val="FFFFFF"/>
                </a:solidFill>
                <a:latin typeface="Aptos"/>
              </a:rPr>
              <a:t> — human gates, preregistration, provenance, and honest non-results protect the final claim.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32520" y="1325880"/>
            <a:ext cx="2606040" cy="4297680"/>
          </a:xfrm>
          <a:prstGeom prst="roundRect">
            <a:avLst/>
          </a:prstGeom>
          <a:solidFill>
            <a:srgbClr val="1E3E59"/>
          </a:solidFill>
          <a:ln w="15240">
            <a:solidFill>
              <a:srgbClr val="238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5984" y="1737360"/>
            <a:ext cx="205740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BDE0DE"/>
                </a:solidFill>
                <a:latin typeface="Aptos"/>
              </a:rPr>
              <a:t>Current scientific result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52560" y="2560320"/>
            <a:ext cx="1965960" cy="7772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Aptos"/>
              </a:rPr>
              <a:t>Validated
protocol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38360" y="3383280"/>
            <a:ext cx="59436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238784"/>
                </a:solidFill>
                <a:latin typeface="Aptos"/>
              </a:rPr>
              <a:t>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2560" y="3822191"/>
            <a:ext cx="1965960" cy="7772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Aptos"/>
              </a:rPr>
              <a:t>Eligible
backend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15984" y="4892040"/>
            <a:ext cx="205740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E5883D"/>
                </a:solidFill>
                <a:latin typeface="Aptos"/>
              </a:rPr>
              <a:t>No architecture winner yet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" y="6172200"/>
            <a:ext cx="402336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B1C4D5"/>
                </a:solidFill>
                <a:latin typeface="Aptos"/>
              </a:rPr>
              <a:t>Questions and discussion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18520" y="6519672"/>
            <a:ext cx="50292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B1C4D5"/>
                </a:solidFill>
                <a:latin typeface="Aptos"/>
              </a:rPr>
              <a:t>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How Much Semantic Architecture Is Necessary?</dc:title>
  <dc:subject>Project architecture, methodology, and current research progress</dc:subject>
  <dc:creator>High-Fidelity Schema Study</dc:creator>
  <cp:keywords/>
  <dc:description>Prepared from the current English manuscript and NDP-50 evidence records.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